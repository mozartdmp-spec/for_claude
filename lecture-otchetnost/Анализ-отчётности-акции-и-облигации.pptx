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16b52193-f6a6-30f4-70f5-fe61dc03fd82}">
          <p14:sldIdLst>
            <p14:sldId id="256"/>
            <p14:sldId id="257"/>
            <p14:sldId id="258"/>
            <p14:sldId id="259"/>
          </p14:sldIdLst>
        </p14:section>
        <p14:section name="Карта отчётности" id="{b422482b-ff74-f153-6d7d-4a5177a3c36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Облигация" id="{41856c32-5549-051f-8f2b-514ef8ca9000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Практика: Ромашка" id="{2c1e00d0-8c89-0839-b476-bb336d7d4241}">
          <p14:sldIdLst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Акция" id="{a16d0d01-5002-579b-ab6a-be74aa9ee583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Практика: Василёк" id="{2fb66667-5e57-206d-f3e1-860a0d3b1357}">
          <p14:sldIdLst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Мониторинг и итог" id="{fa0b7fe9-411a-2b09-260b-4dd220f3d954}">
          <p14:sldIdLst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как читать отчётность российских эмитентов, когда покупаешь облигацию или акцию. Формат: 60 минут, два больших блока по 20 минут, в каждом практическая задача. Полоса внизу — хронометраж: зелёным блок про облигации, синим — про акции. Материал учебный, не индивидуальная инвестиционная рекомендация.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за 20 секунд. Подчеркните, что почти треть времени — практика на условных компаниях: «Ромашка» для облигаций и «Василёк» для акций. Зелёные строки — блок про облигации, синие — про акции. Конспект с чек-листами и калькуляторами слушатели получат после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и та же отчётность отвечает на разные вопросы: зависит от того, что вы купили. Облигационер — кредитор: доход ограничен купоном, задача одна — не попасть в дефолт. Горизонт — до ближайшей оферты или погашения. Акционер — совладелец: доход не ограничен, но деньги он получает последним, поэтому оценивает ещё и цену. Горизонт — два-три года и дальше. Худший исход для кредитора — дефолт и реструктуризация, для акционера — размытие доли, отмена дивидендов, годы без роста.
Вопрос в зал: кто перед покупкой облигации открывал отчётность эмитента? А отчёт о движении денежных средств? Рук обычно становится вдвое меньше. С этого и начинаем.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главная мысль лекции, к ней вернёмся несколько раз. Прибыль — это начисления. Платят деньгами. Поэтому в обоих блоках первым делом смотрим деньги и долг, а прибыль проверяем отчётом о движении денежных средств.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РСБУ составляют все компании, это отчётность одного юрлица. МСФО — консолидированная отчётность группы. По закону 208-ФЗ «О консолидированной финансовой отчётности» её обязаны составлять компании с бумагами на бирже, банки, страховщики и другие. У закона «Об АО» тот же номер, не перепутайте.
Годовая РСБУ лежит в ГИР БО с пояснениями и аудиторским заключением. Слабые места: в РСБУ амортизация видна только в пояснениях, а юрлицо может быть краешком группы. В МСФО компания сама выбирает, где показать уплаченные проценты, и любит «скорректированные» показатели. С 2022 года раскрытие у многих сокращено, и сам объём скрытого тоже информация.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Баланс — снимок на дату: что у компании есть и за чей счёт, капитал и долг. Отчёт о финансовых результатах — что заработали за период, это начисления. Отчёт о движении денег — откуда деньги пришли и куда ушли, три потока: операционный, инвестиционный и финансовый.
Связки внизу проверяют, что отчёты сходятся. Чистая прибыль увеличивает нераспределённую прибыль, дивиденды её уменьшают. Остаток денег в отчёте о движении совпадает с деньгами в балансе. Капекс превращается в основные средства, новый долг — в заёмные средства. Если связка не сходится, компания показала движение где-то иначе, и самое интересное обычно лежит там.
Четвёртая форма, отчёт об изменениях капитала, нужна акционеру: дивиденды, допэмиссии, выкуп акций.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Коды — из типовых форм, в которых отчётность лежит в ГИР БО. Покажите на экране настоящую РСБУ любого эмитента и найдите вместе с залом 1250 и 1510: с этих двух цифр начинается проверка облигации. Обратите внимание на 1170 и 1240: займы, выданные связанным сторонам, — частый способ вывести деньги из компании. 1370 понадобится в блоке про акции: это потолок дивидендов юрлица.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EBITDA в РСБУ не показана: берём прибыль от продаж и прибавляем амортизацию из пояснений, раздел об основных средствах. Строка 2310 важна для холдингов: у них прибыль материнской компании почти целиком состоит из дивидендов «дочек». 2330 показывает только те проценты, что не капитализированы. В прочих доходах и расходах сидят курсовые разницы и разовые статьи, а иногда и расходы на факторинг.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 о движении денег — главный для обоих блоков лекции. 4100 отвечает, хватает ли потока. Капитализированные проценты лежат в инвестиционных платежах, строка 4224, а в отчёте о финансовых результатах их нет вовсе: это частая ловушка. Платежи в этом отчёте стоят в скобках.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МСФО номеров строк нет, ищем по названиям. Самое полезное для облигационера — таблица обязательств по срокам погашения в примечании об управлении финансовыми рисками, раздел о риске ликвидности. Это готовый ответ, сколько платить в ближайшие полгода. Покажите МСФО с сайта эмитента и найдите её вместе с залом.
Привычка: начинайте с аудиторского заключения. Модифицированное мнение или смена аудитора без объяснений важнее любых мультипликаторов.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по облигациям, 20 минут: 11 минут на пять шагов, 2 минуты на разбор Евротранса, 7 минут практики. Основа — методичка «Как проверить эмитента ВДО за 30 минут». Главный вопрос держим в голове на каждом шаге.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не случайный: сначала дешёвые проверки, которые отсеивают компанию до расчётов. Тридцать минут уходит на первое знакомство с эмитентом, дальше двадцати минут в неделю хватает, чтобы следить за бумагой. На лекции проходим шаги за 11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проверить до того, как открыть цифры. Рейтинг облигаций, рейтинг эмитента и рейтинг материнской компании — три разные вещи, и легко искать то, чего не существует: ответ на вопрос «кто мамка» есть в первом разделе отчётности. Если основной оборот идёт мимо юрлица-эмитента, выводы по его отчётности бессмысленны.
Найденный риск не запрещает покупку: может, куплю, может, нет. Но я буду знать, что риск есть, и это отразится на том, как долго я держу бумагу.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цифры, с которых начинается вся арифметика: сколько у компании денег на счетах прямо сейчас и сколько ей надо заплатить в ближайшие полгода — погашения, оферты, амортизации, купоны, кредиты. Денег почти всегда меньше. Значит, вопрос один: откуда возьмётся разница. На него отвечает следующий шаг. Все календари выплат бесплатные.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проверки. Отчётность показывает состояние, а платит компания из денег, которые где-то берёт. Источников три: собственный операционный поток, новый займ или деньги акционера. Дальше разбираем каждый вопрос по отдельности.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смотреть: в РСБУ — сальдо по текущим операциям, строка 4100; в МСФО — чистый поток от операционной деятельности. Норма: поток не отрицательный и покрывает фактически уплаченные проценты. Если не покрывает, долг обслуживается новым долгом.
Поправки: в МСФО уплаченные проценты бывают в финансовой деятельности — их надо вернуть в расчёт, учётная политика обычно в примечании о денежных потоках. В РСБУ капитализированные проценты лежат в инвестиционных платежах, строка 4224.
Ловушки: у лизинговых компаний покупка портфеля может сидеть в операционном потоке или в капексе, во втором случае смотрите на свободный поток. Положительный поток может идти от сжатия портфеля.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Рынок долга видит то, чего нет в отчётности. Недобор объёма, размещение ниже номинала и отсутствие свободных банковских лимитов — сигналы, что кредиторы уже сомневаются. Нет лимитов — банки всё поняли раньше вас. Пример из методички: по девятому выпуску Евротранса из 500 млн ₽ заявок реального спроса было 90. Где смотреть ход размещения: Good bonds и раздел размещений Мосбиржи.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Честно: без инсайда поведение акционера не предсказывается. Остаётся считать, что для группы дороже: заплатить за проблемную «дочку» или получить удар по имени и дальше занимать дороже всем холдингом. Два примера из методички: Монополию не вытащили, хотя среди миноритариев был фонд Private Equity от ВТБ. Уральскую сталь вытащили, хотя заранее было непонятно, есть ли у бенефициара ресурс. И проверочный вопрос: релевантна ли вообще эта отчётность или это часть группы, через которую проходит только часть потоков.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Правило методички. Мультипликаторы описывают прошлое, а три вопроса — откуда возьмутся деньги на ближайшие выплаты. Если ни на один нет ответа, хорошие коэффициенты не спасут. Дальше — отраслевая поправка: как один и тот же показатель читается в разных секторах.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показатель значит разное: долг к EBITDA у производственника говорит о многом, у лизинговой компании почти ни о чём, у застройщика всё зависит от того, проектный это долг или корпоративный. Без поправки легко похоронить здоровую МФО и купить проблемного производственника.
Остальное из методички. МФО: стоимость риска к процентным доходам — норма до 40–45%, тревога выше 60%; займы выданные к долгу — норма выше 120%, тревога ниже 100%. Где: МСФО, примечание «Кредитный риск» и сверка резерва.
Лизинг: долг к капиталу — норма до 6–7, тревога выше 8–10; чистая процентная маржа 7–13%, а 20–25% — повод разбираться, не рисуют ли выручку; изъятое имущество к ЧИЛ до 2–3%, тревога выше 5% или рост в разы.
Коллекторы: портфель к чистому долгу от 120%, тревога меньше 100%; нетто-привлечение долга к инвестициям в портфель до 60%, тревога больше 80%; сборы минус операционные расходы к уплаченным процентам больше 3, тревога меньше 2.
Застройщики: распроданность не отстаёт от стройготовности больше чем на 10–15 пунктов; тревога, когда готовность выше 60–70%, а распроданность ниже 40–50%. Где: наш.дом.рф.
Производство: портфель заказов к годовой выручке от 1, тревога ниже 0,5. Где: zakupki.gov.ru.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ловушки, которые прячут долг в любом секторе. Капитализированные проценты не попадают в отчёт о финансовых результатах, поэтому покрытие процентов по нему выглядит вдвое лучше, чем по фактически уплаченным в отчёте о движении денег. Факторинг с регрессом по сути долг, но в заёмные средства часто не входит, а расходы по нему сидят в прочих. В задаче про «Ромашку» сработают обе ловушки.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события, после которых методичка предлагает выходить в тот же день, не дожидаясь отчётности. Справа — повод сесть и пересчитать: каждый пункт сам по себе не приговор, но сигналы складываются. У Евротранса, например, отзыв рейтинга по инициативе компании за шесть дней предшествовал техдефолту.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Цифры, по которым работает автор методички: ориентир, а не рекомендация. Выше 30% к погашению — реальный дистресс, надо копаться. Пороги доходности привязаны к уровню ключевой ставки на момент написания; при другой ставке сдвигайте их или считайте премию к ОФЗ той же дюрации.
Про последнюю карточку: если у компании в целом низкая средняя ставка по долгу, а дорогие облигации — небольшая добавка, это нормально. Ненормально, когда четверть или половина всего финансирования — дорогие облигации.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Тот же порядок из пяти шагов, применённый к живой истории из методички. Почти всё в таблице было видно до дефолта. Приём из четвёртого шага работает именно у топливных трейдеров: топливо — самый обложенный товар в стране, и следы сорока с лишним миллиардов оборота обязаны остаться в бюджете. У Евротранса доля налогов в выручке была занижена.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было видно заранее: структура капекса. В 2023 году соотношение вложений в здания и в оборудование было один к одному, в 2024 — восемь к одному, в первом полугодии 2025 — семнадцать к одному. За 2024 год открыли две станции, ещё четыре в стройке, а в статье «здания» 11,8 млрд ₽. Подрядчики в отчётности не раскрыты, стройкомпетенция у группы своя. И всё это не мешало компании три года платить высокие купоны.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Практика, 7 минут. Дайте четыре минуты на задания 1–3 в парах, затем три минуты на вердикт. Ответы раскрывайте по одному и спрашивайте, у кого получилось иначе. Все цифры условные. Следующие два слайда — исходные данные, держите их на экране, пока зал считает.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Исходные данные из РСБУ, млн ₽. Подсказка залу: деньги — строка 1250, долг — 1410 плюс 1510, капитализированные проценты — 4224. Обратите внимание на 4223: компания за год выдала займы на 300 млн, и строка 1240 в балансе выросла со 120 до 420.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То, чего нет в основных формах, но что решает задачу: амортизация для расчёта EBITDA, факторинг вне строк долга, заём связанной компании, график выплат на полгода и рыночные сигналы. Красным выделены цифры, которые компания не показывает в строках долга. Оставьте этот слайд на экране, пока зал считает.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1. Выплаты: 400 + 150 + 120 + 300 = 970 млн. Денег на счетах 180. Разрыв 790 млн: деньги закрывают меньше пятой части выплат.
Ответ 2. EBITDA = прибыль от продаж 620 + амортизация 130 = 750. Чистый долг = 900 + 1 050 − 180 = 1 770. Чистый долг к EBITDA 2,4 — в норме для производства, порог нормы 2,5. С факторингом: 1 770 + 900 = 2 670, показатель 3,6 — выше порога тревоги 3,5. Одна строка пояснений переводит компанию из нормы в тревогу.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3. По отчёту о финансовых результатах покрытие 2,6 раза — выглядит прилично. Деньгами: операционный поток до процентов 210 + 250 = 460, все уплаченные проценты 250 + 160 = 410, покрытие 1,1 раза. После всех процентов от потока остаётся 50 млн, а капекс 380. Свободный поток минус 330 млн. Компания финансирует стройку и часть процентов новым долгом и при этом выдаёт 300 млн связанной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4. Уверенного ответа нет ни на один из трёх вопросов. По правилу методички это кандидат в будущий дефолт, хотя «презентационный» долг к EBITDA 2,4 выглядит нормально. Если бумага уже в портфеле, решение нужно принять сейчас: оферта через четыре месяца — 400 млн, а всех денег на счетах 180. Нести бумагу в оферту без ответа на вопрос «откуда деньги» — ставка на акционера, которого не видно.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 по акциям, 20 минут: 13 минут на пять шагов, 7 минут практики. Каркас тот же: пять шагов, полчаса, отсеиваем как можно раньше. Меняются главный вопрос и нормы.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вопроса заменяют три источника денег из блока по облигациям. Первый проверяем отчётом о движении денег, второй — дивидендной политикой и РСБУ материнской компании, третий — мультипликаторами и сравнением с ОФЗ.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шаги из блока по облигациям, справа — их аналог для акции. Время то же: полчаса на первое знакомство с компанией. Отраслевая поправка у акций переезжает в пятый шаг, рядом с ценой: от сектора зависит, какой мультипликатор вообще имеет смысл.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смотреть: устав, отчёт эмитента и существенные факты — e-disclosure.ru; структура группы и дивполитика — сайт компании. Квазиказначейские акции, которые лежат на балансе «дочек», исключают при расчёте капитализации и дивиденда на акцию. У холдинга РСБУ материнской компании — тот же «краешек группы», что и в облигациях: дивиденды платятся из её прибыли, а она складывается из дивидендов «дочек».
Пример Сургутнефтегаза: дивиденд по префам считается по уставу от чистой прибыли по РСБУ, а она зависит от курсовых разниц по валютным депозитам. Перед лекцией сверьте формулировку устава.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Компания может годами исправно платить купоны и не платить дивиденды: всё заработанное уходит банкам и облигационерам. Поэтому для акционера тревога наступает раньше, чем для кредитора. Ориентиры на слайде — для нефинансовых компаний; банки, лизинг и МФО считаются иначе. График погашений — та же таблица сроков из примечания о риске ликвидности, что и для облигаций. При высокой ключевой ставке смотрите долю плавающего долга: в примечании о процентном риске часто прямо написано, насколько изменится прибыль при сдвиге ставки на 1 п. 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с залом путь от выручки до денег акционера и спросите, где утекает больше всего. EBITDA — показатель компании, всегда проверяйте, что в ней «скорректировано». Между прибылью и операционным потоком деньги теряются в оборотном капитале: растущая дебиторка и запасы. Свободный денежный поток — это то, что можно раздать акционерам без нового долга.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проверок качества прибыли. Ключевая — первая: операционный поток после процентов против чистой прибыли за два-три года. Если поток систематически ниже, прибыль «бумажная»: растёт дебиторка, капитализируются расходы или прибыль держится на неденежных статьях. В РСБУ разовые статьи ищите в строках 2340 и 2350, в МСФО — отдельными строками и в примечаниях.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МСФО 16: аренда переезжает из операционных расходов в амортизацию и проценты, поэтому EBITDA растёт, а долг увеличивается на обязательства по аренде. Частая ошибка — смешивать: брать долг без аренды и EBITDA с арендой. Тогда нагрузка выглядит ниже, чем есть; в задаче про «Василька» это будет видно на цифрах.
Проценты: если компания относит уплаченные проценты к финансовой деятельности, вычитайте их при расчёте FCF. В РСБУ не забывайте капитализированные проценты из строки 4224.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РСБУ и МСФО встречаются. Дивполитика обычно привязана к МСФО, а юридически дивиденд платит конкретное юрлицо из своей прибыли по РСБУ. Совет директоров рекомендует, собрание утверждает: обещание из дивполитики не обязательство, и пример Газпрома это показывает. Ограничения статьи 43 закона «Об АО» касаются ещё и признаков банкротства: при них дивиденды тоже объявлять нельзя. Перед лекцией сверьте актуальные дивполитики компаний из примеров.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проверки. Если дивиденды два года подряд больше FCF, компания платит их в долг, и долго так не продолжается. У холдинга смотрите РСБУ материнской компании: строки 2310 и 1370 показывают, хватит ли денег на обещанное. Размытие видно в отчёте об изменениях капитала и в примечаниях о выплатах на основе акций. Байбэк работает на акционера, когда выкупленные акции гасятся.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P/E и его обратная величина E/P — доходность прибыли; сравните её с доходностью ОФЗ. Если E/P ниже, вы платите за рост, и он должен быть. EV/EBITDA не зависит от долговой нагрузки и налогов, поэтому удобен внутри сектора; если EBITDA по МСФО 16, аренду включайте в долг. P/BV — для банков и финансовых компаний, в связке с ROE. FCF yield показывает, сколько денег бизнес приносит на рубль цены. Дивидендную доходность считайте по реалистичному дивиденду: с учётом FCF и прибыли материнской компании по РСБУ.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отчётности решение принимаем по трём принципам отбора. Цена: дёшево ли относительно прибыли и денег. Катализатор: что заставит рынок переоценить акцию и когда. Рост: растёт ли бизнес быстрее инфляции. Без катализатора дешёвая акция может оставаться дешёвой годами, поэтому катализатор и срок, к которому он должен сработать, стоит записать при покупке.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искать. Банки — МСФО и ежемесячная РСБУ, если банк её публикует; у Сбера это ранний сигнал к годовой прибыли. Нефтегаз — МСФО и презентации; для префов Сургутнефтегаза — РСБУ и курсовые разницы. Ритейл — квартальные операционные результаты (трафик и средний чек) и МСФО. Девелоперы — операционные результаты, наш.дом.рф и МСФО; прибыль у них признаётся по мере стройки, поэтому P/E вводит в заблуждение. IT — примечания о выплатах на основе акций и о нематериальных активах. Холдинги — РСБУ материнской компании (2310, 1370) и МСФО.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Слева — повод не покупать или выходить, справа — повод пересчитать. Урезание дивиденда при выполненных условиях политики не всегда стоп, но всегда вопрос к менеджменту. Займы выданные связанным сторонам видны в РСБУ в строках 1170 и 1240 и в МСФО в примечании о связанных сторонах, если оно раскрыто.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Практика, 7 минут. Задания 1–2 решайте вместе с залом за две минуты, 3–4 — в парах, три минуты. На вердикт две минуты: попросите двух-трёх человек сформулировать его одной фразой. Цифры условные, доходность ОФЗ 14% — допущение для упражнения. Следующие два слайда — исходные данные.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МСФО за год, млрд ₽. Обратите внимание: «скорректированная» прибыль 9,75 больше отчётной 8,25 — компания убрала курсовые разницы и обесценение с учётом налога. Уплаченные проценты компания показывает в финансовой деятельности, их придётся вычесть при расчёте свободного потока.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Баланс МСФО и РСБУ материнской компании. Для расчёта долга нужны кредиты, аренда и деньги из левой таблицы. Для дивидендов важна правая: нераспределённая прибыль материнской 3,5 млрд — юридический потолок выплаты, если «дочки» до собрания не перечислят наверх больше. Дебиторка выросла с 16,0 до 18,4.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1. Операционный поток после процентов 18,9 − 5,2 = 13,7 млрд, это 1,4 скорректированной прибыли: прибыль деньгами подтверждается. Свободный поток: 13,7 − капекс 9,0 − аренда 1,5 = 3,2 млрд.
Ответ 2. Долг с арендой: (40 + 10 − 6) / 24 = 1,8. Без аренды: (40 − 6) / (24 − 1,5) = 34 / 22,5 = 1,5. Ошибка — взять долг без аренды и EBITDA с арендой: 34 / 24 = 1,4, и нагрузка выглядит ниже, чем есть. Нагрузка умеренная, покрытие процентов 4,8 — норма.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3. По политике: 50% × 9,75 = 4,875 млрд, или 4,88 ₽ на акцию. FCF 3,2 покрывает 66% этой суммы, остальное пришлось бы платить в долг. Юридический потолок — нераспределённая прибыль материнской компании 3,5 млрд, если «дочки» до собрания не перечислят наверх дополнительные дивиденды. Реалистичный дивиденд — около 3,2–3,5 ₽ на акцию. Это и есть ответ на вопрос «дойдут ли деньги до акционера»: дойдут, но меньше, чем обещает политика.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4. P/E = 90 / 9,75 = 9,2, по отчётной прибыли 90 / 8,25 = 10,9. Доходность прибыли E/P 10,8% ниже ОФЗ 14%: покупая, вы платите за рост. EV = капитализация 90 + чистый долг с арендой 44 = 134, EV/EBITDA 5,6 — сравнивать с историей и аналогами. FCF yield 3,2 / 90 = 3,6%. Дивдоходность по политике 5,4%, реалистично 3,6–3,9%.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 5. Бизнес устойчивый, но цена не дешёвая, катализатор под вопросом, рост без ускорения. Сейчас не покупать. Следите в отчётности следующих кварталов за двумя катализаторами: концом капекс-цикла и снижением ставки. При капексе 5 млрд вместо 9 свободный поток вырастет до 7,2 млрд и покроет дивиденд по политике. Попросите двух-трёх человек сформулировать вердикт одной фразой.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Отчётность выходит раз в полгода, решения принимаются каждый день. Все источники бесплатные, кроме СПАРК; у Rusprofile базовая версия бесплатная. За 15–20 минут по этим сайтам видно налоговые долги, блокировки счетов, иски, залоги и рейтинговые действия. У рейтинговых агентств читайте сам текст релиза, а не только букву рейтинга. В Telegram есть боты по блокировкам счетов и выплатам купонов; по опыту автора методички они работают нормально.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Регламент из методички. Раз в неделю двадцать минут на новости по своим эмитентам, ботов и первичные размещения. Раз в квартал — новая отчётность по каждой бумаге, а по акциям ещё операционные результаты и решения советов директоров о дивидендах. В день плохой новости — разбор сразу, не дожидаясь следующего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фразы, которые стоит унести. Попросите зал повторить главный вопрос для облигации и для акции своими словами. Если осталось время, спросите, какая из двух задач показалась сложнее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Задание на неделю: одна облигация и одна акция из своего портфеля, чек-лист, калькулятор, вывод одной фразой. Конспект открывается по ссылке на слайде — перед лекцией откройте к нему доступ слушателям через меню «Поделиться». Напомните, что материал учебный и не является индивидуальной инвестиционной рекомендацией.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UMRfMioL8pwWiXgKCK8XJ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ПРАКТИЧЕСКАЯ ЛЕКЦИЯ · 60 МИНУТ · РОССИЙСКИЙ РЫНОК</a:t>
            </a:r>
            <a:endParaRPr lang="en-US" sz="1200" dirty="0"/>
          </a:p>
        </p:txBody>
      </p:sp>
      <p:sp>
        <p:nvSpPr>
          <p:cNvPr id="3" name="cover-text-2"/>
          <p:cNvSpPr txBox="1"/>
          <p:nvPr/>
        </p:nvSpPr>
        <p:spPr>
          <a:xfrm>
            <a:off x="812800" y="1229320"/>
            <a:ext cx="10883392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финансовой отчётности</a:t>
            </a:r>
            <a:endParaRPr lang="en-US" sz="6400" dirty="0"/>
          </a:p>
        </p:txBody>
      </p:sp>
      <p:sp>
        <p:nvSpPr>
          <p:cNvPr id="4" name="cover-text-3"/>
          <p:cNvSpPr txBox="1"/>
          <p:nvPr/>
        </p:nvSpPr>
        <p:spPr>
          <a:xfrm>
            <a:off x="812800" y="3139281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 или облигация: что читать в РСБУ и МСФО</a:t>
            </a:r>
            <a:endParaRPr lang="en-US" sz="1800" dirty="0"/>
          </a:p>
        </p:txBody>
      </p:sp>
      <p:sp>
        <p:nvSpPr>
          <p:cNvPr id="5" name="cover-box-4"/>
          <p:cNvSpPr/>
          <p:nvPr/>
        </p:nvSpPr>
        <p:spPr>
          <a:xfrm>
            <a:off x="812800" y="5628680"/>
            <a:ext cx="864691" cy="101600"/>
          </a:xfrm>
          <a:prstGeom prst="roundRect">
            <a:avLst>
              <a:gd name="adj" fmla="val 168750"/>
            </a:avLst>
          </a:prstGeom>
          <a:solidFill>
            <a:srgbClr val="5A6860"/>
          </a:solidFill>
          <a:ln/>
        </p:spPr>
      </p:sp>
      <p:sp>
        <p:nvSpPr>
          <p:cNvPr id="6" name="cover-box-5"/>
          <p:cNvSpPr/>
          <p:nvPr/>
        </p:nvSpPr>
        <p:spPr>
          <a:xfrm>
            <a:off x="1715591" y="5628680"/>
            <a:ext cx="1383407" cy="101600"/>
          </a:xfrm>
          <a:prstGeom prst="roundRect">
            <a:avLst>
              <a:gd name="adj" fmla="val 168750"/>
            </a:avLst>
          </a:prstGeom>
          <a:solidFill>
            <a:srgbClr val="A6B3AB"/>
          </a:solidFill>
          <a:ln/>
        </p:spPr>
      </p:sp>
      <p:sp>
        <p:nvSpPr>
          <p:cNvPr id="7" name="cover-box-6"/>
          <p:cNvSpPr/>
          <p:nvPr/>
        </p:nvSpPr>
        <p:spPr>
          <a:xfrm>
            <a:off x="3137098" y="5628680"/>
            <a:ext cx="3458666" cy="101600"/>
          </a:xfrm>
          <a:prstGeom prst="roundRect">
            <a:avLst>
              <a:gd name="adj" fmla="val 168750"/>
            </a:avLst>
          </a:prstGeom>
          <a:solidFill>
            <a:srgbClr val="5DBFA4"/>
          </a:solidFill>
          <a:ln/>
        </p:spPr>
      </p:sp>
      <p:sp>
        <p:nvSpPr>
          <p:cNvPr id="8" name="cover-box-7"/>
          <p:cNvSpPr/>
          <p:nvPr/>
        </p:nvSpPr>
        <p:spPr>
          <a:xfrm>
            <a:off x="6633865" y="5628680"/>
            <a:ext cx="3458666" cy="101600"/>
          </a:xfrm>
          <a:prstGeom prst="roundRect">
            <a:avLst>
              <a:gd name="adj" fmla="val 168750"/>
            </a:avLst>
          </a:prstGeom>
          <a:solidFill>
            <a:srgbClr val="95A4F0"/>
          </a:solidFill>
          <a:ln/>
        </p:spPr>
      </p:sp>
      <p:sp>
        <p:nvSpPr>
          <p:cNvPr id="9" name="cover-box-8"/>
          <p:cNvSpPr/>
          <p:nvPr/>
        </p:nvSpPr>
        <p:spPr>
          <a:xfrm>
            <a:off x="10130631" y="5628680"/>
            <a:ext cx="864691" cy="101600"/>
          </a:xfrm>
          <a:prstGeom prst="roundRect">
            <a:avLst>
              <a:gd name="adj" fmla="val 168750"/>
            </a:avLst>
          </a:prstGeom>
          <a:solidFill>
            <a:srgbClr val="5A6860"/>
          </a:solidFill>
          <a:ln/>
        </p:spPr>
      </p:sp>
      <p:sp>
        <p:nvSpPr>
          <p:cNvPr id="10" name="cover-box-9"/>
          <p:cNvSpPr/>
          <p:nvPr/>
        </p:nvSpPr>
        <p:spPr>
          <a:xfrm>
            <a:off x="11033423" y="5628680"/>
            <a:ext cx="345877" cy="101600"/>
          </a:xfrm>
          <a:prstGeom prst="roundRect">
            <a:avLst>
              <a:gd name="adj" fmla="val 168750"/>
            </a:avLst>
          </a:prstGeom>
          <a:solidFill>
            <a:srgbClr val="A6B3AB"/>
          </a:solidFill>
          <a:ln/>
        </p:spPr>
      </p:sp>
      <p:sp>
        <p:nvSpPr>
          <p:cNvPr id="11" name="cover-text-10"/>
          <p:cNvSpPr txBox="1"/>
          <p:nvPr/>
        </p:nvSpPr>
        <p:spPr>
          <a:xfrm>
            <a:off x="812800" y="5831880"/>
            <a:ext cx="89063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мин</a:t>
            </a:r>
            <a:endParaRPr lang="en-US" sz="1200" dirty="0"/>
          </a:p>
        </p:txBody>
      </p:sp>
      <p:sp>
        <p:nvSpPr>
          <p:cNvPr id="12" name="cover-text-11"/>
          <p:cNvSpPr txBox="1"/>
          <p:nvPr/>
        </p:nvSpPr>
        <p:spPr>
          <a:xfrm>
            <a:off x="1715591" y="5831880"/>
            <a:ext cx="142490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cover-text-12"/>
          <p:cNvSpPr txBox="1"/>
          <p:nvPr/>
        </p:nvSpPr>
        <p:spPr>
          <a:xfrm>
            <a:off x="3137098" y="5831880"/>
            <a:ext cx="35624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облигация</a:t>
            </a:r>
            <a:endParaRPr lang="en-US" sz="1200" dirty="0"/>
          </a:p>
        </p:txBody>
      </p:sp>
      <p:sp>
        <p:nvSpPr>
          <p:cNvPr id="14" name="cover-text-13"/>
          <p:cNvSpPr txBox="1"/>
          <p:nvPr/>
        </p:nvSpPr>
        <p:spPr>
          <a:xfrm>
            <a:off x="6633865" y="5831880"/>
            <a:ext cx="356242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A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· акция</a:t>
            </a:r>
            <a:endParaRPr lang="en-US" sz="1200" dirty="0"/>
          </a:p>
        </p:txBody>
      </p:sp>
      <p:sp>
        <p:nvSpPr>
          <p:cNvPr id="15" name="cover-text-14"/>
          <p:cNvSpPr txBox="1"/>
          <p:nvPr/>
        </p:nvSpPr>
        <p:spPr>
          <a:xfrm>
            <a:off x="10130631" y="5831880"/>
            <a:ext cx="89063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</a:t>
            </a:r>
            <a:endParaRPr lang="en-US" sz="1200" dirty="0"/>
          </a:p>
        </p:txBody>
      </p:sp>
      <p:sp>
        <p:nvSpPr>
          <p:cNvPr id="16" name="cover-text-15"/>
          <p:cNvSpPr txBox="1"/>
          <p:nvPr/>
        </p:nvSpPr>
        <p:spPr>
          <a:xfrm>
            <a:off x="11033423" y="5831880"/>
            <a:ext cx="35625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n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ХРОНОМЕТРАЖ</a:t>
            </a:r>
            <a:endParaRPr lang="en-US" sz="1200" dirty="0"/>
          </a:p>
        </p:txBody>
      </p:sp>
      <p:sp>
        <p:nvSpPr>
          <p:cNvPr id="3" name="plan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лекции на 60 минут</a:t>
            </a:r>
            <a:endParaRPr lang="en-US" sz="2800" dirty="0"/>
          </a:p>
        </p:txBody>
      </p:sp>
      <p:sp>
        <p:nvSpPr>
          <p:cNvPr id="4" name="plan-box-3"/>
          <p:cNvSpPr/>
          <p:nvPr/>
        </p:nvSpPr>
        <p:spPr>
          <a:xfrm>
            <a:off x="812800" y="1765201"/>
            <a:ext cx="10566400" cy="3422848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plan-line-4"/>
          <p:cNvSpPr/>
          <p:nvPr/>
        </p:nvSpPr>
        <p:spPr>
          <a:xfrm>
            <a:off x="815975" y="2147987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plan-text-5"/>
          <p:cNvSpPr txBox="1"/>
          <p:nvPr/>
        </p:nvSpPr>
        <p:spPr>
          <a:xfrm>
            <a:off x="922655" y="1830606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1400" dirty="0"/>
          </a:p>
        </p:txBody>
      </p:sp>
      <p:sp>
        <p:nvSpPr>
          <p:cNvPr id="7" name="plan-line-6"/>
          <p:cNvSpPr/>
          <p:nvPr/>
        </p:nvSpPr>
        <p:spPr>
          <a:xfrm>
            <a:off x="2505571" y="2147987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plan-text-7"/>
          <p:cNvSpPr txBox="1"/>
          <p:nvPr/>
        </p:nvSpPr>
        <p:spPr>
          <a:xfrm>
            <a:off x="2612251" y="1830606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</a:t>
            </a:r>
            <a:endParaRPr lang="en-US" sz="1400" dirty="0"/>
          </a:p>
        </p:txBody>
      </p:sp>
      <p:sp>
        <p:nvSpPr>
          <p:cNvPr id="9" name="plan-line-8"/>
          <p:cNvSpPr/>
          <p:nvPr/>
        </p:nvSpPr>
        <p:spPr>
          <a:xfrm>
            <a:off x="9897566" y="2147987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plan-text-9"/>
          <p:cNvSpPr txBox="1"/>
          <p:nvPr/>
        </p:nvSpPr>
        <p:spPr>
          <a:xfrm>
            <a:off x="9966293" y="1830606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</a:t>
            </a:r>
            <a:endParaRPr lang="en-US" sz="1400" dirty="0"/>
          </a:p>
        </p:txBody>
      </p:sp>
      <p:sp>
        <p:nvSpPr>
          <p:cNvPr id="11" name="plan-line-10"/>
          <p:cNvSpPr/>
          <p:nvPr/>
        </p:nvSpPr>
        <p:spPr>
          <a:xfrm>
            <a:off x="815975" y="2527598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plan-text-11"/>
          <p:cNvSpPr txBox="1"/>
          <p:nvPr/>
        </p:nvSpPr>
        <p:spPr>
          <a:xfrm>
            <a:off x="922655" y="2210217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</a:t>
            </a:r>
            <a:endParaRPr lang="en-US" sz="1400" dirty="0"/>
          </a:p>
        </p:txBody>
      </p:sp>
      <p:sp>
        <p:nvSpPr>
          <p:cNvPr id="13" name="plan-line-12"/>
          <p:cNvSpPr/>
          <p:nvPr/>
        </p:nvSpPr>
        <p:spPr>
          <a:xfrm>
            <a:off x="2505571" y="2527598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plan-text-13"/>
          <p:cNvSpPr txBox="1"/>
          <p:nvPr/>
        </p:nvSpPr>
        <p:spPr>
          <a:xfrm>
            <a:off x="2612251" y="2210217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 и совладелец: два вопроса</a:t>
            </a:r>
            <a:endParaRPr lang="en-US" sz="1400" dirty="0"/>
          </a:p>
        </p:txBody>
      </p:sp>
      <p:sp>
        <p:nvSpPr>
          <p:cNvPr id="15" name="plan-line-14"/>
          <p:cNvSpPr/>
          <p:nvPr/>
        </p:nvSpPr>
        <p:spPr>
          <a:xfrm>
            <a:off x="9897566" y="2527598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plan-text-15"/>
          <p:cNvSpPr txBox="1"/>
          <p:nvPr/>
        </p:nvSpPr>
        <p:spPr>
          <a:xfrm>
            <a:off x="10004246" y="2210217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plan-line-16"/>
          <p:cNvSpPr/>
          <p:nvPr/>
        </p:nvSpPr>
        <p:spPr>
          <a:xfrm>
            <a:off x="815975" y="2907209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plan-text-17"/>
          <p:cNvSpPr txBox="1"/>
          <p:nvPr/>
        </p:nvSpPr>
        <p:spPr>
          <a:xfrm>
            <a:off x="922655" y="2589828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</a:t>
            </a:r>
            <a:endParaRPr lang="en-US" sz="1400" dirty="0"/>
          </a:p>
        </p:txBody>
      </p:sp>
      <p:sp>
        <p:nvSpPr>
          <p:cNvPr id="19" name="plan-line-18"/>
          <p:cNvSpPr/>
          <p:nvPr/>
        </p:nvSpPr>
        <p:spPr>
          <a:xfrm>
            <a:off x="2505571" y="2907209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plan-text-19"/>
          <p:cNvSpPr txBox="1"/>
          <p:nvPr/>
        </p:nvSpPr>
        <p:spPr>
          <a:xfrm>
            <a:off x="2612251" y="2589828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отчётности: РСБУ и МСФО</a:t>
            </a:r>
            <a:endParaRPr lang="en-US" sz="1400" dirty="0"/>
          </a:p>
        </p:txBody>
      </p:sp>
      <p:sp>
        <p:nvSpPr>
          <p:cNvPr id="21" name="plan-line-20"/>
          <p:cNvSpPr/>
          <p:nvPr/>
        </p:nvSpPr>
        <p:spPr>
          <a:xfrm>
            <a:off x="9897566" y="2907209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plan-text-21"/>
          <p:cNvSpPr txBox="1"/>
          <p:nvPr/>
        </p:nvSpPr>
        <p:spPr>
          <a:xfrm>
            <a:off x="10004246" y="2589828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plan-box-22"/>
          <p:cNvSpPr/>
          <p:nvPr/>
        </p:nvSpPr>
        <p:spPr>
          <a:xfrm>
            <a:off x="815975" y="2907209"/>
            <a:ext cx="10560050" cy="37961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24" name="plan-line-23"/>
          <p:cNvSpPr/>
          <p:nvPr/>
        </p:nvSpPr>
        <p:spPr>
          <a:xfrm>
            <a:off x="815975" y="328682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plan-text-24"/>
          <p:cNvSpPr txBox="1"/>
          <p:nvPr/>
        </p:nvSpPr>
        <p:spPr>
          <a:xfrm>
            <a:off x="922655" y="2969439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1400" dirty="0"/>
          </a:p>
        </p:txBody>
      </p:sp>
      <p:sp>
        <p:nvSpPr>
          <p:cNvPr id="26" name="plan-line-25"/>
          <p:cNvSpPr/>
          <p:nvPr/>
        </p:nvSpPr>
        <p:spPr>
          <a:xfrm>
            <a:off x="2505571" y="3286820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plan-text-26"/>
          <p:cNvSpPr txBox="1"/>
          <p:nvPr/>
        </p:nvSpPr>
        <p:spPr>
          <a:xfrm>
            <a:off x="2612251" y="2969439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 проверка эмитента за 30 минут</a:t>
            </a:r>
            <a:endParaRPr lang="en-US" sz="1400" dirty="0"/>
          </a:p>
        </p:txBody>
      </p:sp>
      <p:sp>
        <p:nvSpPr>
          <p:cNvPr id="28" name="plan-line-27"/>
          <p:cNvSpPr/>
          <p:nvPr/>
        </p:nvSpPr>
        <p:spPr>
          <a:xfrm>
            <a:off x="9897566" y="3286820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plan-text-28"/>
          <p:cNvSpPr txBox="1"/>
          <p:nvPr/>
        </p:nvSpPr>
        <p:spPr>
          <a:xfrm>
            <a:off x="10004246" y="2969439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30" name="plan-box-29"/>
          <p:cNvSpPr/>
          <p:nvPr/>
        </p:nvSpPr>
        <p:spPr>
          <a:xfrm>
            <a:off x="815975" y="3286820"/>
            <a:ext cx="10560050" cy="37961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31" name="plan-line-30"/>
          <p:cNvSpPr/>
          <p:nvPr/>
        </p:nvSpPr>
        <p:spPr>
          <a:xfrm>
            <a:off x="815975" y="366643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plan-text-31"/>
          <p:cNvSpPr txBox="1"/>
          <p:nvPr/>
        </p:nvSpPr>
        <p:spPr>
          <a:xfrm>
            <a:off x="922655" y="3349050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26:00</a:t>
            </a:r>
            <a:endParaRPr lang="en-US" sz="1400" dirty="0"/>
          </a:p>
        </p:txBody>
      </p:sp>
      <p:sp>
        <p:nvSpPr>
          <p:cNvPr id="33" name="plan-line-32"/>
          <p:cNvSpPr/>
          <p:nvPr/>
        </p:nvSpPr>
        <p:spPr>
          <a:xfrm>
            <a:off x="2505571" y="3666430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plan-text-33"/>
          <p:cNvSpPr txBox="1"/>
          <p:nvPr/>
        </p:nvSpPr>
        <p:spPr>
          <a:xfrm>
            <a:off x="2612251" y="3349050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ООО «Ромашка»</a:t>
            </a:r>
            <a:endParaRPr lang="en-US" sz="1400" dirty="0"/>
          </a:p>
        </p:txBody>
      </p:sp>
      <p:sp>
        <p:nvSpPr>
          <p:cNvPr id="35" name="plan-line-34"/>
          <p:cNvSpPr/>
          <p:nvPr/>
        </p:nvSpPr>
        <p:spPr>
          <a:xfrm>
            <a:off x="9897566" y="3666430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plan-text-35"/>
          <p:cNvSpPr txBox="1"/>
          <p:nvPr/>
        </p:nvSpPr>
        <p:spPr>
          <a:xfrm>
            <a:off x="10004246" y="3349050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plan-box-36"/>
          <p:cNvSpPr/>
          <p:nvPr/>
        </p:nvSpPr>
        <p:spPr>
          <a:xfrm>
            <a:off x="815975" y="3666430"/>
            <a:ext cx="10560050" cy="37961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38" name="plan-line-37"/>
          <p:cNvSpPr/>
          <p:nvPr/>
        </p:nvSpPr>
        <p:spPr>
          <a:xfrm>
            <a:off x="815975" y="4046041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plan-text-38"/>
          <p:cNvSpPr txBox="1"/>
          <p:nvPr/>
        </p:nvSpPr>
        <p:spPr>
          <a:xfrm>
            <a:off x="922655" y="3728660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33:00</a:t>
            </a:r>
            <a:endParaRPr lang="en-US" sz="1400" dirty="0"/>
          </a:p>
        </p:txBody>
      </p:sp>
      <p:sp>
        <p:nvSpPr>
          <p:cNvPr id="40" name="plan-line-39"/>
          <p:cNvSpPr/>
          <p:nvPr/>
        </p:nvSpPr>
        <p:spPr>
          <a:xfrm>
            <a:off x="2505571" y="4046041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plan-text-40"/>
          <p:cNvSpPr txBox="1"/>
          <p:nvPr/>
        </p:nvSpPr>
        <p:spPr>
          <a:xfrm>
            <a:off x="2612251" y="3728660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 тот же порядок, другой вопрос</a:t>
            </a:r>
            <a:endParaRPr lang="en-US" sz="1400" dirty="0"/>
          </a:p>
        </p:txBody>
      </p:sp>
      <p:sp>
        <p:nvSpPr>
          <p:cNvPr id="42" name="plan-line-41"/>
          <p:cNvSpPr/>
          <p:nvPr/>
        </p:nvSpPr>
        <p:spPr>
          <a:xfrm>
            <a:off x="9897566" y="4046041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plan-text-42"/>
          <p:cNvSpPr txBox="1"/>
          <p:nvPr/>
        </p:nvSpPr>
        <p:spPr>
          <a:xfrm>
            <a:off x="10004246" y="3728660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4" name="plan-box-43"/>
          <p:cNvSpPr/>
          <p:nvPr/>
        </p:nvSpPr>
        <p:spPr>
          <a:xfrm>
            <a:off x="815975" y="4046041"/>
            <a:ext cx="10560050" cy="37961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5" name="plan-line-44"/>
          <p:cNvSpPr/>
          <p:nvPr/>
        </p:nvSpPr>
        <p:spPr>
          <a:xfrm>
            <a:off x="815975" y="4425652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plan-text-45"/>
          <p:cNvSpPr txBox="1"/>
          <p:nvPr/>
        </p:nvSpPr>
        <p:spPr>
          <a:xfrm>
            <a:off x="922655" y="4108271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46:00</a:t>
            </a:r>
            <a:endParaRPr lang="en-US" sz="1400" dirty="0"/>
          </a:p>
        </p:txBody>
      </p:sp>
      <p:sp>
        <p:nvSpPr>
          <p:cNvPr id="47" name="plan-line-46"/>
          <p:cNvSpPr/>
          <p:nvPr/>
        </p:nvSpPr>
        <p:spPr>
          <a:xfrm>
            <a:off x="2505571" y="4425652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plan-text-47"/>
          <p:cNvSpPr txBox="1"/>
          <p:nvPr/>
        </p:nvSpPr>
        <p:spPr>
          <a:xfrm>
            <a:off x="2612251" y="4108271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ПАО «Василёк»</a:t>
            </a:r>
            <a:endParaRPr lang="en-US" sz="1400" dirty="0"/>
          </a:p>
        </p:txBody>
      </p:sp>
      <p:sp>
        <p:nvSpPr>
          <p:cNvPr id="49" name="plan-line-48"/>
          <p:cNvSpPr/>
          <p:nvPr/>
        </p:nvSpPr>
        <p:spPr>
          <a:xfrm>
            <a:off x="9897566" y="4425652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plan-text-49"/>
          <p:cNvSpPr txBox="1"/>
          <p:nvPr/>
        </p:nvSpPr>
        <p:spPr>
          <a:xfrm>
            <a:off x="10004246" y="4108271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1" name="plan-line-50"/>
          <p:cNvSpPr/>
          <p:nvPr/>
        </p:nvSpPr>
        <p:spPr>
          <a:xfrm>
            <a:off x="815975" y="4805263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plan-text-51"/>
          <p:cNvSpPr txBox="1"/>
          <p:nvPr/>
        </p:nvSpPr>
        <p:spPr>
          <a:xfrm>
            <a:off x="922655" y="4487882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53:00</a:t>
            </a:r>
            <a:endParaRPr lang="en-US" sz="1400" dirty="0"/>
          </a:p>
        </p:txBody>
      </p:sp>
      <p:sp>
        <p:nvSpPr>
          <p:cNvPr id="53" name="plan-line-52"/>
          <p:cNvSpPr/>
          <p:nvPr/>
        </p:nvSpPr>
        <p:spPr>
          <a:xfrm>
            <a:off x="2505571" y="4805263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plan-text-53"/>
          <p:cNvSpPr txBox="1"/>
          <p:nvPr/>
        </p:nvSpPr>
        <p:spPr>
          <a:xfrm>
            <a:off x="2612251" y="4487882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 между отчётами</a:t>
            </a:r>
            <a:endParaRPr lang="en-US" sz="1400" dirty="0"/>
          </a:p>
        </p:txBody>
      </p:sp>
      <p:sp>
        <p:nvSpPr>
          <p:cNvPr id="55" name="plan-line-54"/>
          <p:cNvSpPr/>
          <p:nvPr/>
        </p:nvSpPr>
        <p:spPr>
          <a:xfrm>
            <a:off x="9897566" y="4805263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plan-text-55"/>
          <p:cNvSpPr txBox="1"/>
          <p:nvPr/>
        </p:nvSpPr>
        <p:spPr>
          <a:xfrm>
            <a:off x="10004246" y="4487882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7" name="plan-line-56"/>
          <p:cNvSpPr/>
          <p:nvPr/>
        </p:nvSpPr>
        <p:spPr>
          <a:xfrm>
            <a:off x="815975" y="5184874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plan-text-57"/>
          <p:cNvSpPr txBox="1"/>
          <p:nvPr/>
        </p:nvSpPr>
        <p:spPr>
          <a:xfrm>
            <a:off x="922655" y="4867493"/>
            <a:ext cx="152052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58:00</a:t>
            </a:r>
            <a:endParaRPr lang="en-US" sz="1400" dirty="0"/>
          </a:p>
        </p:txBody>
      </p:sp>
      <p:sp>
        <p:nvSpPr>
          <p:cNvPr id="59" name="plan-line-58"/>
          <p:cNvSpPr/>
          <p:nvPr/>
        </p:nvSpPr>
        <p:spPr>
          <a:xfrm>
            <a:off x="2505571" y="5184874"/>
            <a:ext cx="739199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plan-text-59"/>
          <p:cNvSpPr txBox="1"/>
          <p:nvPr/>
        </p:nvSpPr>
        <p:spPr>
          <a:xfrm>
            <a:off x="2612251" y="4867493"/>
            <a:ext cx="739399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домашнее задание</a:t>
            </a:r>
            <a:endParaRPr lang="en-US" sz="1400" dirty="0"/>
          </a:p>
        </p:txBody>
      </p:sp>
      <p:sp>
        <p:nvSpPr>
          <p:cNvPr id="61" name="plan-line-60"/>
          <p:cNvSpPr/>
          <p:nvPr/>
        </p:nvSpPr>
        <p:spPr>
          <a:xfrm>
            <a:off x="9897566" y="5184874"/>
            <a:ext cx="147845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plan-text-61"/>
          <p:cNvSpPr txBox="1"/>
          <p:nvPr/>
        </p:nvSpPr>
        <p:spPr>
          <a:xfrm>
            <a:off x="10004246" y="4867493"/>
            <a:ext cx="130305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3" name="plan-text-6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wo-questio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ДВА ВОПРОСА</a:t>
            </a:r>
            <a:endParaRPr lang="en-US" sz="1200" dirty="0"/>
          </a:p>
        </p:txBody>
      </p:sp>
      <p:sp>
        <p:nvSpPr>
          <p:cNvPr id="3" name="two-questio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 и совладелец</a:t>
            </a:r>
            <a:endParaRPr lang="en-US" sz="2800" dirty="0"/>
          </a:p>
        </p:txBody>
      </p:sp>
      <p:sp>
        <p:nvSpPr>
          <p:cNvPr id="4" name="two-question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5" name="two-questions-text-4"/>
          <p:cNvSpPr txBox="1"/>
          <p:nvPr/>
        </p:nvSpPr>
        <p:spPr>
          <a:xfrm>
            <a:off x="1117600" y="2070001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</a:t>
            </a:r>
            <a:endParaRPr lang="en-US" sz="1200" dirty="0"/>
          </a:p>
        </p:txBody>
      </p:sp>
      <p:sp>
        <p:nvSpPr>
          <p:cNvPr id="6" name="two-questions-text-5"/>
          <p:cNvSpPr txBox="1"/>
          <p:nvPr/>
        </p:nvSpPr>
        <p:spPr>
          <a:xfrm>
            <a:off x="1117600" y="2384921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кредитор</a:t>
            </a:r>
            <a:endParaRPr lang="en-US" sz="1800" dirty="0"/>
          </a:p>
        </p:txBody>
      </p:sp>
      <p:sp>
        <p:nvSpPr>
          <p:cNvPr id="7" name="two-questions-text-6"/>
          <p:cNvSpPr txBox="1"/>
          <p:nvPr/>
        </p:nvSpPr>
        <p:spPr>
          <a:xfrm>
            <a:off x="1117600" y="2760762"/>
            <a:ext cx="470916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ограничен купоном. Задача одна: не попасть в дефолт.</a:t>
            </a:r>
            <a:endParaRPr lang="en-US" sz="1400" dirty="0"/>
          </a:p>
        </p:txBody>
      </p:sp>
      <p:sp>
        <p:nvSpPr>
          <p:cNvPr id="8" name="two-questions-text-7"/>
          <p:cNvSpPr txBox="1"/>
          <p:nvPr/>
        </p:nvSpPr>
        <p:spPr>
          <a:xfrm>
            <a:off x="1117600" y="4627959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9" name="two-questions-text-8"/>
          <p:cNvSpPr txBox="1"/>
          <p:nvPr/>
        </p:nvSpPr>
        <p:spPr>
          <a:xfrm>
            <a:off x="1117600" y="4942880"/>
            <a:ext cx="47091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 компания заплатит мне в ближайшие полгода?</a:t>
            </a:r>
            <a:endParaRPr lang="en-US" sz="1800" dirty="0"/>
          </a:p>
        </p:txBody>
      </p:sp>
      <p:sp>
        <p:nvSpPr>
          <p:cNvPr id="10" name="two-questions-box-9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11" name="two-questions-text-10"/>
          <p:cNvSpPr txBox="1"/>
          <p:nvPr/>
        </p:nvSpPr>
        <p:spPr>
          <a:xfrm>
            <a:off x="6502400" y="2070001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</a:t>
            </a:r>
            <a:endParaRPr lang="en-US" sz="1200" dirty="0"/>
          </a:p>
        </p:txBody>
      </p:sp>
      <p:sp>
        <p:nvSpPr>
          <p:cNvPr id="12" name="two-questions-text-11"/>
          <p:cNvSpPr txBox="1"/>
          <p:nvPr/>
        </p:nvSpPr>
        <p:spPr>
          <a:xfrm>
            <a:off x="6502400" y="2384921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совладелец</a:t>
            </a:r>
            <a:endParaRPr lang="en-US" sz="1800" dirty="0"/>
          </a:p>
        </p:txBody>
      </p:sp>
      <p:sp>
        <p:nvSpPr>
          <p:cNvPr id="13" name="two-questions-text-12"/>
          <p:cNvSpPr txBox="1"/>
          <p:nvPr/>
        </p:nvSpPr>
        <p:spPr>
          <a:xfrm>
            <a:off x="6502400" y="2760762"/>
            <a:ext cx="470916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не ограничен, но и защиты нет: деньги вы получаете последним. Поэтому оцениваете ещё и цену.</a:t>
            </a:r>
            <a:endParaRPr lang="en-US" sz="1400" dirty="0"/>
          </a:p>
        </p:txBody>
      </p:sp>
      <p:sp>
        <p:nvSpPr>
          <p:cNvPr id="14" name="two-questions-text-13"/>
          <p:cNvSpPr txBox="1"/>
          <p:nvPr/>
        </p:nvSpPr>
        <p:spPr>
          <a:xfrm>
            <a:off x="6502400" y="4330799"/>
            <a:ext cx="47091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15" name="two-questions-text-14"/>
          <p:cNvSpPr txBox="1"/>
          <p:nvPr/>
        </p:nvSpPr>
        <p:spPr>
          <a:xfrm>
            <a:off x="6502400" y="4645720"/>
            <a:ext cx="4709160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бизнес заработает на мою акцию, сколько дойдёт до меня и сколько я за это плачу?</a:t>
            </a:r>
            <a:endParaRPr lang="en-US" sz="1800" dirty="0"/>
          </a:p>
        </p:txBody>
      </p:sp>
      <p:sp>
        <p:nvSpPr>
          <p:cNvPr id="16" name="two-questions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-idea-text-1"/>
          <p:cNvSpPr txBox="1"/>
          <p:nvPr/>
        </p:nvSpPr>
        <p:spPr>
          <a:xfrm>
            <a:off x="812800" y="236795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МЫСЛЬ ЛЕКЦИИ</a:t>
            </a:r>
            <a:endParaRPr lang="en-US" sz="1200" dirty="0"/>
          </a:p>
        </p:txBody>
      </p:sp>
      <p:sp>
        <p:nvSpPr>
          <p:cNvPr id="3" name="main-idea-text-2"/>
          <p:cNvSpPr txBox="1"/>
          <p:nvPr/>
        </p:nvSpPr>
        <p:spPr>
          <a:xfrm>
            <a:off x="812800" y="2835275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 показывает состояние. Платит компания деньгами, которые где-то берёт.</a:t>
            </a:r>
            <a:endParaRPr lang="en-US" sz="2800" dirty="0"/>
          </a:p>
        </p:txBody>
      </p:sp>
      <p:sp>
        <p:nvSpPr>
          <p:cNvPr id="4" name="main-idea-text-3"/>
          <p:cNvSpPr txBox="1"/>
          <p:nvPr/>
        </p:nvSpPr>
        <p:spPr>
          <a:xfrm>
            <a:off x="812800" y="3978275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в обоих случаях начинаем с денег и долга, а прибыль проверяем деньгами.</a:t>
            </a:r>
            <a:endParaRPr lang="en-US" sz="1800" dirty="0"/>
          </a:p>
        </p:txBody>
      </p:sp>
      <p:sp>
        <p:nvSpPr>
          <p:cNvPr id="5" name="main-idea-text-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00:00–05:00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Вступление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rsbu-msf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rsbu-msf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и МСФО: в чём разница</a:t>
            </a:r>
            <a:endParaRPr lang="en-US" sz="2800" dirty="0"/>
          </a:p>
        </p:txBody>
      </p:sp>
      <p:sp>
        <p:nvSpPr>
          <p:cNvPr id="4" name="map-rsbu-msfo-box-3"/>
          <p:cNvSpPr/>
          <p:nvPr/>
        </p:nvSpPr>
        <p:spPr>
          <a:xfrm>
            <a:off x="812800" y="1765201"/>
            <a:ext cx="10566400" cy="2929930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ap-rsbu-msfo-line-4"/>
          <p:cNvSpPr/>
          <p:nvPr/>
        </p:nvSpPr>
        <p:spPr>
          <a:xfrm>
            <a:off x="815975" y="20946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map-rsbu-msfo-text-5"/>
          <p:cNvSpPr txBox="1"/>
          <p:nvPr/>
        </p:nvSpPr>
        <p:spPr>
          <a:xfrm>
            <a:off x="907415" y="1821716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</a:t>
            </a:r>
            <a:endParaRPr lang="en-US" sz="1200" dirty="0"/>
          </a:p>
        </p:txBody>
      </p:sp>
      <p:sp>
        <p:nvSpPr>
          <p:cNvPr id="7" name="map-rsbu-msfo-line-6"/>
          <p:cNvSpPr/>
          <p:nvPr/>
        </p:nvSpPr>
        <p:spPr>
          <a:xfrm>
            <a:off x="2927945" y="2094607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map-rsbu-msfo-text-7"/>
          <p:cNvSpPr txBox="1"/>
          <p:nvPr/>
        </p:nvSpPr>
        <p:spPr>
          <a:xfrm>
            <a:off x="3019385" y="1821716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</a:t>
            </a:r>
            <a:endParaRPr lang="en-US" sz="1200" dirty="0"/>
          </a:p>
        </p:txBody>
      </p:sp>
      <p:sp>
        <p:nvSpPr>
          <p:cNvPr id="9" name="map-rsbu-msfo-line-8"/>
          <p:cNvSpPr/>
          <p:nvPr/>
        </p:nvSpPr>
        <p:spPr>
          <a:xfrm>
            <a:off x="7151886" y="2094607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map-rsbu-msfo-text-9"/>
          <p:cNvSpPr txBox="1"/>
          <p:nvPr/>
        </p:nvSpPr>
        <p:spPr>
          <a:xfrm>
            <a:off x="7243326" y="1821716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</a:t>
            </a:r>
            <a:endParaRPr lang="en-US" sz="1200" dirty="0"/>
          </a:p>
        </p:txBody>
      </p:sp>
      <p:sp>
        <p:nvSpPr>
          <p:cNvPr id="11" name="map-rsbu-msfo-line-10"/>
          <p:cNvSpPr/>
          <p:nvPr/>
        </p:nvSpPr>
        <p:spPr>
          <a:xfrm>
            <a:off x="815975" y="2420838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map-rsbu-msfo-text-11"/>
          <p:cNvSpPr txBox="1"/>
          <p:nvPr/>
        </p:nvSpPr>
        <p:spPr>
          <a:xfrm>
            <a:off x="907415" y="2147947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описывает</a:t>
            </a:r>
            <a:endParaRPr lang="en-US" sz="1200" dirty="0"/>
          </a:p>
        </p:txBody>
      </p:sp>
      <p:sp>
        <p:nvSpPr>
          <p:cNvPr id="13" name="map-rsbu-msfo-line-12"/>
          <p:cNvSpPr/>
          <p:nvPr/>
        </p:nvSpPr>
        <p:spPr>
          <a:xfrm>
            <a:off x="2927945" y="2420838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map-rsbu-msfo-text-13"/>
          <p:cNvSpPr txBox="1"/>
          <p:nvPr/>
        </p:nvSpPr>
        <p:spPr>
          <a:xfrm>
            <a:off x="3019385" y="2147947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юрлицо</a:t>
            </a:r>
            <a:endParaRPr lang="en-US" sz="1200" dirty="0"/>
          </a:p>
        </p:txBody>
      </p:sp>
      <p:sp>
        <p:nvSpPr>
          <p:cNvPr id="15" name="map-rsbu-msfo-line-14"/>
          <p:cNvSpPr/>
          <p:nvPr/>
        </p:nvSpPr>
        <p:spPr>
          <a:xfrm>
            <a:off x="7151886" y="2420838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map-rsbu-msfo-text-15"/>
          <p:cNvSpPr txBox="1"/>
          <p:nvPr/>
        </p:nvSpPr>
        <p:spPr>
          <a:xfrm>
            <a:off x="7243326" y="2147947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Группу целиком: материнскую компанию и «дочки»</a:t>
            </a:r>
            <a:endParaRPr lang="en-US" sz="1200" dirty="0"/>
          </a:p>
        </p:txBody>
      </p:sp>
      <p:sp>
        <p:nvSpPr>
          <p:cNvPr id="17" name="map-rsbu-msfo-line-16"/>
          <p:cNvSpPr/>
          <p:nvPr/>
        </p:nvSpPr>
        <p:spPr>
          <a:xfrm>
            <a:off x="815975" y="2960390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map-rsbu-msfo-text-17"/>
          <p:cNvSpPr txBox="1"/>
          <p:nvPr/>
        </p:nvSpPr>
        <p:spPr>
          <a:xfrm>
            <a:off x="907415" y="2474178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 когда</a:t>
            </a:r>
            <a:endParaRPr lang="en-US" sz="1200" dirty="0"/>
          </a:p>
        </p:txBody>
      </p:sp>
      <p:sp>
        <p:nvSpPr>
          <p:cNvPr id="19" name="map-rsbu-msfo-line-18"/>
          <p:cNvSpPr/>
          <p:nvPr/>
        </p:nvSpPr>
        <p:spPr>
          <a:xfrm>
            <a:off x="2927945" y="2960390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map-rsbu-msfo-text-19"/>
          <p:cNvSpPr txBox="1"/>
          <p:nvPr/>
        </p:nvSpPr>
        <p:spPr>
          <a:xfrm>
            <a:off x="3019385" y="2474178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ГИР БО: годовая до 31 марта. У эмитентов ещё промежуточная на e-disclosure</a:t>
            </a:r>
            <a:endParaRPr lang="en-US" sz="1200" dirty="0"/>
          </a:p>
        </p:txBody>
      </p:sp>
      <p:sp>
        <p:nvSpPr>
          <p:cNvPr id="21" name="map-rsbu-msfo-line-20"/>
          <p:cNvSpPr/>
          <p:nvPr/>
        </p:nvSpPr>
        <p:spPr>
          <a:xfrm>
            <a:off x="7151886" y="2960390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map-rsbu-msfo-text-21"/>
          <p:cNvSpPr txBox="1"/>
          <p:nvPr/>
        </p:nvSpPr>
        <p:spPr>
          <a:xfrm>
            <a:off x="7243326" y="2474178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компании и e-disclosure: годовая в марте–апреле, за полугодие к концу августа</a:t>
            </a:r>
            <a:endParaRPr lang="en-US" sz="1200" dirty="0"/>
          </a:p>
        </p:txBody>
      </p:sp>
      <p:sp>
        <p:nvSpPr>
          <p:cNvPr id="23" name="map-rsbu-msfo-line-22"/>
          <p:cNvSpPr/>
          <p:nvPr/>
        </p:nvSpPr>
        <p:spPr>
          <a:xfrm>
            <a:off x="815975" y="3286621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map-rsbu-msfo-text-23"/>
          <p:cNvSpPr txBox="1"/>
          <p:nvPr/>
        </p:nvSpPr>
        <p:spPr>
          <a:xfrm>
            <a:off x="907415" y="3013730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Номера строк</a:t>
            </a:r>
            <a:endParaRPr lang="en-US" sz="1200" dirty="0"/>
          </a:p>
        </p:txBody>
      </p:sp>
      <p:sp>
        <p:nvSpPr>
          <p:cNvPr id="25" name="map-rsbu-msfo-line-24"/>
          <p:cNvSpPr/>
          <p:nvPr/>
        </p:nvSpPr>
        <p:spPr>
          <a:xfrm>
            <a:off x="2927945" y="3286621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map-rsbu-msfo-text-25"/>
          <p:cNvSpPr txBox="1"/>
          <p:nvPr/>
        </p:nvSpPr>
        <p:spPr>
          <a:xfrm>
            <a:off x="3019385" y="3013730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Есть: 1250, 2110, 4100</a:t>
            </a:r>
            <a:endParaRPr lang="en-US" sz="1200" dirty="0"/>
          </a:p>
        </p:txBody>
      </p:sp>
      <p:sp>
        <p:nvSpPr>
          <p:cNvPr id="27" name="map-rsbu-msfo-line-26"/>
          <p:cNvSpPr/>
          <p:nvPr/>
        </p:nvSpPr>
        <p:spPr>
          <a:xfrm>
            <a:off x="7151886" y="3286621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map-rsbu-msfo-text-27"/>
          <p:cNvSpPr txBox="1"/>
          <p:nvPr/>
        </p:nvSpPr>
        <p:spPr>
          <a:xfrm>
            <a:off x="7243326" y="3013730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Нет: ищем по названиям и примечаниям</a:t>
            </a:r>
            <a:endParaRPr lang="en-US" sz="1200" dirty="0"/>
          </a:p>
        </p:txBody>
      </p:sp>
      <p:sp>
        <p:nvSpPr>
          <p:cNvPr id="29" name="map-rsbu-msfo-line-28"/>
          <p:cNvSpPr/>
          <p:nvPr/>
        </p:nvSpPr>
        <p:spPr>
          <a:xfrm>
            <a:off x="815975" y="3826173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map-rsbu-msfo-text-29"/>
          <p:cNvSpPr txBox="1"/>
          <p:nvPr/>
        </p:nvSpPr>
        <p:spPr>
          <a:xfrm>
            <a:off x="907415" y="3339961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Слабое место</a:t>
            </a:r>
            <a:endParaRPr lang="en-US" sz="1200" dirty="0"/>
          </a:p>
        </p:txBody>
      </p:sp>
      <p:sp>
        <p:nvSpPr>
          <p:cNvPr id="31" name="map-rsbu-msfo-line-30"/>
          <p:cNvSpPr/>
          <p:nvPr/>
        </p:nvSpPr>
        <p:spPr>
          <a:xfrm>
            <a:off x="2927945" y="3826173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map-rsbu-msfo-text-31"/>
          <p:cNvSpPr txBox="1"/>
          <p:nvPr/>
        </p:nvSpPr>
        <p:spPr>
          <a:xfrm>
            <a:off x="3019385" y="3339961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может оказаться «краешком группы»</a:t>
            </a:r>
            <a:endParaRPr lang="en-US" sz="1200" dirty="0"/>
          </a:p>
        </p:txBody>
      </p:sp>
      <p:sp>
        <p:nvSpPr>
          <p:cNvPr id="33" name="map-rsbu-msfo-line-32"/>
          <p:cNvSpPr/>
          <p:nvPr/>
        </p:nvSpPr>
        <p:spPr>
          <a:xfrm>
            <a:off x="7151886" y="3826173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map-rsbu-msfo-text-33"/>
          <p:cNvSpPr txBox="1"/>
          <p:nvPr/>
        </p:nvSpPr>
        <p:spPr>
          <a:xfrm>
            <a:off x="7243326" y="3339961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«Скорректированные» показатели, аренда по МСФО 16, сокращённое раскрытие</a:t>
            </a:r>
            <a:endParaRPr lang="en-US" sz="1200" dirty="0"/>
          </a:p>
        </p:txBody>
      </p:sp>
      <p:sp>
        <p:nvSpPr>
          <p:cNvPr id="35" name="map-rsbu-msfo-box-34"/>
          <p:cNvSpPr/>
          <p:nvPr/>
        </p:nvSpPr>
        <p:spPr>
          <a:xfrm>
            <a:off x="815975" y="3826173"/>
            <a:ext cx="10560050" cy="32623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36" name="map-rsbu-msfo-line-35"/>
          <p:cNvSpPr/>
          <p:nvPr/>
        </p:nvSpPr>
        <p:spPr>
          <a:xfrm>
            <a:off x="815975" y="4152404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map-rsbu-msfo-text-36"/>
          <p:cNvSpPr txBox="1"/>
          <p:nvPr/>
        </p:nvSpPr>
        <p:spPr>
          <a:xfrm>
            <a:off x="907415" y="3879513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облигаций</a:t>
            </a:r>
            <a:endParaRPr lang="en-US" sz="1200" dirty="0"/>
          </a:p>
        </p:txBody>
      </p:sp>
      <p:sp>
        <p:nvSpPr>
          <p:cNvPr id="38" name="map-rsbu-msfo-line-37"/>
          <p:cNvSpPr/>
          <p:nvPr/>
        </p:nvSpPr>
        <p:spPr>
          <a:xfrm>
            <a:off x="2927945" y="4152404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map-rsbu-msfo-text-38"/>
          <p:cNvSpPr txBox="1"/>
          <p:nvPr/>
        </p:nvSpPr>
        <p:spPr>
          <a:xfrm>
            <a:off x="3019385" y="3879513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многих ВДО есть только РСБУ</a:t>
            </a:r>
            <a:endParaRPr lang="en-US" sz="1200" dirty="0"/>
          </a:p>
        </p:txBody>
      </p:sp>
      <p:sp>
        <p:nvSpPr>
          <p:cNvPr id="40" name="map-rsbu-msfo-line-39"/>
          <p:cNvSpPr/>
          <p:nvPr/>
        </p:nvSpPr>
        <p:spPr>
          <a:xfrm>
            <a:off x="7151886" y="4152404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map-rsbu-msfo-text-40"/>
          <p:cNvSpPr txBox="1"/>
          <p:nvPr/>
        </p:nvSpPr>
        <p:spPr>
          <a:xfrm>
            <a:off x="7243326" y="3879513"/>
            <a:ext cx="416249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группы и таблица сроков погашения</a:t>
            </a:r>
            <a:endParaRPr lang="en-US" sz="1200" dirty="0"/>
          </a:p>
        </p:txBody>
      </p:sp>
      <p:sp>
        <p:nvSpPr>
          <p:cNvPr id="42" name="map-rsbu-msfo-box-41"/>
          <p:cNvSpPr/>
          <p:nvPr/>
        </p:nvSpPr>
        <p:spPr>
          <a:xfrm>
            <a:off x="815975" y="4152404"/>
            <a:ext cx="10560050" cy="539552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3" name="map-rsbu-msfo-line-42"/>
          <p:cNvSpPr/>
          <p:nvPr/>
        </p:nvSpPr>
        <p:spPr>
          <a:xfrm>
            <a:off x="815975" y="4691955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map-rsbu-msfo-text-43"/>
          <p:cNvSpPr txBox="1"/>
          <p:nvPr/>
        </p:nvSpPr>
        <p:spPr>
          <a:xfrm>
            <a:off x="907415" y="4205744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акций</a:t>
            </a:r>
            <a:endParaRPr lang="en-US" sz="1200" dirty="0"/>
          </a:p>
        </p:txBody>
      </p:sp>
      <p:sp>
        <p:nvSpPr>
          <p:cNvPr id="45" name="map-rsbu-msfo-line-44"/>
          <p:cNvSpPr/>
          <p:nvPr/>
        </p:nvSpPr>
        <p:spPr>
          <a:xfrm>
            <a:off x="2927945" y="4691955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map-rsbu-msfo-text-45"/>
          <p:cNvSpPr txBox="1"/>
          <p:nvPr/>
        </p:nvSpPr>
        <p:spPr>
          <a:xfrm>
            <a:off x="3019385" y="4205744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платятся из прибыли юрлица. Дивиденд по префам часто привязан к РСБУ уставом</a:t>
            </a:r>
            <a:endParaRPr lang="en-US" sz="1200" dirty="0"/>
          </a:p>
        </p:txBody>
      </p:sp>
      <p:sp>
        <p:nvSpPr>
          <p:cNvPr id="47" name="map-rsbu-msfo-line-46"/>
          <p:cNvSpPr/>
          <p:nvPr/>
        </p:nvSpPr>
        <p:spPr>
          <a:xfrm>
            <a:off x="7151886" y="4691955"/>
            <a:ext cx="422413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map-rsbu-msfo-text-47"/>
          <p:cNvSpPr txBox="1"/>
          <p:nvPr/>
        </p:nvSpPr>
        <p:spPr>
          <a:xfrm>
            <a:off x="7243326" y="4205744"/>
            <a:ext cx="416249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целиком. Дивполитики обычно считают от прибыли по МСФО</a:t>
            </a:r>
            <a:endParaRPr lang="en-US" sz="1200" dirty="0"/>
          </a:p>
        </p:txBody>
      </p:sp>
      <p:sp>
        <p:nvSpPr>
          <p:cNvPr id="49" name="map-rsbu-msfo-text-48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three-repor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three-repor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отчёта, одна история</a:t>
            </a:r>
            <a:endParaRPr lang="en-US" sz="2800" dirty="0"/>
          </a:p>
        </p:txBody>
      </p:sp>
      <p:sp>
        <p:nvSpPr>
          <p:cNvPr id="4" name="map-three-reports-box-3"/>
          <p:cNvSpPr/>
          <p:nvPr/>
        </p:nvSpPr>
        <p:spPr>
          <a:xfrm>
            <a:off x="812800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ap-three-reports-text-4"/>
          <p:cNvSpPr txBox="1"/>
          <p:nvPr/>
        </p:nvSpPr>
        <p:spPr>
          <a:xfrm>
            <a:off x="996950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СНИМОК НА ДАТУ</a:t>
            </a:r>
            <a:endParaRPr lang="en-US" sz="1200" dirty="0"/>
          </a:p>
        </p:txBody>
      </p:sp>
      <p:sp>
        <p:nvSpPr>
          <p:cNvPr id="6" name="map-three-reports-text-5"/>
          <p:cNvSpPr txBox="1"/>
          <p:nvPr/>
        </p:nvSpPr>
        <p:spPr>
          <a:xfrm>
            <a:off x="996950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</a:t>
            </a:r>
            <a:endParaRPr lang="en-US" sz="1800" dirty="0"/>
          </a:p>
        </p:txBody>
      </p:sp>
      <p:sp>
        <p:nvSpPr>
          <p:cNvPr id="7" name="map-three-reports-text-6"/>
          <p:cNvSpPr txBox="1"/>
          <p:nvPr/>
        </p:nvSpPr>
        <p:spPr>
          <a:xfrm>
            <a:off x="996950" y="2589312"/>
            <a:ext cx="310888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 компании есть и за чей счёт</a:t>
            </a:r>
            <a:endParaRPr lang="en-US" sz="1400" dirty="0"/>
          </a:p>
        </p:txBody>
      </p:sp>
      <p:sp>
        <p:nvSpPr>
          <p:cNvPr id="8" name="map-three-reports-box-7"/>
          <p:cNvSpPr/>
          <p:nvPr/>
        </p:nvSpPr>
        <p:spPr>
          <a:xfrm>
            <a:off x="4402634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map-three-reports-text-8"/>
          <p:cNvSpPr txBox="1"/>
          <p:nvPr/>
        </p:nvSpPr>
        <p:spPr>
          <a:xfrm>
            <a:off x="4586784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 ПЕРИОД</a:t>
            </a:r>
            <a:endParaRPr lang="en-US" sz="1200" dirty="0"/>
          </a:p>
        </p:txBody>
      </p:sp>
      <p:sp>
        <p:nvSpPr>
          <p:cNvPr id="10" name="map-three-reports-text-9"/>
          <p:cNvSpPr txBox="1"/>
          <p:nvPr/>
        </p:nvSpPr>
        <p:spPr>
          <a:xfrm>
            <a:off x="4586784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Финрезультаты</a:t>
            </a:r>
            <a:endParaRPr lang="en-US" sz="1800" dirty="0"/>
          </a:p>
        </p:txBody>
      </p:sp>
      <p:sp>
        <p:nvSpPr>
          <p:cNvPr id="11" name="map-three-reports-text-10"/>
          <p:cNvSpPr txBox="1"/>
          <p:nvPr/>
        </p:nvSpPr>
        <p:spPr>
          <a:xfrm>
            <a:off x="4586784" y="2589312"/>
            <a:ext cx="310888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заработали. Начисления, не деньги</a:t>
            </a:r>
            <a:endParaRPr lang="en-US" sz="1400" dirty="0"/>
          </a:p>
        </p:txBody>
      </p:sp>
      <p:sp>
        <p:nvSpPr>
          <p:cNvPr id="12" name="map-three-reports-box-11"/>
          <p:cNvSpPr/>
          <p:nvPr/>
        </p:nvSpPr>
        <p:spPr>
          <a:xfrm>
            <a:off x="7992467" y="1765201"/>
            <a:ext cx="3386634" cy="1523802"/>
          </a:xfrm>
          <a:prstGeom prst="roundRect">
            <a:avLst>
              <a:gd name="adj" fmla="val 400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3" name="map-three-reports-text-12"/>
          <p:cNvSpPr txBox="1"/>
          <p:nvPr/>
        </p:nvSpPr>
        <p:spPr>
          <a:xfrm>
            <a:off x="8176617" y="1949351"/>
            <a:ext cx="310888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ПОТОКА</a:t>
            </a:r>
            <a:endParaRPr lang="en-US" sz="1200" dirty="0"/>
          </a:p>
        </p:txBody>
      </p:sp>
      <p:sp>
        <p:nvSpPr>
          <p:cNvPr id="14" name="map-three-reports-text-13"/>
          <p:cNvSpPr txBox="1"/>
          <p:nvPr/>
        </p:nvSpPr>
        <p:spPr>
          <a:xfrm>
            <a:off x="8176617" y="2238871"/>
            <a:ext cx="31088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Движение денег</a:t>
            </a:r>
            <a:endParaRPr lang="en-US" sz="1800" dirty="0"/>
          </a:p>
        </p:txBody>
      </p:sp>
      <p:sp>
        <p:nvSpPr>
          <p:cNvPr id="15" name="map-three-reports-text-14"/>
          <p:cNvSpPr txBox="1"/>
          <p:nvPr/>
        </p:nvSpPr>
        <p:spPr>
          <a:xfrm>
            <a:off x="8176617" y="2589312"/>
            <a:ext cx="3108884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деньги пришли и куда ушли</a:t>
            </a:r>
            <a:endParaRPr lang="en-US" sz="1400" dirty="0"/>
          </a:p>
        </p:txBody>
      </p:sp>
      <p:sp>
        <p:nvSpPr>
          <p:cNvPr id="16" name="map-three-reports-text-15"/>
          <p:cNvSpPr txBox="1"/>
          <p:nvPr/>
        </p:nvSpPr>
        <p:spPr>
          <a:xfrm>
            <a:off x="812800" y="354300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СВЯЗКИ, КОТОРЫЕ ПРОВЕРЯЮТ ОТЧЁТНОСТЬ</a:t>
            </a:r>
            <a:endParaRPr lang="en-US" sz="1200" dirty="0"/>
          </a:p>
        </p:txBody>
      </p:sp>
      <p:sp>
        <p:nvSpPr>
          <p:cNvPr id="17" name="map-three-reports-line-16"/>
          <p:cNvSpPr/>
          <p:nvPr/>
        </p:nvSpPr>
        <p:spPr>
          <a:xfrm>
            <a:off x="812800" y="41639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map-three-reports-text-17"/>
          <p:cNvSpPr txBox="1"/>
          <p:nvPr/>
        </p:nvSpPr>
        <p:spPr>
          <a:xfrm>
            <a:off x="812800" y="38579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2400</a:t>
            </a:r>
            <a:endParaRPr lang="en-US" sz="1400" dirty="0"/>
          </a:p>
        </p:txBody>
      </p:sp>
      <p:sp>
        <p:nvSpPr>
          <p:cNvPr id="19" name="map-three-reports-text-18"/>
          <p:cNvSpPr txBox="1"/>
          <p:nvPr/>
        </p:nvSpPr>
        <p:spPr>
          <a:xfrm>
            <a:off x="2209800" y="3857923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20" name="map-three-reports-line-19"/>
          <p:cNvSpPr/>
          <p:nvPr/>
        </p:nvSpPr>
        <p:spPr>
          <a:xfrm>
            <a:off x="5130800" y="3982343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21" name="map-three-reports-text-20"/>
          <p:cNvSpPr txBox="1"/>
          <p:nvPr/>
        </p:nvSpPr>
        <p:spPr>
          <a:xfrm>
            <a:off x="5765800" y="38579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1370</a:t>
            </a:r>
            <a:endParaRPr lang="en-US" sz="1400" dirty="0"/>
          </a:p>
        </p:txBody>
      </p:sp>
      <p:sp>
        <p:nvSpPr>
          <p:cNvPr id="22" name="map-three-reports-text-21"/>
          <p:cNvSpPr txBox="1"/>
          <p:nvPr/>
        </p:nvSpPr>
        <p:spPr>
          <a:xfrm>
            <a:off x="7162800" y="3857923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</a:t>
            </a:r>
            <a:endParaRPr lang="en-US" sz="1400" dirty="0"/>
          </a:p>
        </p:txBody>
      </p:sp>
      <p:sp>
        <p:nvSpPr>
          <p:cNvPr id="23" name="map-three-reports-line-22"/>
          <p:cNvSpPr/>
          <p:nvPr/>
        </p:nvSpPr>
        <p:spPr>
          <a:xfrm>
            <a:off x="812800" y="457150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map-three-reports-text-23"/>
          <p:cNvSpPr txBox="1"/>
          <p:nvPr/>
        </p:nvSpPr>
        <p:spPr>
          <a:xfrm>
            <a:off x="812800" y="426551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4500</a:t>
            </a:r>
            <a:endParaRPr lang="en-US" sz="1400" dirty="0"/>
          </a:p>
        </p:txBody>
      </p:sp>
      <p:sp>
        <p:nvSpPr>
          <p:cNvPr id="25" name="map-three-reports-text-24"/>
          <p:cNvSpPr txBox="1"/>
          <p:nvPr/>
        </p:nvSpPr>
        <p:spPr>
          <a:xfrm>
            <a:off x="2209800" y="4265513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Остаток денег на конец</a:t>
            </a:r>
            <a:endParaRPr lang="en-US" sz="1400" dirty="0"/>
          </a:p>
        </p:txBody>
      </p:sp>
      <p:sp>
        <p:nvSpPr>
          <p:cNvPr id="26" name="map-three-reports-line-25"/>
          <p:cNvSpPr/>
          <p:nvPr/>
        </p:nvSpPr>
        <p:spPr>
          <a:xfrm>
            <a:off x="5130800" y="4389934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27" name="map-three-reports-text-26"/>
          <p:cNvSpPr txBox="1"/>
          <p:nvPr/>
        </p:nvSpPr>
        <p:spPr>
          <a:xfrm>
            <a:off x="5765800" y="426551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1250</a:t>
            </a:r>
            <a:endParaRPr lang="en-US" sz="1400" dirty="0"/>
          </a:p>
        </p:txBody>
      </p:sp>
      <p:sp>
        <p:nvSpPr>
          <p:cNvPr id="28" name="map-three-reports-text-27"/>
          <p:cNvSpPr txBox="1"/>
          <p:nvPr/>
        </p:nvSpPr>
        <p:spPr>
          <a:xfrm>
            <a:off x="7162800" y="4265513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в балансе</a:t>
            </a:r>
            <a:endParaRPr lang="en-US" sz="1400" dirty="0"/>
          </a:p>
        </p:txBody>
      </p:sp>
      <p:sp>
        <p:nvSpPr>
          <p:cNvPr id="29" name="map-three-reports-line-28"/>
          <p:cNvSpPr/>
          <p:nvPr/>
        </p:nvSpPr>
        <p:spPr>
          <a:xfrm>
            <a:off x="812800" y="4979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map-three-reports-text-29"/>
          <p:cNvSpPr txBox="1"/>
          <p:nvPr/>
        </p:nvSpPr>
        <p:spPr>
          <a:xfrm>
            <a:off x="812800" y="46731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4221</a:t>
            </a:r>
            <a:endParaRPr lang="en-US" sz="1400" dirty="0"/>
          </a:p>
        </p:txBody>
      </p:sp>
      <p:sp>
        <p:nvSpPr>
          <p:cNvPr id="31" name="map-three-reports-text-30"/>
          <p:cNvSpPr txBox="1"/>
          <p:nvPr/>
        </p:nvSpPr>
        <p:spPr>
          <a:xfrm>
            <a:off x="2209800" y="4673104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400" dirty="0"/>
          </a:p>
        </p:txBody>
      </p:sp>
      <p:sp>
        <p:nvSpPr>
          <p:cNvPr id="32" name="map-three-reports-line-31"/>
          <p:cNvSpPr/>
          <p:nvPr/>
        </p:nvSpPr>
        <p:spPr>
          <a:xfrm>
            <a:off x="5130800" y="4797524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33" name="map-three-reports-text-32"/>
          <p:cNvSpPr txBox="1"/>
          <p:nvPr/>
        </p:nvSpPr>
        <p:spPr>
          <a:xfrm>
            <a:off x="5765800" y="46731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1150</a:t>
            </a:r>
            <a:endParaRPr lang="en-US" sz="1400" dirty="0"/>
          </a:p>
        </p:txBody>
      </p:sp>
      <p:sp>
        <p:nvSpPr>
          <p:cNvPr id="34" name="map-three-reports-text-33"/>
          <p:cNvSpPr txBox="1"/>
          <p:nvPr/>
        </p:nvSpPr>
        <p:spPr>
          <a:xfrm>
            <a:off x="7162800" y="4673104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средства</a:t>
            </a:r>
            <a:endParaRPr lang="en-US" sz="1400" dirty="0"/>
          </a:p>
        </p:txBody>
      </p:sp>
      <p:sp>
        <p:nvSpPr>
          <p:cNvPr id="35" name="map-three-reports-line-34"/>
          <p:cNvSpPr/>
          <p:nvPr/>
        </p:nvSpPr>
        <p:spPr>
          <a:xfrm>
            <a:off x="812800" y="538668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map-three-reports-text-35"/>
          <p:cNvSpPr txBox="1"/>
          <p:nvPr/>
        </p:nvSpPr>
        <p:spPr>
          <a:xfrm>
            <a:off x="812800" y="508069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4311 · 4314</a:t>
            </a:r>
            <a:endParaRPr lang="en-US" sz="1400" dirty="0"/>
          </a:p>
        </p:txBody>
      </p:sp>
      <p:sp>
        <p:nvSpPr>
          <p:cNvPr id="37" name="map-three-reports-text-36"/>
          <p:cNvSpPr txBox="1"/>
          <p:nvPr/>
        </p:nvSpPr>
        <p:spPr>
          <a:xfrm>
            <a:off x="2209800" y="5080695"/>
            <a:ext cx="287782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кредиты и облигации</a:t>
            </a:r>
            <a:endParaRPr lang="en-US" sz="1400" dirty="0"/>
          </a:p>
        </p:txBody>
      </p:sp>
      <p:sp>
        <p:nvSpPr>
          <p:cNvPr id="38" name="map-three-reports-line-37"/>
          <p:cNvSpPr/>
          <p:nvPr/>
        </p:nvSpPr>
        <p:spPr>
          <a:xfrm>
            <a:off x="5130800" y="5205115"/>
            <a:ext cx="508000" cy="0"/>
          </a:xfrm>
          <a:prstGeom prst="line">
            <a:avLst/>
          </a:prstGeom>
          <a:noFill/>
          <a:ln w="12700">
            <a:solidFill>
              <a:srgbClr val="5A6860"/>
            </a:solidFill>
            <a:prstDash val="solid"/>
            <a:tailEnd type="triangle"/>
          </a:ln>
        </p:spPr>
      </p:sp>
      <p:sp>
        <p:nvSpPr>
          <p:cNvPr id="39" name="map-three-reports-text-38"/>
          <p:cNvSpPr txBox="1"/>
          <p:nvPr/>
        </p:nvSpPr>
        <p:spPr>
          <a:xfrm>
            <a:off x="5765800" y="508069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1410 · 1510</a:t>
            </a:r>
            <a:endParaRPr lang="en-US" sz="1400" dirty="0"/>
          </a:p>
        </p:txBody>
      </p:sp>
      <p:sp>
        <p:nvSpPr>
          <p:cNvPr id="40" name="map-three-reports-text-39"/>
          <p:cNvSpPr txBox="1"/>
          <p:nvPr/>
        </p:nvSpPr>
        <p:spPr>
          <a:xfrm>
            <a:off x="7162800" y="5080695"/>
            <a:ext cx="43428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</a:t>
            </a:r>
            <a:endParaRPr lang="en-US" sz="1400" dirty="0"/>
          </a:p>
        </p:txBody>
      </p:sp>
      <p:sp>
        <p:nvSpPr>
          <p:cNvPr id="41" name="map-three-reports-text-40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balan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1 · БУХГАЛТЕРСКИЙ БАЛАНС</a:t>
            </a:r>
            <a:endParaRPr lang="en-US" sz="1200" dirty="0"/>
          </a:p>
        </p:txBody>
      </p:sp>
      <p:sp>
        <p:nvSpPr>
          <p:cNvPr id="3" name="map-balan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баланс</a:t>
            </a:r>
            <a:endParaRPr lang="en-US" sz="2800" dirty="0"/>
          </a:p>
        </p:txBody>
      </p:sp>
      <p:sp>
        <p:nvSpPr>
          <p:cNvPr id="4" name="map-balance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balance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balance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balance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balance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balance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1150</a:t>
            </a:r>
            <a:endParaRPr lang="en-US" sz="1400" dirty="0"/>
          </a:p>
        </p:txBody>
      </p:sp>
      <p:sp>
        <p:nvSpPr>
          <p:cNvPr id="10" name="map-balance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средства</a:t>
            </a:r>
            <a:endParaRPr lang="en-US" sz="1400" dirty="0"/>
          </a:p>
        </p:txBody>
      </p:sp>
      <p:sp>
        <p:nvSpPr>
          <p:cNvPr id="11" name="map-balance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Сюда превращается капекс: сравните рост с выручкой</a:t>
            </a:r>
            <a:endParaRPr lang="en-US" sz="1400" dirty="0"/>
          </a:p>
        </p:txBody>
      </p:sp>
      <p:sp>
        <p:nvSpPr>
          <p:cNvPr id="12" name="map-balance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balance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1170 · 1240</a:t>
            </a:r>
            <a:endParaRPr lang="en-US" sz="1400" dirty="0"/>
          </a:p>
        </p:txBody>
      </p:sp>
      <p:sp>
        <p:nvSpPr>
          <p:cNvPr id="14" name="map-balance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Финансовые вложения</a:t>
            </a:r>
            <a:endParaRPr lang="en-US" sz="1400" dirty="0"/>
          </a:p>
        </p:txBody>
      </p:sp>
      <p:sp>
        <p:nvSpPr>
          <p:cNvPr id="15" name="map-balance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займы выданные. Кому? Часто связанным сторонам</a:t>
            </a:r>
            <a:endParaRPr lang="en-US" sz="1400" dirty="0"/>
          </a:p>
        </p:txBody>
      </p:sp>
      <p:sp>
        <p:nvSpPr>
          <p:cNvPr id="16" name="map-balance-line-15"/>
          <p:cNvSpPr/>
          <p:nvPr/>
        </p:nvSpPr>
        <p:spPr>
          <a:xfrm>
            <a:off x="812800" y="320764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balance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1230</a:t>
            </a:r>
            <a:endParaRPr lang="en-US" sz="1400" dirty="0"/>
          </a:p>
        </p:txBody>
      </p:sp>
      <p:sp>
        <p:nvSpPr>
          <p:cNvPr id="18" name="map-balance-text-17"/>
          <p:cNvSpPr txBox="1"/>
          <p:nvPr/>
        </p:nvSpPr>
        <p:spPr>
          <a:xfrm>
            <a:off x="2235200" y="288260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Дебиторская задолженность</a:t>
            </a:r>
            <a:endParaRPr lang="en-US" sz="1400" dirty="0"/>
          </a:p>
        </p:txBody>
      </p:sp>
      <p:sp>
        <p:nvSpPr>
          <p:cNvPr id="19" name="map-balance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быстрее выручки: деньги застревают у покупателей</a:t>
            </a:r>
            <a:endParaRPr lang="en-US" sz="1400" dirty="0"/>
          </a:p>
        </p:txBody>
      </p:sp>
      <p:sp>
        <p:nvSpPr>
          <p:cNvPr id="20" name="map-balance-line-19"/>
          <p:cNvSpPr/>
          <p:nvPr/>
        </p:nvSpPr>
        <p:spPr>
          <a:xfrm>
            <a:off x="812800" y="359618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balance-text-20"/>
          <p:cNvSpPr txBox="1"/>
          <p:nvPr/>
        </p:nvSpPr>
        <p:spPr>
          <a:xfrm>
            <a:off x="812800" y="327749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1250</a:t>
            </a:r>
            <a:endParaRPr lang="en-US" sz="1400" dirty="0"/>
          </a:p>
        </p:txBody>
      </p:sp>
      <p:sp>
        <p:nvSpPr>
          <p:cNvPr id="22" name="map-balance-text-21"/>
          <p:cNvSpPr txBox="1"/>
          <p:nvPr/>
        </p:nvSpPr>
        <p:spPr>
          <a:xfrm>
            <a:off x="2235200" y="327114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400" dirty="0"/>
          </a:p>
        </p:txBody>
      </p:sp>
      <p:sp>
        <p:nvSpPr>
          <p:cNvPr id="23" name="map-balance-text-22"/>
          <p:cNvSpPr txBox="1"/>
          <p:nvPr/>
        </p:nvSpPr>
        <p:spPr>
          <a:xfrm>
            <a:off x="5689600" y="327114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денег прямо сейчас</a:t>
            </a:r>
            <a:endParaRPr lang="en-US" sz="1400" dirty="0"/>
          </a:p>
        </p:txBody>
      </p:sp>
      <p:sp>
        <p:nvSpPr>
          <p:cNvPr id="24" name="map-balance-line-23"/>
          <p:cNvSpPr/>
          <p:nvPr/>
        </p:nvSpPr>
        <p:spPr>
          <a:xfrm>
            <a:off x="812800" y="398472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balance-text-24"/>
          <p:cNvSpPr txBox="1"/>
          <p:nvPr/>
        </p:nvSpPr>
        <p:spPr>
          <a:xfrm>
            <a:off x="812800" y="366603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1300</a:t>
            </a:r>
            <a:endParaRPr lang="en-US" sz="1400" dirty="0"/>
          </a:p>
        </p:txBody>
      </p:sp>
      <p:sp>
        <p:nvSpPr>
          <p:cNvPr id="26" name="map-balance-text-25"/>
          <p:cNvSpPr txBox="1"/>
          <p:nvPr/>
        </p:nvSpPr>
        <p:spPr>
          <a:xfrm>
            <a:off x="2235200" y="365968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 и резервы</a:t>
            </a:r>
            <a:endParaRPr lang="en-US" sz="1400" dirty="0"/>
          </a:p>
        </p:txBody>
      </p:sp>
      <p:sp>
        <p:nvSpPr>
          <p:cNvPr id="27" name="map-balance-text-26"/>
          <p:cNvSpPr txBox="1"/>
          <p:nvPr/>
        </p:nvSpPr>
        <p:spPr>
          <a:xfrm>
            <a:off x="5689600" y="365968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для расчёта «долг / капитал»</a:t>
            </a:r>
            <a:endParaRPr lang="en-US" sz="1400" dirty="0"/>
          </a:p>
        </p:txBody>
      </p:sp>
      <p:sp>
        <p:nvSpPr>
          <p:cNvPr id="28" name="map-balance-line-27"/>
          <p:cNvSpPr/>
          <p:nvPr/>
        </p:nvSpPr>
        <p:spPr>
          <a:xfrm>
            <a:off x="812800" y="437326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balance-text-28"/>
          <p:cNvSpPr txBox="1"/>
          <p:nvPr/>
        </p:nvSpPr>
        <p:spPr>
          <a:xfrm>
            <a:off x="812800" y="405457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1370</a:t>
            </a:r>
            <a:endParaRPr lang="en-US" sz="1400" dirty="0"/>
          </a:p>
        </p:txBody>
      </p:sp>
      <p:sp>
        <p:nvSpPr>
          <p:cNvPr id="30" name="map-balance-text-29"/>
          <p:cNvSpPr txBox="1"/>
          <p:nvPr/>
        </p:nvSpPr>
        <p:spPr>
          <a:xfrm>
            <a:off x="2235200" y="404822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</a:t>
            </a:r>
            <a:endParaRPr lang="en-US" sz="1400" dirty="0"/>
          </a:p>
        </p:txBody>
      </p:sp>
      <p:sp>
        <p:nvSpPr>
          <p:cNvPr id="31" name="map-balance-text-30"/>
          <p:cNvSpPr txBox="1"/>
          <p:nvPr/>
        </p:nvSpPr>
        <p:spPr>
          <a:xfrm>
            <a:off x="5689600" y="404822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дивидендов этого юрлица</a:t>
            </a:r>
            <a:endParaRPr lang="en-US" sz="1400" dirty="0"/>
          </a:p>
        </p:txBody>
      </p:sp>
      <p:sp>
        <p:nvSpPr>
          <p:cNvPr id="32" name="map-balance-line-31"/>
          <p:cNvSpPr/>
          <p:nvPr/>
        </p:nvSpPr>
        <p:spPr>
          <a:xfrm>
            <a:off x="812800" y="476180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map-balance-text-32"/>
          <p:cNvSpPr txBox="1"/>
          <p:nvPr/>
        </p:nvSpPr>
        <p:spPr>
          <a:xfrm>
            <a:off x="812800" y="444311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1410</a:t>
            </a:r>
            <a:endParaRPr lang="en-US" sz="1400" dirty="0"/>
          </a:p>
        </p:txBody>
      </p:sp>
      <p:sp>
        <p:nvSpPr>
          <p:cNvPr id="34" name="map-balance-text-33"/>
          <p:cNvSpPr txBox="1"/>
          <p:nvPr/>
        </p:nvSpPr>
        <p:spPr>
          <a:xfrm>
            <a:off x="2235200" y="443676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средства, долгосрочные</a:t>
            </a:r>
            <a:endParaRPr lang="en-US" sz="1400" dirty="0"/>
          </a:p>
        </p:txBody>
      </p:sp>
      <p:sp>
        <p:nvSpPr>
          <p:cNvPr id="35" name="map-balance-text-34"/>
          <p:cNvSpPr txBox="1"/>
          <p:nvPr/>
        </p:nvSpPr>
        <p:spPr>
          <a:xfrm>
            <a:off x="5689600" y="443676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переедет в 1510 в течение года</a:t>
            </a:r>
            <a:endParaRPr lang="en-US" sz="1400" dirty="0"/>
          </a:p>
        </p:txBody>
      </p:sp>
      <p:sp>
        <p:nvSpPr>
          <p:cNvPr id="36" name="map-balance-line-35"/>
          <p:cNvSpPr/>
          <p:nvPr/>
        </p:nvSpPr>
        <p:spPr>
          <a:xfrm>
            <a:off x="812800" y="5150346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map-balance-text-36"/>
          <p:cNvSpPr txBox="1"/>
          <p:nvPr/>
        </p:nvSpPr>
        <p:spPr>
          <a:xfrm>
            <a:off x="812800" y="483165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1510</a:t>
            </a:r>
            <a:endParaRPr lang="en-US" sz="1400" dirty="0"/>
          </a:p>
        </p:txBody>
      </p:sp>
      <p:sp>
        <p:nvSpPr>
          <p:cNvPr id="38" name="map-balance-text-37"/>
          <p:cNvSpPr txBox="1"/>
          <p:nvPr/>
        </p:nvSpPr>
        <p:spPr>
          <a:xfrm>
            <a:off x="2235200" y="482530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 средства, краткосрочные</a:t>
            </a:r>
            <a:endParaRPr lang="en-US" sz="1400" dirty="0"/>
          </a:p>
        </p:txBody>
      </p:sp>
      <p:sp>
        <p:nvSpPr>
          <p:cNvPr id="39" name="map-balance-text-38"/>
          <p:cNvSpPr txBox="1"/>
          <p:nvPr/>
        </p:nvSpPr>
        <p:spPr>
          <a:xfrm>
            <a:off x="5689600" y="482530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Гасить в ближайшие 12 месяцев</a:t>
            </a:r>
            <a:endParaRPr lang="en-US" sz="1400" dirty="0"/>
          </a:p>
        </p:txBody>
      </p:sp>
      <p:sp>
        <p:nvSpPr>
          <p:cNvPr id="40" name="map-balance-text-3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pl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2 · ОТЧЁТ О ФИНАНСОВЫХ РЕЗУЛЬТАТАХ</a:t>
            </a:r>
            <a:endParaRPr lang="en-US" sz="1200" dirty="0"/>
          </a:p>
        </p:txBody>
      </p:sp>
      <p:sp>
        <p:nvSpPr>
          <p:cNvPr id="3" name="map-pl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финрезультаты</a:t>
            </a:r>
            <a:endParaRPr lang="en-US" sz="2800" dirty="0"/>
          </a:p>
        </p:txBody>
      </p:sp>
      <p:sp>
        <p:nvSpPr>
          <p:cNvPr id="4" name="map-pl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pl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pl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pl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pl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pl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2110</a:t>
            </a:r>
            <a:endParaRPr lang="en-US" sz="1400" dirty="0"/>
          </a:p>
        </p:txBody>
      </p:sp>
      <p:sp>
        <p:nvSpPr>
          <p:cNvPr id="10" name="map-pl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400" dirty="0"/>
          </a:p>
        </p:txBody>
      </p:sp>
      <p:sp>
        <p:nvSpPr>
          <p:cNvPr id="11" name="map-pl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бизнеса и рост</a:t>
            </a:r>
            <a:endParaRPr lang="en-US" sz="1400" dirty="0"/>
          </a:p>
        </p:txBody>
      </p:sp>
      <p:sp>
        <p:nvSpPr>
          <p:cNvPr id="12" name="map-pl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pl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2200</a:t>
            </a:r>
            <a:endParaRPr lang="en-US" sz="1400" dirty="0"/>
          </a:p>
        </p:txBody>
      </p:sp>
      <p:sp>
        <p:nvSpPr>
          <p:cNvPr id="14" name="map-pl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продаж</a:t>
            </a:r>
            <a:endParaRPr lang="en-US" sz="1400" dirty="0"/>
          </a:p>
        </p:txBody>
      </p:sp>
      <p:sp>
        <p:nvSpPr>
          <p:cNvPr id="15" name="map-pl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EBITDA: 2200 плюс амортизация из пояснений</a:t>
            </a:r>
            <a:endParaRPr lang="en-US" sz="1400" dirty="0"/>
          </a:p>
        </p:txBody>
      </p:sp>
      <p:sp>
        <p:nvSpPr>
          <p:cNvPr id="16" name="map-pl-line-15"/>
          <p:cNvSpPr/>
          <p:nvPr/>
        </p:nvSpPr>
        <p:spPr>
          <a:xfrm>
            <a:off x="812800" y="343247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pl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2310</a:t>
            </a:r>
            <a:endParaRPr lang="en-US" sz="1400" dirty="0"/>
          </a:p>
        </p:txBody>
      </p:sp>
      <p:sp>
        <p:nvSpPr>
          <p:cNvPr id="18" name="map-pl-text-17"/>
          <p:cNvSpPr txBox="1"/>
          <p:nvPr/>
        </p:nvSpPr>
        <p:spPr>
          <a:xfrm>
            <a:off x="2235200" y="2882602"/>
            <a:ext cx="340106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 от участия в других организациях</a:t>
            </a:r>
            <a:endParaRPr lang="en-US" sz="1400" dirty="0"/>
          </a:p>
        </p:txBody>
      </p:sp>
      <p:sp>
        <p:nvSpPr>
          <p:cNvPr id="19" name="map-pl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от «дочек». У холдинга это почти вся прибыль</a:t>
            </a:r>
            <a:endParaRPr lang="en-US" sz="1400" dirty="0"/>
          </a:p>
        </p:txBody>
      </p:sp>
      <p:sp>
        <p:nvSpPr>
          <p:cNvPr id="20" name="map-pl-line-19"/>
          <p:cNvSpPr/>
          <p:nvPr/>
        </p:nvSpPr>
        <p:spPr>
          <a:xfrm>
            <a:off x="812800" y="38210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pl-text-20"/>
          <p:cNvSpPr txBox="1"/>
          <p:nvPr/>
        </p:nvSpPr>
        <p:spPr>
          <a:xfrm>
            <a:off x="812800" y="350232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2330</a:t>
            </a:r>
            <a:endParaRPr lang="en-US" sz="1400" dirty="0"/>
          </a:p>
        </p:txBody>
      </p:sp>
      <p:sp>
        <p:nvSpPr>
          <p:cNvPr id="22" name="map-pl-text-21"/>
          <p:cNvSpPr txBox="1"/>
          <p:nvPr/>
        </p:nvSpPr>
        <p:spPr>
          <a:xfrm>
            <a:off x="2235200" y="349597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к уплате</a:t>
            </a:r>
            <a:endParaRPr lang="en-US" sz="1400" dirty="0"/>
          </a:p>
        </p:txBody>
      </p:sp>
      <p:sp>
        <p:nvSpPr>
          <p:cNvPr id="23" name="map-pl-text-22"/>
          <p:cNvSpPr txBox="1"/>
          <p:nvPr/>
        </p:nvSpPr>
        <p:spPr>
          <a:xfrm>
            <a:off x="5689600" y="349597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та часть, что не капитализирована</a:t>
            </a:r>
            <a:endParaRPr lang="en-US" sz="1400" dirty="0"/>
          </a:p>
        </p:txBody>
      </p:sp>
      <p:sp>
        <p:nvSpPr>
          <p:cNvPr id="24" name="map-pl-line-23"/>
          <p:cNvSpPr/>
          <p:nvPr/>
        </p:nvSpPr>
        <p:spPr>
          <a:xfrm>
            <a:off x="812800" y="420955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pl-text-24"/>
          <p:cNvSpPr txBox="1"/>
          <p:nvPr/>
        </p:nvSpPr>
        <p:spPr>
          <a:xfrm>
            <a:off x="812800" y="389086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2340 · 2350</a:t>
            </a:r>
            <a:endParaRPr lang="en-US" sz="1400" dirty="0"/>
          </a:p>
        </p:txBody>
      </p:sp>
      <p:sp>
        <p:nvSpPr>
          <p:cNvPr id="26" name="map-pl-text-25"/>
          <p:cNvSpPr txBox="1"/>
          <p:nvPr/>
        </p:nvSpPr>
        <p:spPr>
          <a:xfrm>
            <a:off x="2235200" y="388451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Прочие доходы и расходы</a:t>
            </a:r>
            <a:endParaRPr lang="en-US" sz="1400" dirty="0"/>
          </a:p>
        </p:txBody>
      </p:sp>
      <p:sp>
        <p:nvSpPr>
          <p:cNvPr id="27" name="map-pl-text-26"/>
          <p:cNvSpPr txBox="1"/>
          <p:nvPr/>
        </p:nvSpPr>
        <p:spPr>
          <a:xfrm>
            <a:off x="5689600" y="388451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Курсовые разницы, переоценки, разовые статьи, иногда факторинг</a:t>
            </a:r>
            <a:endParaRPr lang="en-US" sz="1400" dirty="0"/>
          </a:p>
        </p:txBody>
      </p:sp>
      <p:sp>
        <p:nvSpPr>
          <p:cNvPr id="28" name="map-pl-line-27"/>
          <p:cNvSpPr/>
          <p:nvPr/>
        </p:nvSpPr>
        <p:spPr>
          <a:xfrm>
            <a:off x="812800" y="4598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pl-text-28"/>
          <p:cNvSpPr txBox="1"/>
          <p:nvPr/>
        </p:nvSpPr>
        <p:spPr>
          <a:xfrm>
            <a:off x="812800" y="42794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2400</a:t>
            </a:r>
            <a:endParaRPr lang="en-US" sz="1400" dirty="0"/>
          </a:p>
        </p:txBody>
      </p:sp>
      <p:sp>
        <p:nvSpPr>
          <p:cNvPr id="30" name="map-pl-text-29"/>
          <p:cNvSpPr txBox="1"/>
          <p:nvPr/>
        </p:nvSpPr>
        <p:spPr>
          <a:xfrm>
            <a:off x="2235200" y="427305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31" name="map-pl-text-30"/>
          <p:cNvSpPr txBox="1"/>
          <p:nvPr/>
        </p:nvSpPr>
        <p:spPr>
          <a:xfrm>
            <a:off x="5689600" y="427305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дивидендов по закону</a:t>
            </a:r>
            <a:endParaRPr lang="en-US" sz="1400" dirty="0"/>
          </a:p>
        </p:txBody>
      </p:sp>
      <p:sp>
        <p:nvSpPr>
          <p:cNvPr id="32" name="map-pl-text-3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cf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ФОРМА 4 · ОТЧЁТ О ДВИЖЕНИИ ДЕНЕЖНЫХ СРЕДСТВ</a:t>
            </a:r>
            <a:endParaRPr lang="en-US" sz="1200" dirty="0"/>
          </a:p>
        </p:txBody>
      </p:sp>
      <p:sp>
        <p:nvSpPr>
          <p:cNvPr id="3" name="map-cf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РСБУ: движение денег</a:t>
            </a:r>
            <a:endParaRPr lang="en-US" sz="2800" dirty="0"/>
          </a:p>
        </p:txBody>
      </p:sp>
      <p:sp>
        <p:nvSpPr>
          <p:cNvPr id="4" name="map-cf-line-3"/>
          <p:cNvSpPr/>
          <p:nvPr/>
        </p:nvSpPr>
        <p:spPr>
          <a:xfrm>
            <a:off x="812800" y="2042021"/>
            <a:ext cx="10566400" cy="0"/>
          </a:xfrm>
          <a:prstGeom prst="line">
            <a:avLst/>
          </a:prstGeom>
          <a:noFill/>
          <a:ln w="12700">
            <a:solidFill>
              <a:srgbClr val="A6B3AB"/>
            </a:solidFill>
            <a:prstDash val="solid"/>
          </a:ln>
        </p:spPr>
      </p:sp>
      <p:sp>
        <p:nvSpPr>
          <p:cNvPr id="5" name="map-cf-text-4"/>
          <p:cNvSpPr txBox="1"/>
          <p:nvPr/>
        </p:nvSpPr>
        <p:spPr>
          <a:xfrm>
            <a:off x="812800" y="1765201"/>
            <a:ext cx="13081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</a:t>
            </a:r>
            <a:endParaRPr lang="en-US" sz="1200" dirty="0"/>
          </a:p>
        </p:txBody>
      </p:sp>
      <p:sp>
        <p:nvSpPr>
          <p:cNvPr id="6" name="map-cf-text-5"/>
          <p:cNvSpPr txBox="1"/>
          <p:nvPr/>
        </p:nvSpPr>
        <p:spPr>
          <a:xfrm>
            <a:off x="2235200" y="1765201"/>
            <a:ext cx="34010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7" name="map-cf-text-6"/>
          <p:cNvSpPr txBox="1"/>
          <p:nvPr/>
        </p:nvSpPr>
        <p:spPr>
          <a:xfrm>
            <a:off x="5689600" y="1765201"/>
            <a:ext cx="58602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ЗАЧЕМ СМОТРЕТЬ</a:t>
            </a:r>
            <a:endParaRPr lang="en-US" sz="1200" dirty="0"/>
          </a:p>
        </p:txBody>
      </p:sp>
      <p:sp>
        <p:nvSpPr>
          <p:cNvPr id="8" name="map-cf-line-7"/>
          <p:cNvSpPr/>
          <p:nvPr/>
        </p:nvSpPr>
        <p:spPr>
          <a:xfrm>
            <a:off x="812800" y="243056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map-cf-text-8"/>
          <p:cNvSpPr txBox="1"/>
          <p:nvPr/>
        </p:nvSpPr>
        <p:spPr>
          <a:xfrm>
            <a:off x="812800" y="2111871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4100</a:t>
            </a:r>
            <a:endParaRPr lang="en-US" sz="1400" dirty="0"/>
          </a:p>
        </p:txBody>
      </p:sp>
      <p:sp>
        <p:nvSpPr>
          <p:cNvPr id="10" name="map-cf-text-9"/>
          <p:cNvSpPr txBox="1"/>
          <p:nvPr/>
        </p:nvSpPr>
        <p:spPr>
          <a:xfrm>
            <a:off x="2235200" y="2105521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 текущих операций</a:t>
            </a:r>
            <a:endParaRPr lang="en-US" sz="1400" dirty="0"/>
          </a:p>
        </p:txBody>
      </p:sp>
      <p:sp>
        <p:nvSpPr>
          <p:cNvPr id="11" name="map-cf-text-10"/>
          <p:cNvSpPr txBox="1"/>
          <p:nvPr/>
        </p:nvSpPr>
        <p:spPr>
          <a:xfrm>
            <a:off x="5689600" y="2105521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ответ на вопрос «хватает ли потока»</a:t>
            </a:r>
            <a:endParaRPr lang="en-US" sz="1400" dirty="0"/>
          </a:p>
        </p:txBody>
      </p:sp>
      <p:sp>
        <p:nvSpPr>
          <p:cNvPr id="12" name="map-cf-line-11"/>
          <p:cNvSpPr/>
          <p:nvPr/>
        </p:nvSpPr>
        <p:spPr>
          <a:xfrm>
            <a:off x="812800" y="2819102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map-cf-text-12"/>
          <p:cNvSpPr txBox="1"/>
          <p:nvPr/>
        </p:nvSpPr>
        <p:spPr>
          <a:xfrm>
            <a:off x="812800" y="250041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4123</a:t>
            </a:r>
            <a:endParaRPr lang="en-US" sz="1400" dirty="0"/>
          </a:p>
        </p:txBody>
      </p:sp>
      <p:sp>
        <p:nvSpPr>
          <p:cNvPr id="14" name="map-cf-text-13"/>
          <p:cNvSpPr txBox="1"/>
          <p:nvPr/>
        </p:nvSpPr>
        <p:spPr>
          <a:xfrm>
            <a:off x="2235200" y="249406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…в т. ч. уплаченные проценты</a:t>
            </a:r>
            <a:endParaRPr lang="en-US" sz="1400" dirty="0"/>
          </a:p>
        </p:txBody>
      </p:sp>
      <p:sp>
        <p:nvSpPr>
          <p:cNvPr id="15" name="map-cf-text-14"/>
          <p:cNvSpPr txBox="1"/>
          <p:nvPr/>
        </p:nvSpPr>
        <p:spPr>
          <a:xfrm>
            <a:off x="5689600" y="249406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текущей деятельности</a:t>
            </a:r>
            <a:endParaRPr lang="en-US" sz="1400" dirty="0"/>
          </a:p>
        </p:txBody>
      </p:sp>
      <p:sp>
        <p:nvSpPr>
          <p:cNvPr id="16" name="map-cf-line-15"/>
          <p:cNvSpPr/>
          <p:nvPr/>
        </p:nvSpPr>
        <p:spPr>
          <a:xfrm>
            <a:off x="812800" y="320764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map-cf-text-16"/>
          <p:cNvSpPr txBox="1"/>
          <p:nvPr/>
        </p:nvSpPr>
        <p:spPr>
          <a:xfrm>
            <a:off x="812800" y="2888952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4221</a:t>
            </a:r>
            <a:endParaRPr lang="en-US" sz="1400" dirty="0"/>
          </a:p>
        </p:txBody>
      </p:sp>
      <p:sp>
        <p:nvSpPr>
          <p:cNvPr id="18" name="map-cf-text-17"/>
          <p:cNvSpPr txBox="1"/>
          <p:nvPr/>
        </p:nvSpPr>
        <p:spPr>
          <a:xfrm>
            <a:off x="2235200" y="2882602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Приобретение внеоборотных активов</a:t>
            </a:r>
            <a:endParaRPr lang="en-US" sz="1400" dirty="0"/>
          </a:p>
        </p:txBody>
      </p:sp>
      <p:sp>
        <p:nvSpPr>
          <p:cNvPr id="19" name="map-cf-text-18"/>
          <p:cNvSpPr txBox="1"/>
          <p:nvPr/>
        </p:nvSpPr>
        <p:spPr>
          <a:xfrm>
            <a:off x="5689600" y="2882602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400" dirty="0"/>
          </a:p>
        </p:txBody>
      </p:sp>
      <p:sp>
        <p:nvSpPr>
          <p:cNvPr id="20" name="map-cf-line-19"/>
          <p:cNvSpPr/>
          <p:nvPr/>
        </p:nvSpPr>
        <p:spPr>
          <a:xfrm>
            <a:off x="812800" y="3821013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map-cf-text-20"/>
          <p:cNvSpPr txBox="1"/>
          <p:nvPr/>
        </p:nvSpPr>
        <p:spPr>
          <a:xfrm>
            <a:off x="812800" y="327749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4224</a:t>
            </a:r>
            <a:endParaRPr lang="en-US" sz="1400" dirty="0"/>
          </a:p>
        </p:txBody>
      </p:sp>
      <p:sp>
        <p:nvSpPr>
          <p:cNvPr id="22" name="map-cf-text-21"/>
          <p:cNvSpPr txBox="1"/>
          <p:nvPr/>
        </p:nvSpPr>
        <p:spPr>
          <a:xfrm>
            <a:off x="2235200" y="3271143"/>
            <a:ext cx="340106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стоимости инвестиционного актива</a:t>
            </a:r>
            <a:endParaRPr lang="en-US" sz="1400" dirty="0"/>
          </a:p>
        </p:txBody>
      </p:sp>
      <p:sp>
        <p:nvSpPr>
          <p:cNvPr id="23" name="map-cf-text-22"/>
          <p:cNvSpPr txBox="1"/>
          <p:nvPr/>
        </p:nvSpPr>
        <p:spPr>
          <a:xfrm>
            <a:off x="5689600" y="327114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проценты: прибавьте к 4123</a:t>
            </a:r>
            <a:endParaRPr lang="en-US" sz="1400" dirty="0"/>
          </a:p>
        </p:txBody>
      </p:sp>
      <p:sp>
        <p:nvSpPr>
          <p:cNvPr id="24" name="map-cf-line-23"/>
          <p:cNvSpPr/>
          <p:nvPr/>
        </p:nvSpPr>
        <p:spPr>
          <a:xfrm>
            <a:off x="812800" y="4209554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map-cf-text-24"/>
          <p:cNvSpPr txBox="1"/>
          <p:nvPr/>
        </p:nvSpPr>
        <p:spPr>
          <a:xfrm>
            <a:off x="812800" y="3890863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4311 · 4314</a:t>
            </a:r>
            <a:endParaRPr lang="en-US" sz="1400" dirty="0"/>
          </a:p>
        </p:txBody>
      </p:sp>
      <p:sp>
        <p:nvSpPr>
          <p:cNvPr id="26" name="map-cf-text-25"/>
          <p:cNvSpPr txBox="1"/>
          <p:nvPr/>
        </p:nvSpPr>
        <p:spPr>
          <a:xfrm>
            <a:off x="2235200" y="3884513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кредитов, выпуск облигаций</a:t>
            </a:r>
            <a:endParaRPr lang="en-US" sz="1400" dirty="0"/>
          </a:p>
        </p:txBody>
      </p:sp>
      <p:sp>
        <p:nvSpPr>
          <p:cNvPr id="27" name="map-cf-text-26"/>
          <p:cNvSpPr txBox="1"/>
          <p:nvPr/>
        </p:nvSpPr>
        <p:spPr>
          <a:xfrm>
            <a:off x="5689600" y="3884513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заняли</a:t>
            </a:r>
            <a:endParaRPr lang="en-US" sz="1400" dirty="0"/>
          </a:p>
        </p:txBody>
      </p:sp>
      <p:sp>
        <p:nvSpPr>
          <p:cNvPr id="28" name="map-cf-line-27"/>
          <p:cNvSpPr/>
          <p:nvPr/>
        </p:nvSpPr>
        <p:spPr>
          <a:xfrm>
            <a:off x="812800" y="459809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map-cf-text-28"/>
          <p:cNvSpPr txBox="1"/>
          <p:nvPr/>
        </p:nvSpPr>
        <p:spPr>
          <a:xfrm>
            <a:off x="812800" y="4279404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4322</a:t>
            </a:r>
            <a:endParaRPr lang="en-US" sz="1400" dirty="0"/>
          </a:p>
        </p:txBody>
      </p:sp>
      <p:sp>
        <p:nvSpPr>
          <p:cNvPr id="30" name="map-cf-text-29"/>
          <p:cNvSpPr txBox="1"/>
          <p:nvPr/>
        </p:nvSpPr>
        <p:spPr>
          <a:xfrm>
            <a:off x="2235200" y="4273054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Уплата дивидендов</a:t>
            </a:r>
            <a:endParaRPr lang="en-US" sz="1400" dirty="0"/>
          </a:p>
        </p:txBody>
      </p:sp>
      <p:sp>
        <p:nvSpPr>
          <p:cNvPr id="31" name="map-cf-text-30"/>
          <p:cNvSpPr txBox="1"/>
          <p:nvPr/>
        </p:nvSpPr>
        <p:spPr>
          <a:xfrm>
            <a:off x="5689600" y="4273054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реально выплачено</a:t>
            </a:r>
            <a:endParaRPr lang="en-US" sz="1400" dirty="0"/>
          </a:p>
        </p:txBody>
      </p:sp>
      <p:sp>
        <p:nvSpPr>
          <p:cNvPr id="32" name="map-cf-line-31"/>
          <p:cNvSpPr/>
          <p:nvPr/>
        </p:nvSpPr>
        <p:spPr>
          <a:xfrm>
            <a:off x="812800" y="4986635"/>
            <a:ext cx="1056640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map-cf-text-32"/>
          <p:cNvSpPr txBox="1"/>
          <p:nvPr/>
        </p:nvSpPr>
        <p:spPr>
          <a:xfrm>
            <a:off x="812800" y="4667945"/>
            <a:ext cx="13081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4323</a:t>
            </a:r>
            <a:endParaRPr lang="en-US" sz="1400" dirty="0"/>
          </a:p>
        </p:txBody>
      </p:sp>
      <p:sp>
        <p:nvSpPr>
          <p:cNvPr id="34" name="map-cf-text-33"/>
          <p:cNvSpPr txBox="1"/>
          <p:nvPr/>
        </p:nvSpPr>
        <p:spPr>
          <a:xfrm>
            <a:off x="2235200" y="4661595"/>
            <a:ext cx="3401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Погашение кредитов и облигаций</a:t>
            </a:r>
            <a:endParaRPr lang="en-US" sz="1400" dirty="0"/>
          </a:p>
        </p:txBody>
      </p:sp>
      <p:sp>
        <p:nvSpPr>
          <p:cNvPr id="35" name="map-cf-text-34"/>
          <p:cNvSpPr txBox="1"/>
          <p:nvPr/>
        </p:nvSpPr>
        <p:spPr>
          <a:xfrm>
            <a:off x="5689600" y="4661595"/>
            <a:ext cx="586028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вернули</a:t>
            </a:r>
            <a:endParaRPr lang="en-US" sz="1400" dirty="0"/>
          </a:p>
        </p:txBody>
      </p:sp>
      <p:sp>
        <p:nvSpPr>
          <p:cNvPr id="36" name="map-cf-text-3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-msf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 · КАРТА ОТЧЁТНОСТИ</a:t>
            </a:r>
            <a:endParaRPr lang="en-US" sz="1200" dirty="0"/>
          </a:p>
        </p:txBody>
      </p:sp>
      <p:sp>
        <p:nvSpPr>
          <p:cNvPr id="3" name="map-msf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то же самое в МСФО</a:t>
            </a:r>
            <a:endParaRPr lang="en-US" sz="2800" dirty="0"/>
          </a:p>
        </p:txBody>
      </p:sp>
      <p:sp>
        <p:nvSpPr>
          <p:cNvPr id="4" name="map-msfo-text-3"/>
          <p:cNvSpPr txBox="1"/>
          <p:nvPr/>
        </p:nvSpPr>
        <p:spPr>
          <a:xfrm>
            <a:off x="812800" y="1765201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«Денежные средства и их эквиваленты» в отчёте о финансовом положении</a:t>
            </a:r>
            <a:endParaRPr lang="en-US" sz="1400" dirty="0"/>
          </a:p>
        </p:txBody>
      </p:sp>
      <p:sp>
        <p:nvSpPr>
          <p:cNvPr id="5" name="map-msfo-text-4"/>
          <p:cNvSpPr txBox="1"/>
          <p:nvPr/>
        </p:nvSpPr>
        <p:spPr>
          <a:xfrm>
            <a:off x="812800" y="2389882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«Кредиты и займы» плюс «Обязательства по аренде»</a:t>
            </a:r>
            <a:endParaRPr lang="en-US" sz="1400" dirty="0"/>
          </a:p>
        </p:txBody>
      </p:sp>
      <p:sp>
        <p:nvSpPr>
          <p:cNvPr id="6" name="map-msfo-text-5"/>
          <p:cNvSpPr txBox="1"/>
          <p:nvPr/>
        </p:nvSpPr>
        <p:spPr>
          <a:xfrm>
            <a:off x="812800" y="276572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платежей.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Таблица по срокам погашения в примечании о риске ликвидности</a:t>
            </a:r>
            <a:endParaRPr lang="en-US" sz="1400" dirty="0"/>
          </a:p>
        </p:txBody>
      </p:sp>
      <p:sp>
        <p:nvSpPr>
          <p:cNvPr id="7" name="map-msfo-text-6"/>
          <p:cNvSpPr txBox="1"/>
          <p:nvPr/>
        </p:nvSpPr>
        <p:spPr>
          <a:xfrm>
            <a:off x="812800" y="3390404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«Чистые денежные средства от операционной деятельности». Проверьте, где уплаченные проценты</a:t>
            </a:r>
            <a:endParaRPr lang="en-US" sz="1400" dirty="0"/>
          </a:p>
        </p:txBody>
      </p:sp>
      <p:sp>
        <p:nvSpPr>
          <p:cNvPr id="8" name="map-msfo-text-7"/>
          <p:cNvSpPr txBox="1"/>
          <p:nvPr/>
        </p:nvSpPr>
        <p:spPr>
          <a:xfrm>
            <a:off x="812800" y="401508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Связанные стороны, сегменты, события после отчётной даты.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Отдельные примечания. Если их нет, это тоже информация</a:t>
            </a:r>
            <a:endParaRPr lang="en-US" sz="1400" dirty="0"/>
          </a:p>
        </p:txBody>
      </p:sp>
      <p:sp>
        <p:nvSpPr>
          <p:cNvPr id="9" name="map-msfo-box-8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16201B"/>
          </a:solidFill>
          <a:ln/>
        </p:spPr>
      </p:sp>
      <p:sp>
        <p:nvSpPr>
          <p:cNvPr id="10" name="map-msfo-text-9"/>
          <p:cNvSpPr txBox="1"/>
          <p:nvPr/>
        </p:nvSpPr>
        <p:spPr>
          <a:xfrm>
            <a:off x="7223720" y="291147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ПРИВЫЧКА</a:t>
            </a:r>
            <a:endParaRPr lang="en-US" sz="1200" dirty="0"/>
          </a:p>
        </p:txBody>
      </p:sp>
      <p:sp>
        <p:nvSpPr>
          <p:cNvPr id="11" name="map-msfo-text-10"/>
          <p:cNvSpPr txBox="1"/>
          <p:nvPr/>
        </p:nvSpPr>
        <p:spPr>
          <a:xfrm>
            <a:off x="7223720" y="3226395"/>
            <a:ext cx="40185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Начинайте с аудиторского заключения</a:t>
            </a:r>
            <a:endParaRPr lang="en-US" sz="1800" dirty="0"/>
          </a:p>
        </p:txBody>
      </p:sp>
      <p:sp>
        <p:nvSpPr>
          <p:cNvPr id="12" name="map-msfo-text-11"/>
          <p:cNvSpPr txBox="1"/>
          <p:nvPr/>
        </p:nvSpPr>
        <p:spPr>
          <a:xfrm>
            <a:off x="7223720" y="392231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Оговорка, отказ от выражения мнения или внезапная смена аудитора — повод копать до любых расчётов.</a:t>
            </a:r>
            <a:endParaRPr lang="en-US" sz="1400" dirty="0"/>
          </a:p>
        </p:txBody>
      </p:sp>
      <p:sp>
        <p:nvSpPr>
          <p:cNvPr id="13" name="map-msfo-text-1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05:00–13:00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Карта отчётности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6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nd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F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13:00–33:00 · 20 МИНУТ</a:t>
            </a:r>
            <a:endParaRPr lang="en-US" sz="1200" dirty="0"/>
          </a:p>
        </p:txBody>
      </p:sp>
      <p:sp>
        <p:nvSpPr>
          <p:cNvPr id="3" name="bonds-text-2"/>
          <p:cNvSpPr txBox="1"/>
          <p:nvPr/>
        </p:nvSpPr>
        <p:spPr>
          <a:xfrm>
            <a:off x="812800" y="1178520"/>
            <a:ext cx="1088339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</a:t>
            </a:r>
            <a:endParaRPr lang="en-US" sz="6400" dirty="0"/>
          </a:p>
        </p:txBody>
      </p:sp>
      <p:sp>
        <p:nvSpPr>
          <p:cNvPr id="4" name="bonds-text-3"/>
          <p:cNvSpPr txBox="1"/>
          <p:nvPr/>
        </p:nvSpPr>
        <p:spPr>
          <a:xfrm>
            <a:off x="812800" y="21437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 проверка эмитента за 30 минут</a:t>
            </a:r>
            <a:endParaRPr lang="en-US" sz="2800" dirty="0"/>
          </a:p>
        </p:txBody>
      </p:sp>
      <p:sp>
        <p:nvSpPr>
          <p:cNvPr id="5" name="bonds-text-4"/>
          <p:cNvSpPr txBox="1"/>
          <p:nvPr/>
        </p:nvSpPr>
        <p:spPr>
          <a:xfrm>
            <a:off x="812800" y="5124549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CFE3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6" name="bonds-text-5"/>
          <p:cNvSpPr txBox="1"/>
          <p:nvPr/>
        </p:nvSpPr>
        <p:spPr>
          <a:xfrm>
            <a:off x="812800" y="5414070"/>
            <a:ext cx="1088339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счёт чего эта компания заплатит мне в ближайшие полгода?</a:t>
            </a:r>
            <a:endParaRPr lang="en-US" sz="1800" dirty="0"/>
          </a:p>
        </p:txBody>
      </p:sp>
      <p:sp>
        <p:nvSpPr>
          <p:cNvPr id="7" name="bonds-text-6"/>
          <p:cNvSpPr txBox="1"/>
          <p:nvPr/>
        </p:nvSpPr>
        <p:spPr>
          <a:xfrm>
            <a:off x="812800" y="5787430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F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блока — методичка «Как проверить эмитента ВДО за 30 минут»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ПРОВЕРКИ</a:t>
            </a:r>
            <a:endParaRPr lang="en-US" sz="1200" dirty="0"/>
          </a:p>
        </p:txBody>
      </p:sp>
      <p:sp>
        <p:nvSpPr>
          <p:cNvPr id="3" name="b-ste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шагов, 30 минут</a:t>
            </a:r>
            <a:endParaRPr lang="en-US" sz="2800" dirty="0"/>
          </a:p>
        </p:txBody>
      </p:sp>
      <p:sp>
        <p:nvSpPr>
          <p:cNvPr id="4" name="b-step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выстроен так, чтобы отсеять компанию как можно раньше и не тратить время на остальное.</a:t>
            </a:r>
            <a:endParaRPr lang="en-US" sz="1400" dirty="0"/>
          </a:p>
        </p:txBody>
      </p:sp>
      <p:sp>
        <p:nvSpPr>
          <p:cNvPr id="5" name="b-steps-box-4"/>
          <p:cNvSpPr/>
          <p:nvPr/>
        </p:nvSpPr>
        <p:spPr>
          <a:xfrm>
            <a:off x="812800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b-steps-text-5"/>
          <p:cNvSpPr txBox="1"/>
          <p:nvPr/>
        </p:nvSpPr>
        <p:spPr>
          <a:xfrm>
            <a:off x="996950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b-steps-text-6"/>
          <p:cNvSpPr txBox="1"/>
          <p:nvPr/>
        </p:nvSpPr>
        <p:spPr>
          <a:xfrm>
            <a:off x="996950" y="2892921"/>
            <a:ext cx="167171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1800" dirty="0"/>
          </a:p>
        </p:txBody>
      </p:sp>
      <p:sp>
        <p:nvSpPr>
          <p:cNvPr id="8" name="b-steps-text-7"/>
          <p:cNvSpPr txBox="1"/>
          <p:nvPr/>
        </p:nvSpPr>
        <p:spPr>
          <a:xfrm>
            <a:off x="996950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9" name="b-steps-box-8"/>
          <p:cNvSpPr/>
          <p:nvPr/>
        </p:nvSpPr>
        <p:spPr>
          <a:xfrm>
            <a:off x="2956520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b-steps-text-9"/>
          <p:cNvSpPr txBox="1"/>
          <p:nvPr/>
        </p:nvSpPr>
        <p:spPr>
          <a:xfrm>
            <a:off x="3140670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b-steps-text-10"/>
          <p:cNvSpPr txBox="1"/>
          <p:nvPr/>
        </p:nvSpPr>
        <p:spPr>
          <a:xfrm>
            <a:off x="3140670" y="2892921"/>
            <a:ext cx="167171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1800" dirty="0"/>
          </a:p>
        </p:txBody>
      </p:sp>
      <p:sp>
        <p:nvSpPr>
          <p:cNvPr id="12" name="b-steps-text-11"/>
          <p:cNvSpPr txBox="1"/>
          <p:nvPr/>
        </p:nvSpPr>
        <p:spPr>
          <a:xfrm>
            <a:off x="3140670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мин</a:t>
            </a:r>
            <a:endParaRPr lang="en-US" sz="1200" dirty="0"/>
          </a:p>
        </p:txBody>
      </p:sp>
      <p:sp>
        <p:nvSpPr>
          <p:cNvPr id="13" name="b-steps-box-12"/>
          <p:cNvSpPr/>
          <p:nvPr/>
        </p:nvSpPr>
        <p:spPr>
          <a:xfrm>
            <a:off x="510024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b-steps-text-13"/>
          <p:cNvSpPr txBox="1"/>
          <p:nvPr/>
        </p:nvSpPr>
        <p:spPr>
          <a:xfrm>
            <a:off x="528439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b-steps-text-14"/>
          <p:cNvSpPr txBox="1"/>
          <p:nvPr/>
        </p:nvSpPr>
        <p:spPr>
          <a:xfrm>
            <a:off x="5284391" y="2892921"/>
            <a:ext cx="1671711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1800" dirty="0"/>
          </a:p>
        </p:txBody>
      </p:sp>
      <p:sp>
        <p:nvSpPr>
          <p:cNvPr id="16" name="b-steps-text-15"/>
          <p:cNvSpPr txBox="1"/>
          <p:nvPr/>
        </p:nvSpPr>
        <p:spPr>
          <a:xfrm>
            <a:off x="528439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мин</a:t>
            </a:r>
            <a:endParaRPr lang="en-US" sz="1200" dirty="0"/>
          </a:p>
        </p:txBody>
      </p:sp>
      <p:sp>
        <p:nvSpPr>
          <p:cNvPr id="17" name="b-steps-box-16"/>
          <p:cNvSpPr/>
          <p:nvPr/>
        </p:nvSpPr>
        <p:spPr>
          <a:xfrm>
            <a:off x="724396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b-steps-text-17"/>
          <p:cNvSpPr txBox="1"/>
          <p:nvPr/>
        </p:nvSpPr>
        <p:spPr>
          <a:xfrm>
            <a:off x="742811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b-steps-text-18"/>
          <p:cNvSpPr txBox="1"/>
          <p:nvPr/>
        </p:nvSpPr>
        <p:spPr>
          <a:xfrm>
            <a:off x="7428111" y="2892921"/>
            <a:ext cx="1671711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1800" dirty="0"/>
          </a:p>
        </p:txBody>
      </p:sp>
      <p:sp>
        <p:nvSpPr>
          <p:cNvPr id="20" name="b-steps-text-19"/>
          <p:cNvSpPr txBox="1"/>
          <p:nvPr/>
        </p:nvSpPr>
        <p:spPr>
          <a:xfrm>
            <a:off x="742811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21" name="b-steps-box-20"/>
          <p:cNvSpPr/>
          <p:nvPr/>
        </p:nvSpPr>
        <p:spPr>
          <a:xfrm>
            <a:off x="9387681" y="2276971"/>
            <a:ext cx="1991320" cy="1988542"/>
          </a:xfrm>
          <a:prstGeom prst="roundRect">
            <a:avLst>
              <a:gd name="adj" fmla="val 23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b-steps-text-21"/>
          <p:cNvSpPr txBox="1"/>
          <p:nvPr/>
        </p:nvSpPr>
        <p:spPr>
          <a:xfrm>
            <a:off x="9571831" y="2461121"/>
            <a:ext cx="167171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b-steps-text-22"/>
          <p:cNvSpPr txBox="1"/>
          <p:nvPr/>
        </p:nvSpPr>
        <p:spPr>
          <a:xfrm>
            <a:off x="9571831" y="2892921"/>
            <a:ext cx="1671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1800" dirty="0"/>
          </a:p>
        </p:txBody>
      </p:sp>
      <p:sp>
        <p:nvSpPr>
          <p:cNvPr id="24" name="b-steps-text-23"/>
          <p:cNvSpPr txBox="1"/>
          <p:nvPr/>
        </p:nvSpPr>
        <p:spPr>
          <a:xfrm>
            <a:off x="9571831" y="3868043"/>
            <a:ext cx="167171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мин</a:t>
            </a:r>
            <a:endParaRPr lang="en-US" sz="1200" dirty="0"/>
          </a:p>
        </p:txBody>
      </p:sp>
      <p:sp>
        <p:nvSpPr>
          <p:cNvPr id="25" name="b-steps-text-24"/>
          <p:cNvSpPr txBox="1"/>
          <p:nvPr/>
        </p:nvSpPr>
        <p:spPr>
          <a:xfrm>
            <a:off x="812800" y="4519513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Полчаса — первое знакомство с компанией. Дальше по ней хватает двадцати минут в неделю.</a:t>
            </a:r>
            <a:endParaRPr lang="en-US" sz="1400" dirty="0"/>
          </a:p>
        </p:txBody>
      </p:sp>
      <p:sp>
        <p:nvSpPr>
          <p:cNvPr id="26" name="b-steps-text-2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5 МИНУТ</a:t>
            </a:r>
            <a:endParaRPr lang="en-US" sz="1200" dirty="0"/>
          </a:p>
        </p:txBody>
      </p:sp>
      <p:sp>
        <p:nvSpPr>
          <p:cNvPr id="3" name="b-step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2800" dirty="0"/>
          </a:p>
        </p:txBody>
      </p:sp>
      <p:sp>
        <p:nvSpPr>
          <p:cNvPr id="4" name="b-step1-text-3"/>
          <p:cNvSpPr txBox="1"/>
          <p:nvPr/>
        </p:nvSpPr>
        <p:spPr>
          <a:xfrm>
            <a:off x="812800" y="1765201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акционеры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какой у них бэкграунд</a:t>
            </a:r>
            <a:endParaRPr lang="en-US" sz="1400" dirty="0"/>
          </a:p>
        </p:txBody>
      </p:sp>
      <p:sp>
        <p:nvSpPr>
          <p:cNvPr id="5" name="b-step1-text-4"/>
          <p:cNvSpPr txBox="1"/>
          <p:nvPr/>
        </p:nvSpPr>
        <p:spPr>
          <a:xfrm>
            <a:off x="812800" y="2115641"/>
            <a:ext cx="60276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Реструктуризации и техдефолты в прошлом.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Один такой факт — смотреть очень внимательно. У Евротранса реструктуризация была в 2016 году</a:t>
            </a:r>
            <a:endParaRPr lang="en-US" sz="1400" dirty="0"/>
          </a:p>
        </p:txBody>
      </p:sp>
      <p:sp>
        <p:nvSpPr>
          <p:cNvPr id="6" name="b-step1-text-5"/>
          <p:cNvSpPr txBox="1"/>
          <p:nvPr/>
        </p:nvSpPr>
        <p:spPr>
          <a:xfrm>
            <a:off x="812800" y="296376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материнская компания.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Рейтинги выпуска, эмитента и материнской компании — три разные вещи</a:t>
            </a:r>
            <a:endParaRPr lang="en-US" sz="1400" dirty="0"/>
          </a:p>
        </p:txBody>
      </p:sp>
      <p:sp>
        <p:nvSpPr>
          <p:cNvPr id="7" name="b-step1-text-6"/>
          <p:cNvSpPr txBox="1"/>
          <p:nvPr/>
        </p:nvSpPr>
        <p:spPr>
          <a:xfrm>
            <a:off x="812800" y="356304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«краешек» ли это группы.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Если оборот идёт мимо юрлица, выводы по нему бессмысленны</a:t>
            </a:r>
            <a:endParaRPr lang="en-US" sz="1400" dirty="0"/>
          </a:p>
        </p:txBody>
      </p:sp>
      <p:sp>
        <p:nvSpPr>
          <p:cNvPr id="8" name="b-step1-text-7"/>
          <p:cNvSpPr txBox="1"/>
          <p:nvPr/>
        </p:nvSpPr>
        <p:spPr>
          <a:xfrm>
            <a:off x="812800" y="4162326"/>
            <a:ext cx="602768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 ли бизнес-модель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откуда берётся рост</a:t>
            </a:r>
            <a:endParaRPr lang="en-US" sz="1400" dirty="0"/>
          </a:p>
        </p:txBody>
      </p:sp>
      <p:sp>
        <p:nvSpPr>
          <p:cNvPr id="9" name="b-step1-text-8"/>
          <p:cNvSpPr txBox="1"/>
          <p:nvPr/>
        </p:nvSpPr>
        <p:spPr>
          <a:xfrm>
            <a:off x="812800" y="4512766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Публичное поведение.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 и спонсорство всех конференций подряд — уже вопрос</a:t>
            </a:r>
            <a:endParaRPr lang="en-US" sz="1400" dirty="0"/>
          </a:p>
        </p:txBody>
      </p:sp>
      <p:sp>
        <p:nvSpPr>
          <p:cNvPr id="10" name="b-step1-box-9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11" name="b-step1-text-10"/>
          <p:cNvSpPr txBox="1"/>
          <p:nvPr/>
        </p:nvSpPr>
        <p:spPr>
          <a:xfrm>
            <a:off x="7223720" y="291147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ИСПОЛЬЗОВАТЬ НАХОДКИ</a:t>
            </a:r>
            <a:endParaRPr lang="en-US" sz="1200" dirty="0"/>
          </a:p>
        </p:txBody>
      </p:sp>
      <p:sp>
        <p:nvSpPr>
          <p:cNvPr id="12" name="b-step1-text-11"/>
          <p:cNvSpPr txBox="1"/>
          <p:nvPr/>
        </p:nvSpPr>
        <p:spPr>
          <a:xfrm>
            <a:off x="7223720" y="3226395"/>
            <a:ext cx="401852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Жёсткого стопа на первом шаге нет.</a:t>
            </a:r>
            <a:endParaRPr lang="en-US" sz="1800" dirty="0"/>
          </a:p>
        </p:txBody>
      </p:sp>
      <p:sp>
        <p:nvSpPr>
          <p:cNvPr id="13" name="b-step1-text-12"/>
          <p:cNvSpPr txBox="1"/>
          <p:nvPr/>
        </p:nvSpPr>
        <p:spPr>
          <a:xfrm>
            <a:off x="7223720" y="392231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Найденный риск не запрещает покупку. Он сокращает срок, который вы готовы держать бумагу.</a:t>
            </a:r>
            <a:endParaRPr lang="en-US" sz="1400" dirty="0"/>
          </a:p>
        </p:txBody>
      </p:sp>
      <p:sp>
        <p:nvSpPr>
          <p:cNvPr id="14" name="b-step1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7 МИНУТ</a:t>
            </a:r>
            <a:endParaRPr lang="en-US" sz="1200" dirty="0"/>
          </a:p>
        </p:txBody>
      </p:sp>
      <p:sp>
        <p:nvSpPr>
          <p:cNvPr id="3" name="b-step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2800" dirty="0"/>
          </a:p>
        </p:txBody>
      </p:sp>
      <p:sp>
        <p:nvSpPr>
          <p:cNvPr id="4" name="b-step2-box-3"/>
          <p:cNvSpPr/>
          <p:nvPr/>
        </p:nvSpPr>
        <p:spPr>
          <a:xfrm>
            <a:off x="812800" y="1765201"/>
            <a:ext cx="10566400" cy="974030"/>
          </a:xfrm>
          <a:prstGeom prst="roundRect">
            <a:avLst>
              <a:gd name="adj" fmla="val 979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step2-text-4"/>
          <p:cNvSpPr txBox="1"/>
          <p:nvPr/>
        </p:nvSpPr>
        <p:spPr>
          <a:xfrm>
            <a:off x="1073150" y="1949351"/>
            <a:ext cx="1034707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выплаты за 6 месяцев − деньги на счетах</a:t>
            </a:r>
            <a:endParaRPr lang="en-US" sz="1800" dirty="0"/>
          </a:p>
        </p:txBody>
      </p:sp>
      <p:sp>
        <p:nvSpPr>
          <p:cNvPr id="6" name="b-step2-text-5"/>
          <p:cNvSpPr txBox="1"/>
          <p:nvPr/>
        </p:nvSpPr>
        <p:spPr>
          <a:xfrm>
            <a:off x="1073150" y="2297311"/>
            <a:ext cx="10347071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Денег почти всегда меньше. Значит, вопрос один: откуда возьмётся разница.</a:t>
            </a:r>
            <a:endParaRPr lang="en-US" sz="1400" dirty="0"/>
          </a:p>
        </p:txBody>
      </p:sp>
      <p:sp>
        <p:nvSpPr>
          <p:cNvPr id="7" name="b-step2-box-6"/>
          <p:cNvSpPr/>
          <p:nvPr/>
        </p:nvSpPr>
        <p:spPr>
          <a:xfrm>
            <a:off x="812800" y="2993231"/>
            <a:ext cx="5181600" cy="1923852"/>
          </a:xfrm>
          <a:prstGeom prst="roundRect">
            <a:avLst>
              <a:gd name="adj" fmla="val 25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b-step2-text-7"/>
          <p:cNvSpPr txBox="1"/>
          <p:nvPr/>
        </p:nvSpPr>
        <p:spPr>
          <a:xfrm>
            <a:off x="1022350" y="320278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РСБУ</a:t>
            </a:r>
            <a:endParaRPr lang="en-US" sz="1200" dirty="0"/>
          </a:p>
        </p:txBody>
      </p:sp>
      <p:sp>
        <p:nvSpPr>
          <p:cNvPr id="9" name="b-step2-text-8"/>
          <p:cNvSpPr txBox="1"/>
          <p:nvPr/>
        </p:nvSpPr>
        <p:spPr>
          <a:xfrm>
            <a:off x="1022350" y="349230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деньги и эквиваленты</a:t>
            </a:r>
            <a:endParaRPr lang="en-US" sz="1400" dirty="0"/>
          </a:p>
        </p:txBody>
      </p:sp>
      <p:sp>
        <p:nvSpPr>
          <p:cNvPr id="10" name="b-step2-text-9"/>
          <p:cNvSpPr txBox="1"/>
          <p:nvPr/>
        </p:nvSpPr>
        <p:spPr>
          <a:xfrm>
            <a:off x="1022350" y="382627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гасить в ближайшие 12 месяцев</a:t>
            </a:r>
            <a:endParaRPr lang="en-US" sz="1400" dirty="0"/>
          </a:p>
        </p:txBody>
      </p:sp>
      <p:sp>
        <p:nvSpPr>
          <p:cNvPr id="11" name="b-step2-text-10"/>
          <p:cNvSpPr txBox="1"/>
          <p:nvPr/>
        </p:nvSpPr>
        <p:spPr>
          <a:xfrm>
            <a:off x="1022350" y="416024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часть переедет в 1510 за год</a:t>
            </a:r>
            <a:endParaRPr lang="en-US" sz="1400" dirty="0"/>
          </a:p>
        </p:txBody>
      </p:sp>
      <p:sp>
        <p:nvSpPr>
          <p:cNvPr id="12" name="b-step2-text-11"/>
          <p:cNvSpPr txBox="1"/>
          <p:nvPr/>
        </p:nvSpPr>
        <p:spPr>
          <a:xfrm>
            <a:off x="1022350" y="4494213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Точные сроки — в пояснениях о заёмных средствах</a:t>
            </a:r>
            <a:endParaRPr lang="en-US" sz="1200" dirty="0"/>
          </a:p>
        </p:txBody>
      </p:sp>
      <p:sp>
        <p:nvSpPr>
          <p:cNvPr id="13" name="b-step2-box-12"/>
          <p:cNvSpPr/>
          <p:nvPr/>
        </p:nvSpPr>
        <p:spPr>
          <a:xfrm>
            <a:off x="6197600" y="2993231"/>
            <a:ext cx="5181600" cy="1923852"/>
          </a:xfrm>
          <a:prstGeom prst="roundRect">
            <a:avLst>
              <a:gd name="adj" fmla="val 25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b-step2-text-13"/>
          <p:cNvSpPr txBox="1"/>
          <p:nvPr/>
        </p:nvSpPr>
        <p:spPr>
          <a:xfrm>
            <a:off x="6407150" y="320278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МСФО</a:t>
            </a:r>
            <a:endParaRPr lang="en-US" sz="1200" dirty="0"/>
          </a:p>
        </p:txBody>
      </p:sp>
      <p:sp>
        <p:nvSpPr>
          <p:cNvPr id="15" name="b-step2-text-14"/>
          <p:cNvSpPr txBox="1"/>
          <p:nvPr/>
        </p:nvSpPr>
        <p:spPr>
          <a:xfrm>
            <a:off x="6407150" y="3492302"/>
            <a:ext cx="4905375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строк нет, названия те же.</a:t>
            </a:r>
            <a:endParaRPr lang="en-US" sz="1400" dirty="0"/>
          </a:p>
        </p:txBody>
      </p:sp>
      <p:sp>
        <p:nvSpPr>
          <p:cNvPr id="16" name="b-step2-text-15"/>
          <p:cNvSpPr txBox="1"/>
          <p:nvPr/>
        </p:nvSpPr>
        <p:spPr>
          <a:xfrm>
            <a:off x="6407150" y="3826272"/>
            <a:ext cx="49053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обязательств по срокам погашения в примечании о риске ликвидности — </a:t>
            </a:r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ответ, сколько платить в ближайшие полгода.</a:t>
            </a:r>
            <a:endParaRPr lang="en-US" sz="1400" dirty="0"/>
          </a:p>
        </p:txBody>
      </p:sp>
      <p:sp>
        <p:nvSpPr>
          <p:cNvPr id="17" name="b-step2-text-16"/>
          <p:cNvSpPr txBox="1"/>
          <p:nvPr/>
        </p:nvSpPr>
        <p:spPr>
          <a:xfrm>
            <a:off x="812800" y="5171083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 выплат по выпуску: брокерское приложение, Bondana, bondresearch.ru, smart-lab.ru/calendar/bonds</a:t>
            </a:r>
            <a:endParaRPr lang="en-US" sz="1200" dirty="0"/>
          </a:p>
        </p:txBody>
      </p:sp>
      <p:sp>
        <p:nvSpPr>
          <p:cNvPr id="18" name="b-step2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tep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8 МИНУТ</a:t>
            </a:r>
            <a:endParaRPr lang="en-US" sz="1200" dirty="0"/>
          </a:p>
        </p:txBody>
      </p:sp>
      <p:sp>
        <p:nvSpPr>
          <p:cNvPr id="3" name="b-step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2800" dirty="0"/>
          </a:p>
        </p:txBody>
      </p:sp>
      <p:sp>
        <p:nvSpPr>
          <p:cNvPr id="4" name="b-step3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из шага 2 компания закрывает из трёх источников. По каждому — свой вопрос.</a:t>
            </a:r>
            <a:endParaRPr lang="en-US" sz="1400" dirty="0"/>
          </a:p>
        </p:txBody>
      </p:sp>
      <p:sp>
        <p:nvSpPr>
          <p:cNvPr id="5" name="b-step3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b-step3-text-5"/>
          <p:cNvSpPr txBox="1"/>
          <p:nvPr/>
        </p:nvSpPr>
        <p:spPr>
          <a:xfrm>
            <a:off x="1073150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b-step3-text-6"/>
          <p:cNvSpPr txBox="1"/>
          <p:nvPr/>
        </p:nvSpPr>
        <p:spPr>
          <a:xfrm>
            <a:off x="1073150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ОПЕРАЦИОННЫЙ ПОТОК</a:t>
            </a:r>
            <a:endParaRPr lang="en-US" sz="1200" dirty="0"/>
          </a:p>
        </p:txBody>
      </p:sp>
      <p:sp>
        <p:nvSpPr>
          <p:cNvPr id="8" name="b-step3-text-7"/>
          <p:cNvSpPr txBox="1"/>
          <p:nvPr/>
        </p:nvSpPr>
        <p:spPr>
          <a:xfrm>
            <a:off x="1073150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его?</a:t>
            </a:r>
            <a:endParaRPr lang="en-US" sz="1800" dirty="0"/>
          </a:p>
        </p:txBody>
      </p:sp>
      <p:sp>
        <p:nvSpPr>
          <p:cNvPr id="9" name="b-step3-text-8"/>
          <p:cNvSpPr txBox="1"/>
          <p:nvPr/>
        </p:nvSpPr>
        <p:spPr>
          <a:xfrm>
            <a:off x="1073150" y="406628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он вообще и какого размера</a:t>
            </a:r>
            <a:endParaRPr lang="en-US" sz="1200" dirty="0"/>
          </a:p>
        </p:txBody>
      </p:sp>
      <p:sp>
        <p:nvSpPr>
          <p:cNvPr id="10" name="b-step3-box-9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b-step3-text-10"/>
          <p:cNvSpPr txBox="1"/>
          <p:nvPr/>
        </p:nvSpPr>
        <p:spPr>
          <a:xfrm>
            <a:off x="4662984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b-step3-text-11"/>
          <p:cNvSpPr txBox="1"/>
          <p:nvPr/>
        </p:nvSpPr>
        <p:spPr>
          <a:xfrm>
            <a:off x="4662984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НОВЫЙ ЗАЙМ</a:t>
            </a:r>
            <a:endParaRPr lang="en-US" sz="1200" dirty="0"/>
          </a:p>
        </p:txBody>
      </p:sp>
      <p:sp>
        <p:nvSpPr>
          <p:cNvPr id="13" name="b-step3-text-12"/>
          <p:cNvSpPr txBox="1"/>
          <p:nvPr/>
        </p:nvSpPr>
        <p:spPr>
          <a:xfrm>
            <a:off x="4662984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она занять?</a:t>
            </a:r>
            <a:endParaRPr lang="en-US" sz="1800" dirty="0"/>
          </a:p>
        </p:txBody>
      </p:sp>
      <p:sp>
        <p:nvSpPr>
          <p:cNvPr id="14" name="b-step3-text-13"/>
          <p:cNvSpPr txBox="1"/>
          <p:nvPr/>
        </p:nvSpPr>
        <p:spPr>
          <a:xfrm>
            <a:off x="4662984" y="4066282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идут размещения, по какой цене, есть ли спрос</a:t>
            </a:r>
            <a:endParaRPr lang="en-US" sz="1200" dirty="0"/>
          </a:p>
        </p:txBody>
      </p:sp>
      <p:sp>
        <p:nvSpPr>
          <p:cNvPr id="15" name="b-step3-box-14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6" name="b-step3-text-15"/>
          <p:cNvSpPr txBox="1"/>
          <p:nvPr/>
        </p:nvSpPr>
        <p:spPr>
          <a:xfrm>
            <a:off x="8252817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17" name="b-step3-text-16"/>
          <p:cNvSpPr txBox="1"/>
          <p:nvPr/>
        </p:nvSpPr>
        <p:spPr>
          <a:xfrm>
            <a:off x="8252817" y="3426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АКЦИОНЕР</a:t>
            </a:r>
            <a:endParaRPr lang="en-US" sz="1200" dirty="0"/>
          </a:p>
        </p:txBody>
      </p:sp>
      <p:sp>
        <p:nvSpPr>
          <p:cNvPr id="18" name="b-step3-text-17"/>
          <p:cNvSpPr txBox="1"/>
          <p:nvPr/>
        </p:nvSpPr>
        <p:spPr>
          <a:xfrm>
            <a:off x="8252817" y="3715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он?</a:t>
            </a:r>
            <a:endParaRPr lang="en-US" sz="1800" dirty="0"/>
          </a:p>
        </p:txBody>
      </p:sp>
      <p:sp>
        <p:nvSpPr>
          <p:cNvPr id="19" name="b-step3-text-18"/>
          <p:cNvSpPr txBox="1"/>
          <p:nvPr/>
        </p:nvSpPr>
        <p:spPr>
          <a:xfrm>
            <a:off x="8252817" y="406628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он и в каком состоянии сам</a:t>
            </a:r>
            <a:endParaRPr lang="en-US" sz="1200" dirty="0"/>
          </a:p>
        </p:txBody>
      </p:sp>
      <p:sp>
        <p:nvSpPr>
          <p:cNvPr id="20" name="b-step3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1 ИЗ 3</a:t>
            </a:r>
            <a:endParaRPr lang="en-US" sz="1200" dirty="0"/>
          </a:p>
        </p:txBody>
      </p:sp>
      <p:sp>
        <p:nvSpPr>
          <p:cNvPr id="3" name="b-q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операционного потока</a:t>
            </a:r>
            <a:endParaRPr lang="en-US" sz="2800" dirty="0"/>
          </a:p>
        </p:txBody>
      </p:sp>
      <p:sp>
        <p:nvSpPr>
          <p:cNvPr id="4" name="b-q1-box-3"/>
          <p:cNvSpPr/>
          <p:nvPr/>
        </p:nvSpPr>
        <p:spPr>
          <a:xfrm>
            <a:off x="812800" y="1765201"/>
            <a:ext cx="10566400" cy="1238151"/>
          </a:xfrm>
          <a:prstGeom prst="roundRect">
            <a:avLst>
              <a:gd name="adj" fmla="val 606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q1-text-4"/>
          <p:cNvSpPr txBox="1"/>
          <p:nvPr/>
        </p:nvSpPr>
        <p:spPr>
          <a:xfrm>
            <a:off x="1073150" y="1949351"/>
            <a:ext cx="1034707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ПРОЦЕНТОВ ДЕНЬГАМИ</a:t>
            </a:r>
            <a:endParaRPr lang="en-US" sz="1200" dirty="0"/>
          </a:p>
        </p:txBody>
      </p:sp>
      <p:sp>
        <p:nvSpPr>
          <p:cNvPr id="6" name="b-q1-text-5"/>
          <p:cNvSpPr txBox="1"/>
          <p:nvPr/>
        </p:nvSpPr>
        <p:spPr>
          <a:xfrm>
            <a:off x="1073150" y="2213471"/>
            <a:ext cx="1034707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(4100 + 4123) / (4123 + 4224)</a:t>
            </a:r>
            <a:endParaRPr lang="en-US" sz="1800" dirty="0"/>
          </a:p>
        </p:txBody>
      </p:sp>
      <p:sp>
        <p:nvSpPr>
          <p:cNvPr id="7" name="b-q1-text-6"/>
          <p:cNvSpPr txBox="1"/>
          <p:nvPr/>
        </p:nvSpPr>
        <p:spPr>
          <a:xfrm>
            <a:off x="1073150" y="2561431"/>
            <a:ext cx="10347071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1 — проценты платятся из новых займов. Сам поток не должен быть отрицательным.</a:t>
            </a:r>
            <a:endParaRPr lang="en-US" sz="1400" dirty="0"/>
          </a:p>
        </p:txBody>
      </p:sp>
      <p:sp>
        <p:nvSpPr>
          <p:cNvPr id="8" name="b-q1-box-7"/>
          <p:cNvSpPr/>
          <p:nvPr/>
        </p:nvSpPr>
        <p:spPr>
          <a:xfrm>
            <a:off x="812800" y="3257352"/>
            <a:ext cx="5219700" cy="1130102"/>
          </a:xfrm>
          <a:prstGeom prst="roundRect">
            <a:avLst>
              <a:gd name="adj" fmla="val 727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b-q1-text-8"/>
          <p:cNvSpPr txBox="1"/>
          <p:nvPr/>
        </p:nvSpPr>
        <p:spPr>
          <a:xfrm>
            <a:off x="996950" y="3441502"/>
            <a:ext cx="49969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по МСФО</a:t>
            </a:r>
            <a:endParaRPr lang="en-US" sz="1400" dirty="0"/>
          </a:p>
        </p:txBody>
      </p:sp>
      <p:sp>
        <p:nvSpPr>
          <p:cNvPr id="10" name="b-q1-text-9"/>
          <p:cNvSpPr txBox="1"/>
          <p:nvPr/>
        </p:nvSpPr>
        <p:spPr>
          <a:xfrm>
            <a:off x="996950" y="3705622"/>
            <a:ext cx="49969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 могут стоять в финансовой деятельности. Верните их в расчёт.</a:t>
            </a:r>
            <a:endParaRPr lang="en-US" sz="1400" dirty="0"/>
          </a:p>
        </p:txBody>
      </p:sp>
      <p:sp>
        <p:nvSpPr>
          <p:cNvPr id="11" name="b-q1-box-10"/>
          <p:cNvSpPr/>
          <p:nvPr/>
        </p:nvSpPr>
        <p:spPr>
          <a:xfrm>
            <a:off x="6159500" y="3257352"/>
            <a:ext cx="5219700" cy="1130102"/>
          </a:xfrm>
          <a:prstGeom prst="roundRect">
            <a:avLst>
              <a:gd name="adj" fmla="val 727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b-q1-text-11"/>
          <p:cNvSpPr txBox="1"/>
          <p:nvPr/>
        </p:nvSpPr>
        <p:spPr>
          <a:xfrm>
            <a:off x="6343650" y="3441502"/>
            <a:ext cx="499694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Поправка по РСБУ</a:t>
            </a:r>
            <a:endParaRPr lang="en-US" sz="1400" dirty="0"/>
          </a:p>
        </p:txBody>
      </p:sp>
      <p:sp>
        <p:nvSpPr>
          <p:cNvPr id="13" name="b-q1-text-12"/>
          <p:cNvSpPr txBox="1"/>
          <p:nvPr/>
        </p:nvSpPr>
        <p:spPr>
          <a:xfrm>
            <a:off x="6343650" y="3705622"/>
            <a:ext cx="499694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 лежат в инвестиционных платежах, строка 4224.</a:t>
            </a:r>
            <a:endParaRPr lang="en-US" sz="1400" dirty="0"/>
          </a:p>
        </p:txBody>
      </p:sp>
      <p:sp>
        <p:nvSpPr>
          <p:cNvPr id="14" name="b-q1-box-13"/>
          <p:cNvSpPr/>
          <p:nvPr/>
        </p:nvSpPr>
        <p:spPr>
          <a:xfrm>
            <a:off x="812800" y="4514453"/>
            <a:ext cx="5219700" cy="1117402"/>
          </a:xfrm>
          <a:prstGeom prst="roundRect">
            <a:avLst>
              <a:gd name="adj" fmla="val 7441"/>
            </a:avLst>
          </a:prstGeom>
          <a:solidFill>
            <a:srgbClr val="F6DFDA"/>
          </a:solidFill>
          <a:ln/>
        </p:spPr>
      </p:sp>
      <p:sp>
        <p:nvSpPr>
          <p:cNvPr id="15" name="b-q1-text-14"/>
          <p:cNvSpPr txBox="1"/>
          <p:nvPr/>
        </p:nvSpPr>
        <p:spPr>
          <a:xfrm>
            <a:off x="990600" y="4692253"/>
            <a:ext cx="501002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Ловушка: лизинг</a:t>
            </a:r>
            <a:endParaRPr lang="en-US" sz="1400" dirty="0"/>
          </a:p>
        </p:txBody>
      </p:sp>
      <p:sp>
        <p:nvSpPr>
          <p:cNvPr id="16" name="b-q1-text-15"/>
          <p:cNvSpPr txBox="1"/>
          <p:nvPr/>
        </p:nvSpPr>
        <p:spPr>
          <a:xfrm>
            <a:off x="990600" y="4956373"/>
            <a:ext cx="50100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портфеля в капексе переворачивает картину. Смотрите свободный поток.</a:t>
            </a:r>
            <a:endParaRPr lang="en-US" sz="1400" dirty="0"/>
          </a:p>
        </p:txBody>
      </p:sp>
      <p:sp>
        <p:nvSpPr>
          <p:cNvPr id="17" name="b-q1-box-16"/>
          <p:cNvSpPr/>
          <p:nvPr/>
        </p:nvSpPr>
        <p:spPr>
          <a:xfrm>
            <a:off x="6159500" y="4514453"/>
            <a:ext cx="5219700" cy="1117402"/>
          </a:xfrm>
          <a:prstGeom prst="roundRect">
            <a:avLst>
              <a:gd name="adj" fmla="val 7441"/>
            </a:avLst>
          </a:prstGeom>
          <a:solidFill>
            <a:srgbClr val="F6DFDA"/>
          </a:solidFill>
          <a:ln/>
        </p:spPr>
      </p:sp>
      <p:sp>
        <p:nvSpPr>
          <p:cNvPr id="18" name="b-q1-text-17"/>
          <p:cNvSpPr txBox="1"/>
          <p:nvPr/>
        </p:nvSpPr>
        <p:spPr>
          <a:xfrm>
            <a:off x="6337300" y="4692253"/>
            <a:ext cx="501002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Ловушка: сжатие портфеля</a:t>
            </a:r>
            <a:endParaRPr lang="en-US" sz="1400" dirty="0"/>
          </a:p>
        </p:txBody>
      </p:sp>
      <p:sp>
        <p:nvSpPr>
          <p:cNvPr id="19" name="b-q1-text-18"/>
          <p:cNvSpPr txBox="1"/>
          <p:nvPr/>
        </p:nvSpPr>
        <p:spPr>
          <a:xfrm>
            <a:off x="6337300" y="4956373"/>
            <a:ext cx="501002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по потоку бывает от распродажи портфеля. Компания не зарабатывает, а распродаёт себя.</a:t>
            </a:r>
            <a:endParaRPr lang="en-US" sz="1400" dirty="0"/>
          </a:p>
        </p:txBody>
      </p:sp>
      <p:sp>
        <p:nvSpPr>
          <p:cNvPr id="20" name="b-q1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2 ИЗ 3</a:t>
            </a:r>
            <a:endParaRPr lang="en-US" sz="1200" dirty="0"/>
          </a:p>
        </p:txBody>
      </p:sp>
      <p:sp>
        <p:nvSpPr>
          <p:cNvPr id="3" name="b-q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она занять</a:t>
            </a:r>
            <a:endParaRPr lang="en-US" sz="2800" dirty="0"/>
          </a:p>
        </p:txBody>
      </p:sp>
      <p:sp>
        <p:nvSpPr>
          <p:cNvPr id="4" name="b-q2-text-3"/>
          <p:cNvSpPr txBox="1"/>
          <p:nvPr/>
        </p:nvSpPr>
        <p:spPr>
          <a:xfrm>
            <a:off x="812800" y="1765201"/>
            <a:ext cx="6019917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ли объём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собрали последние размещения</a:t>
            </a:r>
            <a:endParaRPr lang="en-US" sz="1400" dirty="0"/>
          </a:p>
        </p:txBody>
      </p:sp>
      <p:sp>
        <p:nvSpPr>
          <p:cNvPr id="5" name="b-q2-text-4"/>
          <p:cNvSpPr txBox="1"/>
          <p:nvPr/>
        </p:nvSpPr>
        <p:spPr>
          <a:xfrm>
            <a:off x="812800" y="2141041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какой цене торгуются выпуски.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Размещение по 92% от номинала значит, что бумаги не берут</a:t>
            </a:r>
            <a:endParaRPr lang="en-US" sz="1400" dirty="0"/>
          </a:p>
        </p:txBody>
      </p:sp>
      <p:sp>
        <p:nvSpPr>
          <p:cNvPr id="6" name="b-q2-text-5"/>
          <p:cNvSpPr txBox="1"/>
          <p:nvPr/>
        </p:nvSpPr>
        <p:spPr>
          <a:xfrm>
            <a:off x="812800" y="2765723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организатор и был ли реальный спрос.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Заявки и реальные деньги — разные цифры</a:t>
            </a:r>
            <a:endParaRPr lang="en-US" sz="1400" dirty="0"/>
          </a:p>
        </p:txBody>
      </p:sp>
      <p:sp>
        <p:nvSpPr>
          <p:cNvPr id="7" name="b-q2-text-6"/>
          <p:cNvSpPr txBox="1"/>
          <p:nvPr/>
        </p:nvSpPr>
        <p:spPr>
          <a:xfrm>
            <a:off x="812800" y="3390404"/>
            <a:ext cx="601991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свободные банковские лимиты.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Лимитов нет — банки всё поняли раньше вас</a:t>
            </a:r>
            <a:endParaRPr lang="en-US" sz="1400" dirty="0"/>
          </a:p>
        </p:txBody>
      </p:sp>
      <p:sp>
        <p:nvSpPr>
          <p:cNvPr id="8" name="b-q2-text-7"/>
          <p:cNvSpPr txBox="1"/>
          <p:nvPr/>
        </p:nvSpPr>
        <p:spPr>
          <a:xfrm>
            <a:off x="812800" y="4015085"/>
            <a:ext cx="601991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смотреть ход размещения: Good bonds и раздел размещений Мосбиржи</a:t>
            </a:r>
            <a:endParaRPr lang="en-US" sz="1200" dirty="0"/>
          </a:p>
        </p:txBody>
      </p:sp>
      <p:sp>
        <p:nvSpPr>
          <p:cNvPr id="9" name="b-q2-box-8"/>
          <p:cNvSpPr/>
          <p:nvPr/>
        </p:nvSpPr>
        <p:spPr>
          <a:xfrm>
            <a:off x="6962180" y="1765201"/>
            <a:ext cx="441702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b-q2-text-9"/>
          <p:cNvSpPr txBox="1"/>
          <p:nvPr/>
        </p:nvSpPr>
        <p:spPr>
          <a:xfrm>
            <a:off x="7222530" y="2635349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ЕВРОТРАНС, ДЕВЯТЫЙ ВЫПУСК, МЛН ₽</a:t>
            </a:r>
            <a:endParaRPr lang="en-US" sz="1200" dirty="0"/>
          </a:p>
        </p:txBody>
      </p:sp>
      <p:sp>
        <p:nvSpPr>
          <p:cNvPr id="11" name="b-q2-text-10"/>
          <p:cNvSpPr txBox="1"/>
          <p:nvPr/>
        </p:nvSpPr>
        <p:spPr>
          <a:xfrm>
            <a:off x="7222530" y="3001070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endParaRPr lang="en-US" sz="1200" dirty="0"/>
          </a:p>
        </p:txBody>
      </p:sp>
      <p:sp>
        <p:nvSpPr>
          <p:cNvPr id="12" name="b-q2-box-11"/>
          <p:cNvSpPr/>
          <p:nvPr/>
        </p:nvSpPr>
        <p:spPr>
          <a:xfrm>
            <a:off x="7222530" y="3272730"/>
            <a:ext cx="266700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13" name="b-q2-text-12"/>
          <p:cNvSpPr txBox="1"/>
          <p:nvPr/>
        </p:nvSpPr>
        <p:spPr>
          <a:xfrm>
            <a:off x="9991130" y="3265190"/>
            <a:ext cx="392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800" dirty="0"/>
          </a:p>
        </p:txBody>
      </p:sp>
      <p:sp>
        <p:nvSpPr>
          <p:cNvPr id="14" name="b-q2-text-13"/>
          <p:cNvSpPr txBox="1"/>
          <p:nvPr/>
        </p:nvSpPr>
        <p:spPr>
          <a:xfrm>
            <a:off x="7222530" y="3737570"/>
            <a:ext cx="40132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спрос</a:t>
            </a:r>
            <a:endParaRPr lang="en-US" sz="1200" dirty="0"/>
          </a:p>
        </p:txBody>
      </p:sp>
      <p:sp>
        <p:nvSpPr>
          <p:cNvPr id="15" name="b-q2-box-14"/>
          <p:cNvSpPr/>
          <p:nvPr/>
        </p:nvSpPr>
        <p:spPr>
          <a:xfrm>
            <a:off x="7222530" y="4009231"/>
            <a:ext cx="482600" cy="304800"/>
          </a:xfrm>
          <a:prstGeom prst="roundRect">
            <a:avLst>
              <a:gd name="adj" fmla="val 37500"/>
            </a:avLst>
          </a:prstGeom>
          <a:solidFill>
            <a:srgbClr val="A63326"/>
          </a:solidFill>
          <a:ln/>
        </p:spPr>
      </p:sp>
      <p:sp>
        <p:nvSpPr>
          <p:cNvPr id="16" name="b-q2-text-15"/>
          <p:cNvSpPr txBox="1"/>
          <p:nvPr/>
        </p:nvSpPr>
        <p:spPr>
          <a:xfrm>
            <a:off x="7806730" y="4001691"/>
            <a:ext cx="2619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800" dirty="0"/>
          </a:p>
        </p:txBody>
      </p:sp>
      <p:sp>
        <p:nvSpPr>
          <p:cNvPr id="17" name="b-q2-text-16"/>
          <p:cNvSpPr txBox="1"/>
          <p:nvPr/>
        </p:nvSpPr>
        <p:spPr>
          <a:xfrm>
            <a:off x="7222530" y="4474071"/>
            <a:ext cx="40132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Реального спроса — меньше пятой части заявок.</a:t>
            </a:r>
            <a:endParaRPr lang="en-US" sz="1400" dirty="0"/>
          </a:p>
        </p:txBody>
      </p:sp>
      <p:sp>
        <p:nvSpPr>
          <p:cNvPr id="18" name="b-q2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q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 3 ИЗ 3</a:t>
            </a:r>
            <a:endParaRPr lang="en-US" sz="1200" dirty="0"/>
          </a:p>
        </p:txBody>
      </p:sp>
      <p:sp>
        <p:nvSpPr>
          <p:cNvPr id="3" name="b-q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акционер</a:t>
            </a:r>
            <a:endParaRPr lang="en-US" sz="2800" dirty="0"/>
          </a:p>
        </p:txBody>
      </p:sp>
      <p:sp>
        <p:nvSpPr>
          <p:cNvPr id="4" name="b-q3-text-3"/>
          <p:cNvSpPr txBox="1"/>
          <p:nvPr/>
        </p:nvSpPr>
        <p:spPr>
          <a:xfrm>
            <a:off x="812800" y="176520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инсайда это не предсказывается. Остаётся репутационный расчёт: что для группы дороже.</a:t>
            </a:r>
            <a:endParaRPr lang="en-US" sz="1800" dirty="0"/>
          </a:p>
        </p:txBody>
      </p:sp>
      <p:sp>
        <p:nvSpPr>
          <p:cNvPr id="5" name="b-q3-text-4"/>
          <p:cNvSpPr txBox="1"/>
          <p:nvPr/>
        </p:nvSpPr>
        <p:spPr>
          <a:xfrm>
            <a:off x="812800" y="243572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Заплатить за проблемную «дочку» или получить удар по имени и дальше занимать дороже всем холдингом.</a:t>
            </a:r>
            <a:endParaRPr lang="en-US" sz="1400" dirty="0"/>
          </a:p>
        </p:txBody>
      </p:sp>
      <p:sp>
        <p:nvSpPr>
          <p:cNvPr id="6" name="b-q3-box-5"/>
          <p:cNvSpPr/>
          <p:nvPr/>
        </p:nvSpPr>
        <p:spPr>
          <a:xfrm>
            <a:off x="812800" y="2947491"/>
            <a:ext cx="5181600" cy="1574602"/>
          </a:xfrm>
          <a:prstGeom prst="roundRect">
            <a:avLst>
              <a:gd name="adj" fmla="val 3747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7" name="b-q3-text-6"/>
          <p:cNvSpPr txBox="1"/>
          <p:nvPr/>
        </p:nvSpPr>
        <p:spPr>
          <a:xfrm>
            <a:off x="1022350" y="315704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 ВЫТАЩИЛИ</a:t>
            </a:r>
            <a:endParaRPr lang="en-US" sz="1200" dirty="0"/>
          </a:p>
        </p:txBody>
      </p:sp>
      <p:sp>
        <p:nvSpPr>
          <p:cNvPr id="8" name="b-q3-text-7"/>
          <p:cNvSpPr txBox="1"/>
          <p:nvPr/>
        </p:nvSpPr>
        <p:spPr>
          <a:xfrm>
            <a:off x="1022350" y="3446562"/>
            <a:ext cx="490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Монополия</a:t>
            </a:r>
            <a:endParaRPr lang="en-US" sz="1800" dirty="0"/>
          </a:p>
        </p:txBody>
      </p:sp>
      <p:sp>
        <p:nvSpPr>
          <p:cNvPr id="9" name="b-q3-text-8"/>
          <p:cNvSpPr txBox="1"/>
          <p:nvPr/>
        </p:nvSpPr>
        <p:spPr>
          <a:xfrm>
            <a:off x="1022350" y="3797002"/>
            <a:ext cx="49053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Хотя среди миноритариев был фонд Private Equity от ВТБ.</a:t>
            </a:r>
            <a:endParaRPr lang="en-US" sz="1400" dirty="0"/>
          </a:p>
        </p:txBody>
      </p:sp>
      <p:sp>
        <p:nvSpPr>
          <p:cNvPr id="10" name="b-q3-box-9"/>
          <p:cNvSpPr/>
          <p:nvPr/>
        </p:nvSpPr>
        <p:spPr>
          <a:xfrm>
            <a:off x="6197600" y="2947491"/>
            <a:ext cx="5181600" cy="1574602"/>
          </a:xfrm>
          <a:prstGeom prst="roundRect">
            <a:avLst>
              <a:gd name="adj" fmla="val 3747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b-q3-text-10"/>
          <p:cNvSpPr txBox="1"/>
          <p:nvPr/>
        </p:nvSpPr>
        <p:spPr>
          <a:xfrm>
            <a:off x="6407150" y="3157041"/>
            <a:ext cx="490537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ВЫТАЩИЛИ</a:t>
            </a:r>
            <a:endParaRPr lang="en-US" sz="1200" dirty="0"/>
          </a:p>
        </p:txBody>
      </p:sp>
      <p:sp>
        <p:nvSpPr>
          <p:cNvPr id="12" name="b-q3-text-11"/>
          <p:cNvSpPr txBox="1"/>
          <p:nvPr/>
        </p:nvSpPr>
        <p:spPr>
          <a:xfrm>
            <a:off x="6407150" y="3446562"/>
            <a:ext cx="4905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Уральская сталь</a:t>
            </a:r>
            <a:endParaRPr lang="en-US" sz="1800" dirty="0"/>
          </a:p>
        </p:txBody>
      </p:sp>
      <p:sp>
        <p:nvSpPr>
          <p:cNvPr id="13" name="b-q3-text-12"/>
          <p:cNvSpPr txBox="1"/>
          <p:nvPr/>
        </p:nvSpPr>
        <p:spPr>
          <a:xfrm>
            <a:off x="6407150" y="3797002"/>
            <a:ext cx="490537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Хотя заранее было непонятно, есть ли у бенефициара ресурс.</a:t>
            </a:r>
            <a:endParaRPr lang="en-US" sz="1400" dirty="0"/>
          </a:p>
        </p:txBody>
      </p:sp>
      <p:sp>
        <p:nvSpPr>
          <p:cNvPr id="14" name="b-q3-text-13"/>
          <p:cNvSpPr txBox="1"/>
          <p:nvPr/>
        </p:nvSpPr>
        <p:spPr>
          <a:xfrm>
            <a:off x="812800" y="4776093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Проверочный вопрос: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 эта отчётность вообще релевантна? Может, через неё проходит только часть потоков группы.</a:t>
            </a:r>
            <a:endParaRPr lang="en-US" sz="1400" dirty="0"/>
          </a:p>
        </p:txBody>
      </p:sp>
      <p:sp>
        <p:nvSpPr>
          <p:cNvPr id="15" name="b-q3-text-1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rule-text-1"/>
          <p:cNvSpPr txBox="1"/>
          <p:nvPr/>
        </p:nvSpPr>
        <p:spPr>
          <a:xfrm>
            <a:off x="812800" y="236795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</a:t>
            </a:r>
            <a:endParaRPr lang="en-US" sz="1200" dirty="0"/>
          </a:p>
        </p:txBody>
      </p:sp>
      <p:sp>
        <p:nvSpPr>
          <p:cNvPr id="3" name="b-rule-text-2"/>
          <p:cNvSpPr txBox="1"/>
          <p:nvPr/>
        </p:nvSpPr>
        <p:spPr>
          <a:xfrm>
            <a:off x="812800" y="2835275"/>
            <a:ext cx="10883392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ответа нет ни на один из трёх вопросов, вы, возможно, смотрите на будущий дефолт.</a:t>
            </a:r>
            <a:endParaRPr lang="en-US" sz="2800" dirty="0"/>
          </a:p>
        </p:txBody>
      </p:sp>
      <p:sp>
        <p:nvSpPr>
          <p:cNvPr id="4" name="b-rule-text-3"/>
          <p:cNvSpPr txBox="1"/>
          <p:nvPr/>
        </p:nvSpPr>
        <p:spPr>
          <a:xfrm>
            <a:off x="812800" y="3978275"/>
            <a:ext cx="1088339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если по мультипликаторам всё выглядит отлично.</a:t>
            </a:r>
            <a:endParaRPr lang="en-US" sz="1800" dirty="0"/>
          </a:p>
        </p:txBody>
      </p:sp>
      <p:sp>
        <p:nvSpPr>
          <p:cNvPr id="5" name="b-rule-text-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BF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sector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5 МИНУТ</a:t>
            </a:r>
            <a:endParaRPr lang="en-US" sz="1200" dirty="0"/>
          </a:p>
        </p:txBody>
      </p:sp>
      <p:sp>
        <p:nvSpPr>
          <p:cNvPr id="3" name="b-sector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2800" dirty="0"/>
          </a:p>
        </p:txBody>
      </p:sp>
      <p:sp>
        <p:nvSpPr>
          <p:cNvPr id="4" name="b-sector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b-sectors-line-4"/>
          <p:cNvSpPr/>
          <p:nvPr/>
        </p:nvSpPr>
        <p:spPr>
          <a:xfrm>
            <a:off x="815975" y="2094607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b-sectors-text-5"/>
          <p:cNvSpPr txBox="1"/>
          <p:nvPr/>
        </p:nvSpPr>
        <p:spPr>
          <a:xfrm>
            <a:off x="907415" y="1821716"/>
            <a:ext cx="144308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</a:t>
            </a:r>
            <a:endParaRPr lang="en-US" sz="1200" dirty="0"/>
          </a:p>
        </p:txBody>
      </p:sp>
      <p:sp>
        <p:nvSpPr>
          <p:cNvPr id="7" name="b-sectors-line-6"/>
          <p:cNvSpPr/>
          <p:nvPr/>
        </p:nvSpPr>
        <p:spPr>
          <a:xfrm>
            <a:off x="2399903" y="2094607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b-sectors-text-7"/>
          <p:cNvSpPr txBox="1"/>
          <p:nvPr/>
        </p:nvSpPr>
        <p:spPr>
          <a:xfrm>
            <a:off x="2491343" y="1821716"/>
            <a:ext cx="166065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привычке</a:t>
            </a:r>
            <a:endParaRPr lang="en-US" sz="1200" dirty="0"/>
          </a:p>
        </p:txBody>
      </p:sp>
      <p:sp>
        <p:nvSpPr>
          <p:cNvPr id="9" name="b-sectors-line-8"/>
          <p:cNvSpPr/>
          <p:nvPr/>
        </p:nvSpPr>
        <p:spPr>
          <a:xfrm>
            <a:off x="4195068" y="2094607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b-sectors-text-9"/>
          <p:cNvSpPr txBox="1"/>
          <p:nvPr/>
        </p:nvSpPr>
        <p:spPr>
          <a:xfrm>
            <a:off x="4286508" y="1821716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надо</a:t>
            </a:r>
            <a:endParaRPr lang="en-US" sz="1200" dirty="0"/>
          </a:p>
        </p:txBody>
      </p:sp>
      <p:sp>
        <p:nvSpPr>
          <p:cNvPr id="11" name="b-sectors-line-10"/>
          <p:cNvSpPr/>
          <p:nvPr/>
        </p:nvSpPr>
        <p:spPr>
          <a:xfrm>
            <a:off x="7151787" y="20946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b-sectors-text-11"/>
          <p:cNvSpPr txBox="1"/>
          <p:nvPr/>
        </p:nvSpPr>
        <p:spPr>
          <a:xfrm>
            <a:off x="7243227" y="1821716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200" dirty="0"/>
          </a:p>
        </p:txBody>
      </p:sp>
      <p:sp>
        <p:nvSpPr>
          <p:cNvPr id="13" name="b-sectors-line-12"/>
          <p:cNvSpPr/>
          <p:nvPr/>
        </p:nvSpPr>
        <p:spPr>
          <a:xfrm>
            <a:off x="9263757" y="2094607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b-sectors-text-13"/>
          <p:cNvSpPr txBox="1"/>
          <p:nvPr/>
        </p:nvSpPr>
        <p:spPr>
          <a:xfrm>
            <a:off x="9355197" y="1821716"/>
            <a:ext cx="198727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200" dirty="0"/>
          </a:p>
        </p:txBody>
      </p:sp>
      <p:sp>
        <p:nvSpPr>
          <p:cNvPr id="15" name="b-sectors-line-14"/>
          <p:cNvSpPr/>
          <p:nvPr/>
        </p:nvSpPr>
        <p:spPr>
          <a:xfrm>
            <a:off x="815975" y="2634159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b-sectors-text-15"/>
          <p:cNvSpPr txBox="1"/>
          <p:nvPr/>
        </p:nvSpPr>
        <p:spPr>
          <a:xfrm>
            <a:off x="907415" y="2147947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МФО</a:t>
            </a:r>
            <a:endParaRPr lang="en-US" sz="1200" dirty="0"/>
          </a:p>
        </p:txBody>
      </p:sp>
      <p:sp>
        <p:nvSpPr>
          <p:cNvPr id="17" name="b-sectors-line-16"/>
          <p:cNvSpPr/>
          <p:nvPr/>
        </p:nvSpPr>
        <p:spPr>
          <a:xfrm>
            <a:off x="2399903" y="2634159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b-sectors-text-17"/>
          <p:cNvSpPr txBox="1"/>
          <p:nvPr/>
        </p:nvSpPr>
        <p:spPr>
          <a:xfrm>
            <a:off x="2491343" y="2147947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проценты</a:t>
            </a:r>
            <a:endParaRPr lang="en-US" sz="1200" dirty="0"/>
          </a:p>
        </p:txBody>
      </p:sp>
      <p:sp>
        <p:nvSpPr>
          <p:cNvPr id="19" name="b-sectors-line-18"/>
          <p:cNvSpPr/>
          <p:nvPr/>
        </p:nvSpPr>
        <p:spPr>
          <a:xfrm>
            <a:off x="4195068" y="2634159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b-sectors-text-19"/>
          <p:cNvSpPr txBox="1"/>
          <p:nvPr/>
        </p:nvSpPr>
        <p:spPr>
          <a:xfrm>
            <a:off x="4286508" y="2147947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Просрочка 90+ дней к валовому портфелю</a:t>
            </a:r>
            <a:endParaRPr lang="en-US" sz="1200" dirty="0"/>
          </a:p>
        </p:txBody>
      </p:sp>
      <p:sp>
        <p:nvSpPr>
          <p:cNvPr id="21" name="b-sectors-line-20"/>
          <p:cNvSpPr/>
          <p:nvPr/>
        </p:nvSpPr>
        <p:spPr>
          <a:xfrm>
            <a:off x="7151787" y="2634159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b-sectors-text-21"/>
          <p:cNvSpPr txBox="1"/>
          <p:nvPr/>
        </p:nvSpPr>
        <p:spPr>
          <a:xfrm>
            <a:off x="7243227" y="2147947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20–25%</a:t>
            </a:r>
            <a:endParaRPr lang="en-US" sz="1200" dirty="0"/>
          </a:p>
        </p:txBody>
      </p:sp>
      <p:sp>
        <p:nvSpPr>
          <p:cNvPr id="23" name="b-sectors-line-22"/>
          <p:cNvSpPr/>
          <p:nvPr/>
        </p:nvSpPr>
        <p:spPr>
          <a:xfrm>
            <a:off x="9263757" y="2634159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b-sectors-text-23"/>
          <p:cNvSpPr txBox="1"/>
          <p:nvPr/>
        </p:nvSpPr>
        <p:spPr>
          <a:xfrm>
            <a:off x="9355197" y="2147947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35% или +5 п. п. за год</a:t>
            </a:r>
            <a:endParaRPr lang="en-US" sz="1200" dirty="0"/>
          </a:p>
        </p:txBody>
      </p:sp>
      <p:sp>
        <p:nvSpPr>
          <p:cNvPr id="25" name="b-sectors-line-24"/>
          <p:cNvSpPr/>
          <p:nvPr/>
        </p:nvSpPr>
        <p:spPr>
          <a:xfrm>
            <a:off x="815975" y="3173710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b-sectors-text-25"/>
          <p:cNvSpPr txBox="1"/>
          <p:nvPr/>
        </p:nvSpPr>
        <p:spPr>
          <a:xfrm>
            <a:off x="907415" y="2687499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en-US" sz="1200" dirty="0"/>
          </a:p>
        </p:txBody>
      </p:sp>
      <p:sp>
        <p:nvSpPr>
          <p:cNvPr id="27" name="b-sectors-line-26"/>
          <p:cNvSpPr/>
          <p:nvPr/>
        </p:nvSpPr>
        <p:spPr>
          <a:xfrm>
            <a:off x="2399903" y="3173710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b-sectors-text-27"/>
          <p:cNvSpPr txBox="1"/>
          <p:nvPr/>
        </p:nvSpPr>
        <p:spPr>
          <a:xfrm>
            <a:off x="2491343" y="2687499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29" name="b-sectors-line-28"/>
          <p:cNvSpPr/>
          <p:nvPr/>
        </p:nvSpPr>
        <p:spPr>
          <a:xfrm>
            <a:off x="4195068" y="3173710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b-sectors-text-29"/>
          <p:cNvSpPr txBox="1"/>
          <p:nvPr/>
        </p:nvSpPr>
        <p:spPr>
          <a:xfrm>
            <a:off x="4286508" y="2687499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ЧИЛ к чистому долгу</a:t>
            </a:r>
            <a:endParaRPr lang="en-US" sz="1200" dirty="0"/>
          </a:p>
        </p:txBody>
      </p:sp>
      <p:sp>
        <p:nvSpPr>
          <p:cNvPr id="31" name="b-sectors-line-30"/>
          <p:cNvSpPr/>
          <p:nvPr/>
        </p:nvSpPr>
        <p:spPr>
          <a:xfrm>
            <a:off x="7151787" y="3173710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b-sectors-text-31"/>
          <p:cNvSpPr txBox="1"/>
          <p:nvPr/>
        </p:nvSpPr>
        <p:spPr>
          <a:xfrm>
            <a:off x="7243227" y="2687499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1</a:t>
            </a:r>
            <a:endParaRPr lang="en-US" sz="1200" dirty="0"/>
          </a:p>
        </p:txBody>
      </p:sp>
      <p:sp>
        <p:nvSpPr>
          <p:cNvPr id="33" name="b-sectors-line-32"/>
          <p:cNvSpPr/>
          <p:nvPr/>
        </p:nvSpPr>
        <p:spPr>
          <a:xfrm>
            <a:off x="9263757" y="3173710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b-sectors-text-33"/>
          <p:cNvSpPr txBox="1"/>
          <p:nvPr/>
        </p:nvSpPr>
        <p:spPr>
          <a:xfrm>
            <a:off x="9355197" y="2687499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1: портфель не покрывает долг</a:t>
            </a:r>
            <a:endParaRPr lang="en-US" sz="1200" dirty="0"/>
          </a:p>
        </p:txBody>
      </p:sp>
      <p:sp>
        <p:nvSpPr>
          <p:cNvPr id="35" name="b-sectors-line-34"/>
          <p:cNvSpPr/>
          <p:nvPr/>
        </p:nvSpPr>
        <p:spPr>
          <a:xfrm>
            <a:off x="815975" y="3713262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b-sectors-text-35"/>
          <p:cNvSpPr txBox="1"/>
          <p:nvPr/>
        </p:nvSpPr>
        <p:spPr>
          <a:xfrm>
            <a:off x="907415" y="3227050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Коллекторы</a:t>
            </a:r>
            <a:endParaRPr lang="en-US" sz="1200" dirty="0"/>
          </a:p>
        </p:txBody>
      </p:sp>
      <p:sp>
        <p:nvSpPr>
          <p:cNvPr id="37" name="b-sectors-line-36"/>
          <p:cNvSpPr/>
          <p:nvPr/>
        </p:nvSpPr>
        <p:spPr>
          <a:xfrm>
            <a:off x="2399903" y="3713262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b-sectors-text-37"/>
          <p:cNvSpPr txBox="1"/>
          <p:nvPr/>
        </p:nvSpPr>
        <p:spPr>
          <a:xfrm>
            <a:off x="2491343" y="3227050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b-sectors-line-38"/>
          <p:cNvSpPr/>
          <p:nvPr/>
        </p:nvSpPr>
        <p:spPr>
          <a:xfrm>
            <a:off x="4195068" y="3713262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b-sectors-text-39"/>
          <p:cNvSpPr txBox="1"/>
          <p:nvPr/>
        </p:nvSpPr>
        <p:spPr>
          <a:xfrm>
            <a:off x="4286508" y="3227050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к ERC, ожидаемым сборам</a:t>
            </a:r>
            <a:endParaRPr lang="en-US" sz="1200" dirty="0"/>
          </a:p>
        </p:txBody>
      </p:sp>
      <p:sp>
        <p:nvSpPr>
          <p:cNvPr id="41" name="b-sectors-line-40"/>
          <p:cNvSpPr/>
          <p:nvPr/>
        </p:nvSpPr>
        <p:spPr>
          <a:xfrm>
            <a:off x="7151787" y="3713262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b-sectors-text-41"/>
          <p:cNvSpPr txBox="1"/>
          <p:nvPr/>
        </p:nvSpPr>
        <p:spPr>
          <a:xfrm>
            <a:off x="7243227" y="3227050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35–40%</a:t>
            </a:r>
            <a:endParaRPr lang="en-US" sz="1200" dirty="0"/>
          </a:p>
        </p:txBody>
      </p:sp>
      <p:sp>
        <p:nvSpPr>
          <p:cNvPr id="43" name="b-sectors-line-42"/>
          <p:cNvSpPr/>
          <p:nvPr/>
        </p:nvSpPr>
        <p:spPr>
          <a:xfrm>
            <a:off x="9263757" y="3713262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b-sectors-text-43"/>
          <p:cNvSpPr txBox="1"/>
          <p:nvPr/>
        </p:nvSpPr>
        <p:spPr>
          <a:xfrm>
            <a:off x="9355197" y="3227050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55–60%</a:t>
            </a:r>
            <a:endParaRPr lang="en-US" sz="1200" dirty="0"/>
          </a:p>
        </p:txBody>
      </p:sp>
      <p:sp>
        <p:nvSpPr>
          <p:cNvPr id="45" name="b-sectors-line-44"/>
          <p:cNvSpPr/>
          <p:nvPr/>
        </p:nvSpPr>
        <p:spPr>
          <a:xfrm>
            <a:off x="815975" y="4252813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b-sectors-text-45"/>
          <p:cNvSpPr txBox="1"/>
          <p:nvPr/>
        </p:nvSpPr>
        <p:spPr>
          <a:xfrm>
            <a:off x="907415" y="3766602"/>
            <a:ext cx="144308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Застройщики</a:t>
            </a:r>
            <a:endParaRPr lang="en-US" sz="1200" dirty="0"/>
          </a:p>
        </p:txBody>
      </p:sp>
      <p:sp>
        <p:nvSpPr>
          <p:cNvPr id="47" name="b-sectors-line-46"/>
          <p:cNvSpPr/>
          <p:nvPr/>
        </p:nvSpPr>
        <p:spPr>
          <a:xfrm>
            <a:off x="2399903" y="4252813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b-sectors-text-47"/>
          <p:cNvSpPr txBox="1"/>
          <p:nvPr/>
        </p:nvSpPr>
        <p:spPr>
          <a:xfrm>
            <a:off x="2491343" y="3766602"/>
            <a:ext cx="166065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 долг</a:t>
            </a:r>
            <a:endParaRPr lang="en-US" sz="1200" dirty="0"/>
          </a:p>
        </p:txBody>
      </p:sp>
      <p:sp>
        <p:nvSpPr>
          <p:cNvPr id="49" name="b-sectors-line-48"/>
          <p:cNvSpPr/>
          <p:nvPr/>
        </p:nvSpPr>
        <p:spPr>
          <a:xfrm>
            <a:off x="4195068" y="4252813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b-sectors-text-49"/>
          <p:cNvSpPr txBox="1"/>
          <p:nvPr/>
        </p:nvSpPr>
        <p:spPr>
          <a:xfrm>
            <a:off x="4286508" y="3766602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Эскроу к проектному долгу</a:t>
            </a:r>
            <a:endParaRPr lang="en-US" sz="1200" dirty="0"/>
          </a:p>
        </p:txBody>
      </p:sp>
      <p:sp>
        <p:nvSpPr>
          <p:cNvPr id="51" name="b-sectors-line-50"/>
          <p:cNvSpPr/>
          <p:nvPr/>
        </p:nvSpPr>
        <p:spPr>
          <a:xfrm>
            <a:off x="7151787" y="4252813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b-sectors-text-51"/>
          <p:cNvSpPr txBox="1"/>
          <p:nvPr/>
        </p:nvSpPr>
        <p:spPr>
          <a:xfrm>
            <a:off x="7243227" y="3766602"/>
            <a:ext cx="198696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концу стройки от 100%</a:t>
            </a:r>
            <a:endParaRPr lang="en-US" sz="1200" dirty="0"/>
          </a:p>
        </p:txBody>
      </p:sp>
      <p:sp>
        <p:nvSpPr>
          <p:cNvPr id="53" name="b-sectors-line-52"/>
          <p:cNvSpPr/>
          <p:nvPr/>
        </p:nvSpPr>
        <p:spPr>
          <a:xfrm>
            <a:off x="9263757" y="4252813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b-sectors-text-53"/>
          <p:cNvSpPr txBox="1"/>
          <p:nvPr/>
        </p:nvSpPr>
        <p:spPr>
          <a:xfrm>
            <a:off x="9355197" y="3766602"/>
            <a:ext cx="198727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50% при готовности выше 70%</a:t>
            </a:r>
            <a:endParaRPr lang="en-US" sz="1200" dirty="0"/>
          </a:p>
        </p:txBody>
      </p:sp>
      <p:sp>
        <p:nvSpPr>
          <p:cNvPr id="55" name="b-sectors-line-54"/>
          <p:cNvSpPr/>
          <p:nvPr/>
        </p:nvSpPr>
        <p:spPr>
          <a:xfrm>
            <a:off x="815975" y="4579045"/>
            <a:ext cx="15839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b-sectors-text-55"/>
          <p:cNvSpPr txBox="1"/>
          <p:nvPr/>
        </p:nvSpPr>
        <p:spPr>
          <a:xfrm>
            <a:off x="907415" y="4306153"/>
            <a:ext cx="144308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200" dirty="0"/>
          </a:p>
        </p:txBody>
      </p:sp>
      <p:sp>
        <p:nvSpPr>
          <p:cNvPr id="57" name="b-sectors-line-56"/>
          <p:cNvSpPr/>
          <p:nvPr/>
        </p:nvSpPr>
        <p:spPr>
          <a:xfrm>
            <a:off x="2399903" y="4579045"/>
            <a:ext cx="179516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b-sectors-text-57"/>
          <p:cNvSpPr txBox="1"/>
          <p:nvPr/>
        </p:nvSpPr>
        <p:spPr>
          <a:xfrm>
            <a:off x="2491343" y="4306153"/>
            <a:ext cx="166065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59" name="b-sectors-line-58"/>
          <p:cNvSpPr/>
          <p:nvPr/>
        </p:nvSpPr>
        <p:spPr>
          <a:xfrm>
            <a:off x="4195068" y="4579045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b-sectors-text-59"/>
          <p:cNvSpPr txBox="1"/>
          <p:nvPr/>
        </p:nvSpPr>
        <p:spPr>
          <a:xfrm>
            <a:off x="4286508" y="4306153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с учётом факторинга к EBITDA</a:t>
            </a:r>
            <a:endParaRPr lang="en-US" sz="1200" dirty="0"/>
          </a:p>
        </p:txBody>
      </p:sp>
      <p:sp>
        <p:nvSpPr>
          <p:cNvPr id="61" name="b-sectors-line-60"/>
          <p:cNvSpPr/>
          <p:nvPr/>
        </p:nvSpPr>
        <p:spPr>
          <a:xfrm>
            <a:off x="7151787" y="4579045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b-sectors-text-61"/>
          <p:cNvSpPr txBox="1"/>
          <p:nvPr/>
        </p:nvSpPr>
        <p:spPr>
          <a:xfrm>
            <a:off x="7243227" y="4306153"/>
            <a:ext cx="198696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2,5</a:t>
            </a:r>
            <a:endParaRPr lang="en-US" sz="1200" dirty="0"/>
          </a:p>
        </p:txBody>
      </p:sp>
      <p:sp>
        <p:nvSpPr>
          <p:cNvPr id="63" name="b-sectors-line-62"/>
          <p:cNvSpPr/>
          <p:nvPr/>
        </p:nvSpPr>
        <p:spPr>
          <a:xfrm>
            <a:off x="9263757" y="4579045"/>
            <a:ext cx="211226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4" name="b-sectors-text-63"/>
          <p:cNvSpPr txBox="1"/>
          <p:nvPr/>
        </p:nvSpPr>
        <p:spPr>
          <a:xfrm>
            <a:off x="9355197" y="4306153"/>
            <a:ext cx="198727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3,5</a:t>
            </a:r>
            <a:endParaRPr lang="en-US" sz="1200" dirty="0"/>
          </a:p>
        </p:txBody>
      </p:sp>
      <p:sp>
        <p:nvSpPr>
          <p:cNvPr id="65" name="b-sectors-text-64"/>
          <p:cNvSpPr txBox="1"/>
          <p:nvPr/>
        </p:nvSpPr>
        <p:spPr>
          <a:xfrm>
            <a:off x="812800" y="483622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показатель на сектор. Остальные метрики из методички — в конспекте лекции.</a:t>
            </a:r>
            <a:endParaRPr lang="en-US" sz="1200" dirty="0"/>
          </a:p>
        </p:txBody>
      </p:sp>
      <p:sp>
        <p:nvSpPr>
          <p:cNvPr id="66" name="b-sectors-text-6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tra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ЛОВУШКИ ВО ВСЕХ СЕКТОРАХ</a:t>
            </a:r>
            <a:endParaRPr lang="en-US" sz="1200" dirty="0"/>
          </a:p>
        </p:txBody>
      </p:sp>
      <p:sp>
        <p:nvSpPr>
          <p:cNvPr id="3" name="b-tra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прячется долг</a:t>
            </a:r>
            <a:endParaRPr lang="en-US" sz="2800" dirty="0"/>
          </a:p>
        </p:txBody>
      </p:sp>
      <p:sp>
        <p:nvSpPr>
          <p:cNvPr id="4" name="b-trap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b-traps-warning-4"/>
          <p:cNvSpPr/>
          <p:nvPr/>
        </p:nvSpPr>
        <p:spPr>
          <a:xfrm>
            <a:off x="10668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7" name="b-traps-text-5"/>
          <p:cNvSpPr txBox="1"/>
          <p:nvPr/>
        </p:nvSpPr>
        <p:spPr>
          <a:xfrm>
            <a:off x="10668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процентов</a:t>
            </a:r>
            <a:endParaRPr lang="en-US" sz="1800" dirty="0"/>
          </a:p>
        </p:txBody>
      </p:sp>
      <p:sp>
        <p:nvSpPr>
          <p:cNvPr id="8" name="b-traps-text-6"/>
          <p:cNvSpPr txBox="1"/>
          <p:nvPr/>
        </p:nvSpPr>
        <p:spPr>
          <a:xfrm>
            <a:off x="10668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процентов уходит в стоимость стройки. Покрытие процентов по отчёту о финансовых результатах выглядит вдвое лучше, чем по уплаченным.</a:t>
            </a:r>
            <a:endParaRPr lang="en-US" sz="1400" dirty="0"/>
          </a:p>
        </p:txBody>
      </p:sp>
      <p:sp>
        <p:nvSpPr>
          <p:cNvPr id="9" name="b-traps-text-7"/>
          <p:cNvSpPr txBox="1"/>
          <p:nvPr/>
        </p:nvSpPr>
        <p:spPr>
          <a:xfrm>
            <a:off x="1066800" y="5374680"/>
            <a:ext cx="481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Сравните 2330 с 4123 + 4224</a:t>
            </a:r>
            <a:endParaRPr lang="en-US" sz="1200" dirty="0"/>
          </a:p>
        </p:txBody>
      </p:sp>
      <p:sp>
        <p:nvSpPr>
          <p:cNvPr id="10" name="b-traps-box-8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11" name="b-traps-warning-9"/>
          <p:cNvSpPr/>
          <p:nvPr/>
        </p:nvSpPr>
        <p:spPr>
          <a:xfrm>
            <a:off x="64516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16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b-traps-text-10"/>
          <p:cNvSpPr txBox="1"/>
          <p:nvPr/>
        </p:nvSpPr>
        <p:spPr>
          <a:xfrm>
            <a:off x="64516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Факторинг</a:t>
            </a:r>
            <a:endParaRPr lang="en-US" sz="1800" dirty="0"/>
          </a:p>
        </p:txBody>
      </p:sp>
      <p:sp>
        <p:nvSpPr>
          <p:cNvPr id="14" name="b-traps-text-11"/>
          <p:cNvSpPr txBox="1"/>
          <p:nvPr/>
        </p:nvSpPr>
        <p:spPr>
          <a:xfrm>
            <a:off x="64516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перед фактором часто не входит в 1410 и 1510. Реальная долговая нагрузка бывает почти вдвое выше, чем в формуле долг / EBITDA.</a:t>
            </a:r>
            <a:endParaRPr lang="en-US" sz="1400" dirty="0"/>
          </a:p>
        </p:txBody>
      </p:sp>
      <p:sp>
        <p:nvSpPr>
          <p:cNvPr id="15" name="b-traps-text-12"/>
          <p:cNvSpPr txBox="1"/>
          <p:nvPr/>
        </p:nvSpPr>
        <p:spPr>
          <a:xfrm>
            <a:off x="6451600" y="5374680"/>
            <a:ext cx="481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Ищите в пояснениях о финансовых обязательствах</a:t>
            </a:r>
            <a:endParaRPr lang="en-US" sz="1200" dirty="0"/>
          </a:p>
        </p:txBody>
      </p:sp>
      <p:sp>
        <p:nvSpPr>
          <p:cNvPr id="16" name="b-traps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flag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5 МИНУТ</a:t>
            </a:r>
            <a:endParaRPr lang="en-US" sz="1200" dirty="0"/>
          </a:p>
        </p:txBody>
      </p:sp>
      <p:sp>
        <p:nvSpPr>
          <p:cNvPr id="3" name="b-flag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2800" dirty="0"/>
          </a:p>
        </p:txBody>
      </p:sp>
      <p:sp>
        <p:nvSpPr>
          <p:cNvPr id="4" name="b-flags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b-flags-text-4"/>
          <p:cNvSpPr txBox="1"/>
          <p:nvPr/>
        </p:nvSpPr>
        <p:spPr>
          <a:xfrm>
            <a:off x="1066800" y="201920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СТОП</a:t>
            </a:r>
            <a:endParaRPr lang="en-US" sz="1200" dirty="0"/>
          </a:p>
        </p:txBody>
      </p:sp>
      <p:sp>
        <p:nvSpPr>
          <p:cNvPr id="6" name="b-flags-text-5"/>
          <p:cNvSpPr txBox="1"/>
          <p:nvPr/>
        </p:nvSpPr>
        <p:spPr>
          <a:xfrm>
            <a:off x="1066800" y="233412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Выхожу в тот же день</a:t>
            </a:r>
            <a:endParaRPr lang="en-US" sz="1800" dirty="0"/>
          </a:p>
        </p:txBody>
      </p:sp>
      <p:sp>
        <p:nvSpPr>
          <p:cNvPr id="7" name="b-flags-text-6"/>
          <p:cNvSpPr txBox="1"/>
          <p:nvPr/>
        </p:nvSpPr>
        <p:spPr>
          <a:xfrm>
            <a:off x="1066800" y="270996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дефолт или невыплата купона</a:t>
            </a:r>
            <a:endParaRPr lang="en-US" sz="1400" dirty="0"/>
          </a:p>
        </p:txBody>
      </p:sp>
      <p:sp>
        <p:nvSpPr>
          <p:cNvPr id="8" name="b-flags-text-7"/>
          <p:cNvSpPr txBox="1"/>
          <p:nvPr/>
        </p:nvSpPr>
        <p:spPr>
          <a:xfrm>
            <a:off x="1066800" y="306933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счетов ФНС</a:t>
            </a:r>
            <a:endParaRPr lang="en-US" sz="1400" dirty="0"/>
          </a:p>
        </p:txBody>
      </p:sp>
      <p:sp>
        <p:nvSpPr>
          <p:cNvPr id="9" name="b-flags-text-8"/>
          <p:cNvSpPr txBox="1"/>
          <p:nvPr/>
        </p:nvSpPr>
        <p:spPr>
          <a:xfrm>
            <a:off x="1066800" y="342870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бенефициара или гендиректора</a:t>
            </a:r>
            <a:endParaRPr lang="en-US" sz="1400" dirty="0"/>
          </a:p>
        </p:txBody>
      </p:sp>
      <p:sp>
        <p:nvSpPr>
          <p:cNvPr id="10" name="b-flags-text-9"/>
          <p:cNvSpPr txBox="1"/>
          <p:nvPr/>
        </p:nvSpPr>
        <p:spPr>
          <a:xfrm>
            <a:off x="1066800" y="3788073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Заявление о банкротстве</a:t>
            </a:r>
            <a:endParaRPr lang="en-US" sz="1400" dirty="0"/>
          </a:p>
        </p:txBody>
      </p:sp>
      <p:sp>
        <p:nvSpPr>
          <p:cNvPr id="11" name="b-flags-box-10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b-flags-text-11"/>
          <p:cNvSpPr txBox="1"/>
          <p:nvPr/>
        </p:nvSpPr>
        <p:spPr>
          <a:xfrm>
            <a:off x="6451600" y="202555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ВНИМАНИЕ</a:t>
            </a:r>
            <a:endParaRPr lang="en-US" sz="1200" dirty="0"/>
          </a:p>
        </p:txBody>
      </p:sp>
      <p:sp>
        <p:nvSpPr>
          <p:cNvPr id="13" name="b-flags-text-12"/>
          <p:cNvSpPr txBox="1"/>
          <p:nvPr/>
        </p:nvSpPr>
        <p:spPr>
          <a:xfrm>
            <a:off x="6451600" y="234047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Смотрю внимательно и считаю</a:t>
            </a:r>
            <a:endParaRPr lang="en-US" sz="1800" dirty="0"/>
          </a:p>
        </p:txBody>
      </p:sp>
      <p:sp>
        <p:nvSpPr>
          <p:cNvPr id="14" name="b-flags-text-13"/>
          <p:cNvSpPr txBox="1"/>
          <p:nvPr/>
        </p:nvSpPr>
        <p:spPr>
          <a:xfrm>
            <a:off x="6451600" y="2716312"/>
            <a:ext cx="4807268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Сорванное или отозванное размещение</a:t>
            </a:r>
            <a:endParaRPr lang="en-US" sz="1400" dirty="0"/>
          </a:p>
        </p:txBody>
      </p:sp>
      <p:sp>
        <p:nvSpPr>
          <p:cNvPr id="15" name="b-flags-text-14"/>
          <p:cNvSpPr txBox="1"/>
          <p:nvPr/>
        </p:nvSpPr>
        <p:spPr>
          <a:xfrm>
            <a:off x="6451600" y="307568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кредитного рейтинга по инициативе самой компании</a:t>
            </a:r>
            <a:endParaRPr lang="en-US" sz="1400" dirty="0"/>
          </a:p>
        </p:txBody>
      </p:sp>
      <p:sp>
        <p:nvSpPr>
          <p:cNvPr id="16" name="b-flags-text-15"/>
          <p:cNvSpPr txBox="1"/>
          <p:nvPr/>
        </p:nvSpPr>
        <p:spPr>
          <a:xfrm>
            <a:off x="6451600" y="369282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Письма эмитента инвесторам, особенно со сменой тона</a:t>
            </a:r>
            <a:endParaRPr lang="en-US" sz="1400" dirty="0"/>
          </a:p>
        </p:txBody>
      </p:sp>
      <p:sp>
        <p:nvSpPr>
          <p:cNvPr id="17" name="b-flags-text-16"/>
          <p:cNvSpPr txBox="1"/>
          <p:nvPr/>
        </p:nvSpPr>
        <p:spPr>
          <a:xfrm>
            <a:off x="6451600" y="430996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с продажами, например блокировка экспорта</a:t>
            </a:r>
            <a:endParaRPr lang="en-US" sz="1400" dirty="0"/>
          </a:p>
        </p:txBody>
      </p:sp>
      <p:sp>
        <p:nvSpPr>
          <p:cNvPr id="18" name="b-flags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limi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РАМКИ И ЛИМИТЫ АВТОРА МЕТОДИЧКИ</a:t>
            </a:r>
            <a:endParaRPr lang="en-US" sz="1200" dirty="0"/>
          </a:p>
        </p:txBody>
      </p:sp>
      <p:sp>
        <p:nvSpPr>
          <p:cNvPr id="3" name="b-limi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и размер позиции</a:t>
            </a:r>
            <a:endParaRPr lang="en-US" sz="2800" dirty="0"/>
          </a:p>
        </p:txBody>
      </p:sp>
      <p:sp>
        <p:nvSpPr>
          <p:cNvPr id="4" name="b-limits-box-3"/>
          <p:cNvSpPr/>
          <p:nvPr/>
        </p:nvSpPr>
        <p:spPr>
          <a:xfrm>
            <a:off x="812800" y="1765201"/>
            <a:ext cx="2641600" cy="416520"/>
          </a:xfrm>
          <a:prstGeom prst="roundRect">
            <a:avLst>
              <a:gd name="adj" fmla="val 26775"/>
            </a:avLst>
          </a:prstGeom>
          <a:solidFill>
            <a:srgbClr val="CDD7D0"/>
          </a:solidFill>
          <a:ln/>
        </p:spPr>
      </p:sp>
      <p:sp>
        <p:nvSpPr>
          <p:cNvPr id="5" name="b-limits-text-4"/>
          <p:cNvSpPr txBox="1"/>
          <p:nvPr/>
        </p:nvSpPr>
        <p:spPr>
          <a:xfrm>
            <a:off x="9144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20%</a:t>
            </a:r>
            <a:endParaRPr lang="en-US" sz="1200" dirty="0"/>
          </a:p>
        </p:txBody>
      </p:sp>
      <p:sp>
        <p:nvSpPr>
          <p:cNvPr id="6" name="b-limits-box-5"/>
          <p:cNvSpPr/>
          <p:nvPr/>
        </p:nvSpPr>
        <p:spPr>
          <a:xfrm>
            <a:off x="3454400" y="1765201"/>
            <a:ext cx="2641600" cy="41652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7" name="b-limits-text-6"/>
          <p:cNvSpPr txBox="1"/>
          <p:nvPr/>
        </p:nvSpPr>
        <p:spPr>
          <a:xfrm>
            <a:off x="35560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20–25%</a:t>
            </a:r>
            <a:endParaRPr lang="en-US" sz="1200" dirty="0"/>
          </a:p>
        </p:txBody>
      </p:sp>
      <p:sp>
        <p:nvSpPr>
          <p:cNvPr id="8" name="b-limits-box-7"/>
          <p:cNvSpPr/>
          <p:nvPr/>
        </p:nvSpPr>
        <p:spPr>
          <a:xfrm>
            <a:off x="6096000" y="1765201"/>
            <a:ext cx="1054100" cy="41652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9" name="b-limits-text-8"/>
          <p:cNvSpPr txBox="1"/>
          <p:nvPr/>
        </p:nvSpPr>
        <p:spPr>
          <a:xfrm>
            <a:off x="6197600" y="1866801"/>
            <a:ext cx="87642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25–27%</a:t>
            </a:r>
            <a:endParaRPr lang="en-US" sz="1200" dirty="0"/>
          </a:p>
        </p:txBody>
      </p:sp>
      <p:sp>
        <p:nvSpPr>
          <p:cNvPr id="10" name="b-limits-box-9"/>
          <p:cNvSpPr/>
          <p:nvPr/>
        </p:nvSpPr>
        <p:spPr>
          <a:xfrm>
            <a:off x="7150100" y="1765201"/>
            <a:ext cx="1587500" cy="416520"/>
          </a:xfrm>
          <a:prstGeom prst="rect">
            <a:avLst/>
          </a:prstGeom>
          <a:solidFill>
            <a:srgbClr val="F6DFDA"/>
          </a:solidFill>
          <a:ln/>
        </p:spPr>
      </p:sp>
      <p:sp>
        <p:nvSpPr>
          <p:cNvPr id="11" name="b-limits-text-10"/>
          <p:cNvSpPr txBox="1"/>
          <p:nvPr/>
        </p:nvSpPr>
        <p:spPr>
          <a:xfrm>
            <a:off x="7251700" y="1866801"/>
            <a:ext cx="142582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27–30%</a:t>
            </a:r>
            <a:endParaRPr lang="en-US" sz="1200" dirty="0"/>
          </a:p>
        </p:txBody>
      </p:sp>
      <p:sp>
        <p:nvSpPr>
          <p:cNvPr id="12" name="b-limits-box-11"/>
          <p:cNvSpPr/>
          <p:nvPr/>
        </p:nvSpPr>
        <p:spPr>
          <a:xfrm>
            <a:off x="8737600" y="1765201"/>
            <a:ext cx="2641600" cy="416520"/>
          </a:xfrm>
          <a:prstGeom prst="rect">
            <a:avLst/>
          </a:prstGeom>
          <a:solidFill>
            <a:srgbClr val="A63326"/>
          </a:solidFill>
          <a:ln/>
        </p:spPr>
      </p:sp>
      <p:sp>
        <p:nvSpPr>
          <p:cNvPr id="13" name="b-limits-text-12"/>
          <p:cNvSpPr txBox="1"/>
          <p:nvPr/>
        </p:nvSpPr>
        <p:spPr>
          <a:xfrm>
            <a:off x="8839200" y="1866801"/>
            <a:ext cx="25115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30%: дистресс</a:t>
            </a:r>
            <a:endParaRPr lang="en-US" sz="1200" dirty="0"/>
          </a:p>
        </p:txBody>
      </p:sp>
      <p:sp>
        <p:nvSpPr>
          <p:cNvPr id="14" name="b-limits-text-13"/>
          <p:cNvSpPr txBox="1"/>
          <p:nvPr/>
        </p:nvSpPr>
        <p:spPr>
          <a:xfrm>
            <a:off x="812800" y="2283321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к погашению для ВДО. Пороги привязаны к ключевой ставке на момент написания методички: сдвинулась ставка — сдвигайте их или считайте премию к ОФЗ той же дюрации.</a:t>
            </a:r>
            <a:endParaRPr lang="en-US" sz="1200" dirty="0"/>
          </a:p>
        </p:txBody>
      </p:sp>
      <p:sp>
        <p:nvSpPr>
          <p:cNvPr id="15" name="b-limits-box-14"/>
          <p:cNvSpPr/>
          <p:nvPr/>
        </p:nvSpPr>
        <p:spPr>
          <a:xfrm>
            <a:off x="8128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6" name="b-limits-text-15"/>
          <p:cNvSpPr txBox="1"/>
          <p:nvPr/>
        </p:nvSpPr>
        <p:spPr>
          <a:xfrm>
            <a:off x="10223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2,5%</a:t>
            </a:r>
            <a:endParaRPr lang="en-US" sz="2800" dirty="0"/>
          </a:p>
        </p:txBody>
      </p:sp>
      <p:sp>
        <p:nvSpPr>
          <p:cNvPr id="17" name="b-limits-text-16"/>
          <p:cNvSpPr txBox="1"/>
          <p:nvPr/>
        </p:nvSpPr>
        <p:spPr>
          <a:xfrm>
            <a:off x="1022350" y="3615432"/>
            <a:ext cx="217144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портфеля — лимит на эмитента в настоящих ВДО</a:t>
            </a:r>
            <a:endParaRPr lang="en-US" sz="1200" dirty="0"/>
          </a:p>
        </p:txBody>
      </p:sp>
      <p:sp>
        <p:nvSpPr>
          <p:cNvPr id="18" name="b-limits-box-17"/>
          <p:cNvSpPr/>
          <p:nvPr/>
        </p:nvSpPr>
        <p:spPr>
          <a:xfrm>
            <a:off x="34925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9" name="b-limits-text-18"/>
          <p:cNvSpPr txBox="1"/>
          <p:nvPr/>
        </p:nvSpPr>
        <p:spPr>
          <a:xfrm>
            <a:off x="37020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800" dirty="0"/>
          </a:p>
        </p:txBody>
      </p:sp>
      <p:sp>
        <p:nvSpPr>
          <p:cNvPr id="20" name="b-limits-text-19"/>
          <p:cNvSpPr txBox="1"/>
          <p:nvPr/>
        </p:nvSpPr>
        <p:spPr>
          <a:xfrm>
            <a:off x="3702050" y="3615432"/>
            <a:ext cx="217144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портфеля — лимит на эмитента в просто высоком риске</a:t>
            </a:r>
            <a:endParaRPr lang="en-US" sz="1200" dirty="0"/>
          </a:p>
        </p:txBody>
      </p:sp>
      <p:sp>
        <p:nvSpPr>
          <p:cNvPr id="21" name="b-limits-box-20"/>
          <p:cNvSpPr/>
          <p:nvPr/>
        </p:nvSpPr>
        <p:spPr>
          <a:xfrm>
            <a:off x="61722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b-limits-text-21"/>
          <p:cNvSpPr txBox="1"/>
          <p:nvPr/>
        </p:nvSpPr>
        <p:spPr>
          <a:xfrm>
            <a:off x="63817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800" dirty="0"/>
          </a:p>
        </p:txBody>
      </p:sp>
      <p:sp>
        <p:nvSpPr>
          <p:cNvPr id="23" name="b-limits-text-22"/>
          <p:cNvSpPr txBox="1"/>
          <p:nvPr/>
        </p:nvSpPr>
        <p:spPr>
          <a:xfrm>
            <a:off x="6381750" y="3615432"/>
            <a:ext cx="217144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бумаг — примерно столько реально отслеживать</a:t>
            </a:r>
            <a:endParaRPr lang="en-US" sz="1200" dirty="0"/>
          </a:p>
        </p:txBody>
      </p:sp>
      <p:sp>
        <p:nvSpPr>
          <p:cNvPr id="24" name="b-limits-box-23"/>
          <p:cNvSpPr/>
          <p:nvPr/>
        </p:nvSpPr>
        <p:spPr>
          <a:xfrm>
            <a:off x="8851900" y="2963962"/>
            <a:ext cx="2527300" cy="1714302"/>
          </a:xfrm>
          <a:prstGeom prst="roundRect">
            <a:avLst>
              <a:gd name="adj" fmla="val 3161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5" name="b-limits-text-24"/>
          <p:cNvSpPr txBox="1"/>
          <p:nvPr/>
        </p:nvSpPr>
        <p:spPr>
          <a:xfrm>
            <a:off x="9061450" y="3173512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26" name="b-limits-text-25"/>
          <p:cNvSpPr txBox="1"/>
          <p:nvPr/>
        </p:nvSpPr>
        <p:spPr>
          <a:xfrm>
            <a:off x="9061450" y="3615432"/>
            <a:ext cx="2171446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выше доля дорогих облигаций в финансировании — загорается лампочка</a:t>
            </a:r>
            <a:endParaRPr lang="en-US" sz="1200" dirty="0"/>
          </a:p>
        </p:txBody>
      </p:sp>
      <p:sp>
        <p:nvSpPr>
          <p:cNvPr id="27" name="b-limits-text-2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13:00–24:00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rotra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 · РАЗБОР КЕЙСА ИЗ МЕТОДИЧКИ</a:t>
            </a:r>
            <a:endParaRPr lang="en-US" sz="1200" dirty="0"/>
          </a:p>
        </p:txBody>
      </p:sp>
      <p:sp>
        <p:nvSpPr>
          <p:cNvPr id="3" name="evrotra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Евротранс по пяти шагам</a:t>
            </a:r>
            <a:endParaRPr lang="en-US" sz="2800" dirty="0"/>
          </a:p>
        </p:txBody>
      </p:sp>
      <p:sp>
        <p:nvSpPr>
          <p:cNvPr id="4" name="evrotran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evrotrans-line-4"/>
          <p:cNvSpPr/>
          <p:nvPr/>
        </p:nvSpPr>
        <p:spPr>
          <a:xfrm>
            <a:off x="815975" y="2094607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evrotrans-text-5"/>
          <p:cNvSpPr txBox="1"/>
          <p:nvPr/>
        </p:nvSpPr>
        <p:spPr>
          <a:xfrm>
            <a:off x="907415" y="1821716"/>
            <a:ext cx="242200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200" dirty="0"/>
          </a:p>
        </p:txBody>
      </p:sp>
      <p:sp>
        <p:nvSpPr>
          <p:cNvPr id="7" name="evrotrans-line-6"/>
          <p:cNvSpPr/>
          <p:nvPr/>
        </p:nvSpPr>
        <p:spPr>
          <a:xfrm>
            <a:off x="3350320" y="2094607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evrotrans-text-7"/>
          <p:cNvSpPr txBox="1"/>
          <p:nvPr/>
        </p:nvSpPr>
        <p:spPr>
          <a:xfrm>
            <a:off x="3441760" y="1821716"/>
            <a:ext cx="807811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видно</a:t>
            </a:r>
            <a:endParaRPr lang="en-US" sz="1200" dirty="0"/>
          </a:p>
        </p:txBody>
      </p:sp>
      <p:sp>
        <p:nvSpPr>
          <p:cNvPr id="9" name="evrotrans-line-8"/>
          <p:cNvSpPr/>
          <p:nvPr/>
        </p:nvSpPr>
        <p:spPr>
          <a:xfrm>
            <a:off x="815975" y="2634159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evrotrans-text-9"/>
          <p:cNvSpPr txBox="1"/>
          <p:nvPr/>
        </p:nvSpPr>
        <p:spPr>
          <a:xfrm>
            <a:off x="907415" y="2147947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История</a:t>
            </a:r>
            <a:endParaRPr lang="en-US" sz="1200" dirty="0"/>
          </a:p>
        </p:txBody>
      </p:sp>
      <p:sp>
        <p:nvSpPr>
          <p:cNvPr id="11" name="evrotrans-line-10"/>
          <p:cNvSpPr/>
          <p:nvPr/>
        </p:nvSpPr>
        <p:spPr>
          <a:xfrm>
            <a:off x="3350320" y="2634159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evrotrans-text-11"/>
          <p:cNvSpPr txBox="1"/>
          <p:nvPr/>
        </p:nvSpPr>
        <p:spPr>
          <a:xfrm>
            <a:off x="3441760" y="2147947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Реструктуризация 2016 года. Непонятная бизнес-модель: основная выручка от нефтетрейдинга. Очень высокая PR-активность</a:t>
            </a:r>
            <a:endParaRPr lang="en-US" sz="1200" dirty="0"/>
          </a:p>
        </p:txBody>
      </p:sp>
      <p:sp>
        <p:nvSpPr>
          <p:cNvPr id="13" name="evrotrans-line-12"/>
          <p:cNvSpPr/>
          <p:nvPr/>
        </p:nvSpPr>
        <p:spPr>
          <a:xfrm>
            <a:off x="815975" y="3173710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evrotrans-text-13"/>
          <p:cNvSpPr txBox="1"/>
          <p:nvPr/>
        </p:nvSpPr>
        <p:spPr>
          <a:xfrm>
            <a:off x="907415" y="2687499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Деньги и выплаты</a:t>
            </a:r>
            <a:endParaRPr lang="en-US" sz="1200" dirty="0"/>
          </a:p>
        </p:txBody>
      </p:sp>
      <p:sp>
        <p:nvSpPr>
          <p:cNvPr id="15" name="evrotrans-line-14"/>
          <p:cNvSpPr/>
          <p:nvPr/>
        </p:nvSpPr>
        <p:spPr>
          <a:xfrm>
            <a:off x="3350320" y="3173710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evrotrans-text-15"/>
          <p:cNvSpPr txBox="1"/>
          <p:nvPr/>
        </p:nvSpPr>
        <p:spPr>
          <a:xfrm>
            <a:off x="3441760" y="2687499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 погашений в 2026 году плюс амортизации. 20 млрд краткосрочного долга: 5 банковского, 15 облигаций и ЦФА. Свободных банковских лимитов нет</a:t>
            </a:r>
            <a:endParaRPr lang="en-US" sz="1200" dirty="0"/>
          </a:p>
        </p:txBody>
      </p:sp>
      <p:sp>
        <p:nvSpPr>
          <p:cNvPr id="17" name="evrotrans-line-16"/>
          <p:cNvSpPr/>
          <p:nvPr/>
        </p:nvSpPr>
        <p:spPr>
          <a:xfrm>
            <a:off x="815975" y="3713262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evrotrans-text-17"/>
          <p:cNvSpPr txBox="1"/>
          <p:nvPr/>
        </p:nvSpPr>
        <p:spPr>
          <a:xfrm>
            <a:off x="907415" y="3227050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Три источника</a:t>
            </a:r>
            <a:endParaRPr lang="en-US" sz="1200" dirty="0"/>
          </a:p>
        </p:txBody>
      </p:sp>
      <p:sp>
        <p:nvSpPr>
          <p:cNvPr id="19" name="evrotrans-line-18"/>
          <p:cNvSpPr/>
          <p:nvPr/>
        </p:nvSpPr>
        <p:spPr>
          <a:xfrm>
            <a:off x="3350320" y="3713262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evrotrans-text-19"/>
          <p:cNvSpPr txBox="1"/>
          <p:nvPr/>
        </p:nvSpPr>
        <p:spPr>
          <a:xfrm>
            <a:off x="3441760" y="3227050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−1 млрд за девять месяцев. Восьмой выпуск по 93%, девятый по 88%, из 500 млн заявок реального спроса 90. Акционер не помог</a:t>
            </a:r>
            <a:endParaRPr lang="en-US" sz="1200" dirty="0"/>
          </a:p>
        </p:txBody>
      </p:sp>
      <p:sp>
        <p:nvSpPr>
          <p:cNvPr id="21" name="evrotrans-line-20"/>
          <p:cNvSpPr/>
          <p:nvPr/>
        </p:nvSpPr>
        <p:spPr>
          <a:xfrm>
            <a:off x="815975" y="4039493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evrotrans-text-21"/>
          <p:cNvSpPr txBox="1"/>
          <p:nvPr/>
        </p:nvSpPr>
        <p:spPr>
          <a:xfrm>
            <a:off x="907415" y="3766602"/>
            <a:ext cx="242200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Отраслевая поправка</a:t>
            </a:r>
            <a:endParaRPr lang="en-US" sz="1200" dirty="0"/>
          </a:p>
        </p:txBody>
      </p:sp>
      <p:sp>
        <p:nvSpPr>
          <p:cNvPr id="23" name="evrotrans-line-22"/>
          <p:cNvSpPr/>
          <p:nvPr/>
        </p:nvSpPr>
        <p:spPr>
          <a:xfrm>
            <a:off x="3350320" y="4039493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evrotrans-text-23"/>
          <p:cNvSpPr txBox="1"/>
          <p:nvPr/>
        </p:nvSpPr>
        <p:spPr>
          <a:xfrm>
            <a:off x="3441760" y="3766602"/>
            <a:ext cx="8078110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трейдера нефтепродуктов маржа тонкая, EBITDA рисуется легко. Доля налогов в выручке занижена</a:t>
            </a:r>
            <a:endParaRPr lang="en-US" sz="1200" dirty="0"/>
          </a:p>
        </p:txBody>
      </p:sp>
      <p:sp>
        <p:nvSpPr>
          <p:cNvPr id="25" name="evrotrans-box-24"/>
          <p:cNvSpPr/>
          <p:nvPr/>
        </p:nvSpPr>
        <p:spPr>
          <a:xfrm>
            <a:off x="815975" y="4039493"/>
            <a:ext cx="10560050" cy="539552"/>
          </a:xfrm>
          <a:prstGeom prst="rect">
            <a:avLst/>
          </a:prstGeom>
          <a:solidFill>
            <a:srgbClr val="F6DFDA"/>
          </a:solidFill>
          <a:ln/>
        </p:spPr>
      </p:sp>
      <p:sp>
        <p:nvSpPr>
          <p:cNvPr id="26" name="evrotrans-line-25"/>
          <p:cNvSpPr/>
          <p:nvPr/>
        </p:nvSpPr>
        <p:spPr>
          <a:xfrm>
            <a:off x="815975" y="4579045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evrotrans-text-26"/>
          <p:cNvSpPr txBox="1"/>
          <p:nvPr/>
        </p:nvSpPr>
        <p:spPr>
          <a:xfrm>
            <a:off x="907415" y="4092833"/>
            <a:ext cx="242200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Флаги-стопы</a:t>
            </a:r>
            <a:endParaRPr lang="en-US" sz="1200" dirty="0"/>
          </a:p>
        </p:txBody>
      </p:sp>
      <p:sp>
        <p:nvSpPr>
          <p:cNvPr id="28" name="evrotrans-line-27"/>
          <p:cNvSpPr/>
          <p:nvPr/>
        </p:nvSpPr>
        <p:spPr>
          <a:xfrm>
            <a:off x="3350320" y="4579045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evrotrans-text-28"/>
          <p:cNvSpPr txBox="1"/>
          <p:nvPr/>
        </p:nvSpPr>
        <p:spPr>
          <a:xfrm>
            <a:off x="3441760" y="4092833"/>
            <a:ext cx="8078110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марта АКРА отзывает рейтинг по инициативе компании, 19 марта — техдефолт по народным облигациям. К сентябрю дефолты по всем десяти выпускам</a:t>
            </a:r>
            <a:endParaRPr lang="en-US" sz="1200" dirty="0"/>
          </a:p>
        </p:txBody>
      </p:sp>
      <p:sp>
        <p:nvSpPr>
          <p:cNvPr id="30" name="evrotrans-text-2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24:00–26:00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разбор Евротранса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rotrans-capex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БЫЛО ВИДНО ЗАРАНЕЕ</a:t>
            </a:r>
            <a:endParaRPr lang="en-US" sz="1200" dirty="0"/>
          </a:p>
        </p:txBody>
      </p:sp>
      <p:sp>
        <p:nvSpPr>
          <p:cNvPr id="3" name="evrotrans-capex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Капекс: здания и оборудование</a:t>
            </a:r>
            <a:endParaRPr lang="en-US" sz="2800" dirty="0"/>
          </a:p>
        </p:txBody>
      </p:sp>
      <p:sp>
        <p:nvSpPr>
          <p:cNvPr id="4" name="evrotrans-capex-text-3"/>
          <p:cNvSpPr txBox="1"/>
          <p:nvPr/>
        </p:nvSpPr>
        <p:spPr>
          <a:xfrm>
            <a:off x="812800" y="1818481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00" dirty="0"/>
          </a:p>
        </p:txBody>
      </p:sp>
      <p:sp>
        <p:nvSpPr>
          <p:cNvPr id="5" name="evrotrans-capex-box-4"/>
          <p:cNvSpPr/>
          <p:nvPr/>
        </p:nvSpPr>
        <p:spPr>
          <a:xfrm>
            <a:off x="1981200" y="1798141"/>
            <a:ext cx="349250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6" name="evrotrans-capex-box-5"/>
          <p:cNvSpPr/>
          <p:nvPr/>
        </p:nvSpPr>
        <p:spPr>
          <a:xfrm>
            <a:off x="5473700" y="1798141"/>
            <a:ext cx="349250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7" name="evrotrans-capex-text-6"/>
          <p:cNvSpPr txBox="1"/>
          <p:nvPr/>
        </p:nvSpPr>
        <p:spPr>
          <a:xfrm>
            <a:off x="9118600" y="1765201"/>
            <a:ext cx="4712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: 1</a:t>
            </a:r>
            <a:endParaRPr lang="en-US" sz="1800" dirty="0"/>
          </a:p>
        </p:txBody>
      </p:sp>
      <p:sp>
        <p:nvSpPr>
          <p:cNvPr id="8" name="evrotrans-capex-text-7"/>
          <p:cNvSpPr txBox="1"/>
          <p:nvPr/>
        </p:nvSpPr>
        <p:spPr>
          <a:xfrm>
            <a:off x="812800" y="2265462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</a:t>
            </a:r>
            <a:endParaRPr lang="en-US" sz="1200" dirty="0"/>
          </a:p>
        </p:txBody>
      </p:sp>
      <p:sp>
        <p:nvSpPr>
          <p:cNvPr id="9" name="evrotrans-capex-box-8"/>
          <p:cNvSpPr/>
          <p:nvPr/>
        </p:nvSpPr>
        <p:spPr>
          <a:xfrm>
            <a:off x="1981200" y="2245122"/>
            <a:ext cx="621030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10" name="evrotrans-capex-box-9"/>
          <p:cNvSpPr/>
          <p:nvPr/>
        </p:nvSpPr>
        <p:spPr>
          <a:xfrm>
            <a:off x="8191500" y="2245122"/>
            <a:ext cx="77470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11" name="evrotrans-capex-text-10"/>
          <p:cNvSpPr txBox="1"/>
          <p:nvPr/>
        </p:nvSpPr>
        <p:spPr>
          <a:xfrm>
            <a:off x="9118600" y="2212181"/>
            <a:ext cx="4712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: 1</a:t>
            </a:r>
            <a:endParaRPr lang="en-US" sz="1800" dirty="0"/>
          </a:p>
        </p:txBody>
      </p:sp>
      <p:sp>
        <p:nvSpPr>
          <p:cNvPr id="12" name="evrotrans-capex-text-11"/>
          <p:cNvSpPr txBox="1"/>
          <p:nvPr/>
        </p:nvSpPr>
        <p:spPr>
          <a:xfrm>
            <a:off x="812800" y="2712442"/>
            <a:ext cx="10464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1П 2025</a:t>
            </a:r>
            <a:endParaRPr lang="en-US" sz="1200" dirty="0"/>
          </a:p>
        </p:txBody>
      </p:sp>
      <p:sp>
        <p:nvSpPr>
          <p:cNvPr id="13" name="evrotrans-capex-box-12"/>
          <p:cNvSpPr/>
          <p:nvPr/>
        </p:nvSpPr>
        <p:spPr>
          <a:xfrm>
            <a:off x="1981200" y="2692102"/>
            <a:ext cx="6597650" cy="254000"/>
          </a:xfrm>
          <a:prstGeom prst="rect">
            <a:avLst/>
          </a:prstGeom>
          <a:solidFill>
            <a:srgbClr val="1B6855"/>
          </a:solidFill>
          <a:ln/>
        </p:spPr>
      </p:sp>
      <p:sp>
        <p:nvSpPr>
          <p:cNvPr id="14" name="evrotrans-capex-box-13"/>
          <p:cNvSpPr/>
          <p:nvPr/>
        </p:nvSpPr>
        <p:spPr>
          <a:xfrm>
            <a:off x="8578850" y="2692102"/>
            <a:ext cx="387350" cy="254000"/>
          </a:xfrm>
          <a:prstGeom prst="rect">
            <a:avLst/>
          </a:prstGeom>
          <a:solidFill>
            <a:srgbClr val="A6B3AB"/>
          </a:solidFill>
          <a:ln/>
        </p:spPr>
      </p:sp>
      <p:sp>
        <p:nvSpPr>
          <p:cNvPr id="15" name="evrotrans-capex-text-14"/>
          <p:cNvSpPr txBox="1"/>
          <p:nvPr/>
        </p:nvSpPr>
        <p:spPr>
          <a:xfrm>
            <a:off x="9118600" y="2659162"/>
            <a:ext cx="602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: 1</a:t>
            </a:r>
            <a:endParaRPr lang="en-US" sz="1800" dirty="0"/>
          </a:p>
        </p:txBody>
      </p:sp>
      <p:sp>
        <p:nvSpPr>
          <p:cNvPr id="16" name="evrotrans-capex-text-15"/>
          <p:cNvSpPr txBox="1"/>
          <p:nvPr/>
        </p:nvSpPr>
        <p:spPr>
          <a:xfrm>
            <a:off x="812800" y="310614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Тёмная часть полосы — капекс в здания, светлая — в оборудование.</a:t>
            </a:r>
            <a:endParaRPr lang="en-US" sz="1200" dirty="0"/>
          </a:p>
        </p:txBody>
      </p:sp>
      <p:sp>
        <p:nvSpPr>
          <p:cNvPr id="17" name="evrotrans-capex-text-16"/>
          <p:cNvSpPr txBox="1"/>
          <p:nvPr/>
        </p:nvSpPr>
        <p:spPr>
          <a:xfrm>
            <a:off x="812800" y="3573463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полтора года капекс в здания вырос вчетверо, в оборудование упал в десять раз. 11,8 млрд ₽ в «зданиях» на шесть станций максимум. Подрядчики в отчётности не раскрыты.</a:t>
            </a:r>
            <a:endParaRPr lang="en-US" sz="1400" dirty="0"/>
          </a:p>
        </p:txBody>
      </p:sp>
      <p:sp>
        <p:nvSpPr>
          <p:cNvPr id="18" name="evrotrans-capex-box-17"/>
          <p:cNvSpPr/>
          <p:nvPr/>
        </p:nvSpPr>
        <p:spPr>
          <a:xfrm>
            <a:off x="812800" y="4343003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19" name="evrotrans-capex-text-18"/>
          <p:cNvSpPr txBox="1"/>
          <p:nvPr/>
        </p:nvSpPr>
        <p:spPr>
          <a:xfrm>
            <a:off x="1066800" y="4546203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года компания исправно платила высокие купоны. Анализ — половина дела, вторая половина — вовремя выйти.</a:t>
            </a:r>
            <a:endParaRPr lang="en-US" sz="1800" dirty="0"/>
          </a:p>
        </p:txBody>
      </p:sp>
      <p:sp>
        <p:nvSpPr>
          <p:cNvPr id="20" name="evrotrans-capex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24:00–26:00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разбор Евротранса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 · 26:00 · 7 МИНУТ</a:t>
            </a:r>
            <a:endParaRPr lang="en-US" sz="1200" dirty="0"/>
          </a:p>
        </p:txBody>
      </p:sp>
      <p:sp>
        <p:nvSpPr>
          <p:cNvPr id="3" name="romashka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ООО «Ромашка»</a:t>
            </a:r>
            <a:endParaRPr lang="en-US" sz="2800" dirty="0"/>
          </a:p>
        </p:txBody>
      </p:sp>
      <p:sp>
        <p:nvSpPr>
          <p:cNvPr id="4" name="romashka-box-3"/>
          <p:cNvSpPr/>
          <p:nvPr/>
        </p:nvSpPr>
        <p:spPr>
          <a:xfrm>
            <a:off x="812800" y="1765201"/>
            <a:ext cx="5435600" cy="4076799"/>
          </a:xfrm>
          <a:prstGeom prst="roundRect">
            <a:avLst>
              <a:gd name="adj" fmla="val 559"/>
            </a:avLst>
          </a:prstGeom>
          <a:solidFill>
            <a:srgbClr val="D9EAE2"/>
          </a:solidFill>
          <a:ln/>
        </p:spPr>
      </p:sp>
      <p:sp>
        <p:nvSpPr>
          <p:cNvPr id="5" name="romashka-text-4"/>
          <p:cNvSpPr txBox="1"/>
          <p:nvPr/>
        </p:nvSpPr>
        <p:spPr>
          <a:xfrm>
            <a:off x="1117600" y="2070001"/>
            <a:ext cx="4970780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эмитент, все цифры условные. Производственная компания, облигации на рынке ВДО, отчётность только по РСБУ.</a:t>
            </a:r>
            <a:endParaRPr lang="en-US" sz="1400" dirty="0"/>
          </a:p>
        </p:txBody>
      </p:sp>
      <p:sp>
        <p:nvSpPr>
          <p:cNvPr id="6" name="romashka-text-5"/>
          <p:cNvSpPr txBox="1"/>
          <p:nvPr/>
        </p:nvSpPr>
        <p:spPr>
          <a:xfrm>
            <a:off x="1117600" y="4010720"/>
            <a:ext cx="49707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ДОХОДНОСТЬ ВЫПУСКОВ К ПОГАШЕНИЮ</a:t>
            </a:r>
            <a:endParaRPr lang="en-US" sz="1200" dirty="0"/>
          </a:p>
        </p:txBody>
      </p:sp>
      <p:sp>
        <p:nvSpPr>
          <p:cNvPr id="7" name="romashka-text-6"/>
          <p:cNvSpPr txBox="1"/>
          <p:nvPr/>
        </p:nvSpPr>
        <p:spPr>
          <a:xfrm>
            <a:off x="1117600" y="4325640"/>
            <a:ext cx="497078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400" dirty="0"/>
          </a:p>
        </p:txBody>
      </p:sp>
      <p:sp>
        <p:nvSpPr>
          <p:cNvPr id="8" name="romashka-text-7"/>
          <p:cNvSpPr txBox="1"/>
          <p:nvPr/>
        </p:nvSpPr>
        <p:spPr>
          <a:xfrm>
            <a:off x="1117600" y="5240040"/>
            <a:ext cx="49707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Покупать?</a:t>
            </a:r>
            <a:endParaRPr lang="en-US" sz="1800" dirty="0"/>
          </a:p>
        </p:txBody>
      </p:sp>
      <p:sp>
        <p:nvSpPr>
          <p:cNvPr id="9" name="romashka-text-8"/>
          <p:cNvSpPr txBox="1"/>
          <p:nvPr/>
        </p:nvSpPr>
        <p:spPr>
          <a:xfrm>
            <a:off x="6553200" y="1765201"/>
            <a:ext cx="49707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ЗАДАНИЯ</a:t>
            </a:r>
            <a:endParaRPr lang="en-US" sz="1200" dirty="0"/>
          </a:p>
        </p:txBody>
      </p:sp>
      <p:sp>
        <p:nvSpPr>
          <p:cNvPr id="10" name="romashka-text-9"/>
          <p:cNvSpPr txBox="1"/>
          <p:nvPr/>
        </p:nvSpPr>
        <p:spPr>
          <a:xfrm>
            <a:off x="6553200" y="2130921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romashka-text-10"/>
          <p:cNvSpPr txBox="1"/>
          <p:nvPr/>
        </p:nvSpPr>
        <p:spPr>
          <a:xfrm>
            <a:off x="7010400" y="2181721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разрыв между деньгами и выплатами на полгода</a:t>
            </a:r>
            <a:endParaRPr lang="en-US" sz="1400" dirty="0"/>
          </a:p>
        </p:txBody>
      </p:sp>
      <p:sp>
        <p:nvSpPr>
          <p:cNvPr id="12" name="romashka-text-11"/>
          <p:cNvSpPr txBox="1"/>
          <p:nvPr/>
        </p:nvSpPr>
        <p:spPr>
          <a:xfrm>
            <a:off x="6553200" y="2831802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romashka-text-12"/>
          <p:cNvSpPr txBox="1"/>
          <p:nvPr/>
        </p:nvSpPr>
        <p:spPr>
          <a:xfrm>
            <a:off x="7010400" y="2882602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чистый долг / EBITDA: как в презентации компании и с учётом факторинга</a:t>
            </a:r>
            <a:endParaRPr lang="en-US" sz="1400" dirty="0"/>
          </a:p>
        </p:txBody>
      </p:sp>
      <p:sp>
        <p:nvSpPr>
          <p:cNvPr id="14" name="romashka-text-13"/>
          <p:cNvSpPr txBox="1"/>
          <p:nvPr/>
        </p:nvSpPr>
        <p:spPr>
          <a:xfrm>
            <a:off x="6553200" y="3532684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romashka-text-14"/>
          <p:cNvSpPr txBox="1"/>
          <p:nvPr/>
        </p:nvSpPr>
        <p:spPr>
          <a:xfrm>
            <a:off x="7010400" y="3583484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Сравните покрытие процентов по отчёту о финансовых результатах и деньгами</a:t>
            </a:r>
            <a:endParaRPr lang="en-US" sz="1400" dirty="0"/>
          </a:p>
        </p:txBody>
      </p:sp>
      <p:sp>
        <p:nvSpPr>
          <p:cNvPr id="16" name="romashka-text-15"/>
          <p:cNvSpPr txBox="1"/>
          <p:nvPr/>
        </p:nvSpPr>
        <p:spPr>
          <a:xfrm>
            <a:off x="6553200" y="4233565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romashka-text-16"/>
          <p:cNvSpPr txBox="1"/>
          <p:nvPr/>
        </p:nvSpPr>
        <p:spPr>
          <a:xfrm>
            <a:off x="7010400" y="4284365"/>
            <a:ext cx="44998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Ответьте на три вопроса и вынесите вердикт. А если бумага уже в портфеле?</a:t>
            </a:r>
            <a:endParaRPr lang="en-US" sz="1400" dirty="0"/>
          </a:p>
        </p:txBody>
      </p:sp>
      <p:sp>
        <p:nvSpPr>
          <p:cNvPr id="18" name="romashka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report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ОТЧЁТНОСТЬ ПО РСБУ · МЛН ₽</a:t>
            </a:r>
            <a:endParaRPr lang="en-US" sz="1200" dirty="0"/>
          </a:p>
        </p:txBody>
      </p:sp>
      <p:sp>
        <p:nvSpPr>
          <p:cNvPr id="3" name="romashka-report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Ромашка: баланс и потоки</a:t>
            </a:r>
            <a:endParaRPr lang="en-US" sz="2800" dirty="0"/>
          </a:p>
        </p:txBody>
      </p:sp>
      <p:sp>
        <p:nvSpPr>
          <p:cNvPr id="4" name="romashka-reports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БАЛАНС</a:t>
            </a:r>
            <a:endParaRPr lang="en-US" sz="1200" dirty="0"/>
          </a:p>
        </p:txBody>
      </p:sp>
      <p:sp>
        <p:nvSpPr>
          <p:cNvPr id="5" name="romashka-reports-box-4"/>
          <p:cNvSpPr/>
          <p:nvPr/>
        </p:nvSpPr>
        <p:spPr>
          <a:xfrm>
            <a:off x="812800" y="2080121"/>
            <a:ext cx="5700911" cy="1963738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romashka-reports-line-5"/>
          <p:cNvSpPr/>
          <p:nvPr/>
        </p:nvSpPr>
        <p:spPr>
          <a:xfrm>
            <a:off x="815975" y="2409527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romashka-reports-text-6"/>
          <p:cNvSpPr txBox="1"/>
          <p:nvPr/>
        </p:nvSpPr>
        <p:spPr>
          <a:xfrm>
            <a:off x="907415" y="2136636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8" name="romashka-reports-line-7"/>
          <p:cNvSpPr/>
          <p:nvPr/>
        </p:nvSpPr>
        <p:spPr>
          <a:xfrm>
            <a:off x="3435449" y="2409527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romashka-reports-text-8"/>
          <p:cNvSpPr txBox="1"/>
          <p:nvPr/>
        </p:nvSpPr>
        <p:spPr>
          <a:xfrm>
            <a:off x="3526889" y="2136636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200" dirty="0"/>
          </a:p>
        </p:txBody>
      </p:sp>
      <p:sp>
        <p:nvSpPr>
          <p:cNvPr id="10" name="romashka-reports-line-9"/>
          <p:cNvSpPr/>
          <p:nvPr/>
        </p:nvSpPr>
        <p:spPr>
          <a:xfrm>
            <a:off x="4232672" y="2409527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romashka-reports-text-10"/>
          <p:cNvSpPr txBox="1"/>
          <p:nvPr/>
        </p:nvSpPr>
        <p:spPr>
          <a:xfrm>
            <a:off x="4295433" y="2136636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года</a:t>
            </a:r>
            <a:endParaRPr lang="en-US" sz="1200" dirty="0"/>
          </a:p>
        </p:txBody>
      </p:sp>
      <p:sp>
        <p:nvSpPr>
          <p:cNvPr id="12" name="romashka-reports-line-11"/>
          <p:cNvSpPr/>
          <p:nvPr/>
        </p:nvSpPr>
        <p:spPr>
          <a:xfrm>
            <a:off x="5371505" y="2409527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romashka-reports-text-12"/>
          <p:cNvSpPr txBox="1"/>
          <p:nvPr/>
        </p:nvSpPr>
        <p:spPr>
          <a:xfrm>
            <a:off x="5434260" y="2136636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года</a:t>
            </a:r>
            <a:endParaRPr lang="en-US" sz="1200" dirty="0"/>
          </a:p>
        </p:txBody>
      </p:sp>
      <p:sp>
        <p:nvSpPr>
          <p:cNvPr id="14" name="romashka-reports-line-13"/>
          <p:cNvSpPr/>
          <p:nvPr/>
        </p:nvSpPr>
        <p:spPr>
          <a:xfrm>
            <a:off x="815975" y="2735759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romashka-reports-text-14"/>
          <p:cNvSpPr txBox="1"/>
          <p:nvPr/>
        </p:nvSpPr>
        <p:spPr>
          <a:xfrm>
            <a:off x="907415" y="2462867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Займы выданные</a:t>
            </a:r>
            <a:endParaRPr lang="en-US" sz="1200" dirty="0"/>
          </a:p>
        </p:txBody>
      </p:sp>
      <p:sp>
        <p:nvSpPr>
          <p:cNvPr id="16" name="romashka-reports-line-15"/>
          <p:cNvSpPr/>
          <p:nvPr/>
        </p:nvSpPr>
        <p:spPr>
          <a:xfrm>
            <a:off x="3435449" y="2735759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romashka-reports-text-16"/>
          <p:cNvSpPr txBox="1"/>
          <p:nvPr/>
        </p:nvSpPr>
        <p:spPr>
          <a:xfrm>
            <a:off x="3526889" y="2462867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1240</a:t>
            </a:r>
            <a:endParaRPr lang="en-US" sz="1200" dirty="0"/>
          </a:p>
        </p:txBody>
      </p:sp>
      <p:sp>
        <p:nvSpPr>
          <p:cNvPr id="18" name="romashka-reports-line-17"/>
          <p:cNvSpPr/>
          <p:nvPr/>
        </p:nvSpPr>
        <p:spPr>
          <a:xfrm>
            <a:off x="4232672" y="2735759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romashka-reports-text-18"/>
          <p:cNvSpPr txBox="1"/>
          <p:nvPr/>
        </p:nvSpPr>
        <p:spPr>
          <a:xfrm>
            <a:off x="4324112" y="2462867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1200" dirty="0"/>
          </a:p>
        </p:txBody>
      </p:sp>
      <p:sp>
        <p:nvSpPr>
          <p:cNvPr id="20" name="romashka-reports-line-19"/>
          <p:cNvSpPr/>
          <p:nvPr/>
        </p:nvSpPr>
        <p:spPr>
          <a:xfrm>
            <a:off x="5371505" y="2735759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romashka-reports-text-20"/>
          <p:cNvSpPr txBox="1"/>
          <p:nvPr/>
        </p:nvSpPr>
        <p:spPr>
          <a:xfrm>
            <a:off x="5462945" y="2462867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  <p:sp>
        <p:nvSpPr>
          <p:cNvPr id="22" name="romashka-reports-line-21"/>
          <p:cNvSpPr/>
          <p:nvPr/>
        </p:nvSpPr>
        <p:spPr>
          <a:xfrm>
            <a:off x="815975" y="3061990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romashka-reports-text-22"/>
          <p:cNvSpPr txBox="1"/>
          <p:nvPr/>
        </p:nvSpPr>
        <p:spPr>
          <a:xfrm>
            <a:off x="907415" y="2789099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200" dirty="0"/>
          </a:p>
        </p:txBody>
      </p:sp>
      <p:sp>
        <p:nvSpPr>
          <p:cNvPr id="24" name="romashka-reports-line-23"/>
          <p:cNvSpPr/>
          <p:nvPr/>
        </p:nvSpPr>
        <p:spPr>
          <a:xfrm>
            <a:off x="3435449" y="3061990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romashka-reports-text-24"/>
          <p:cNvSpPr txBox="1"/>
          <p:nvPr/>
        </p:nvSpPr>
        <p:spPr>
          <a:xfrm>
            <a:off x="3526889" y="2789099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1250</a:t>
            </a:r>
            <a:endParaRPr lang="en-US" sz="1200" dirty="0"/>
          </a:p>
        </p:txBody>
      </p:sp>
      <p:sp>
        <p:nvSpPr>
          <p:cNvPr id="26" name="romashka-reports-line-25"/>
          <p:cNvSpPr/>
          <p:nvPr/>
        </p:nvSpPr>
        <p:spPr>
          <a:xfrm>
            <a:off x="4232672" y="3061990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romashka-reports-text-26"/>
          <p:cNvSpPr txBox="1"/>
          <p:nvPr/>
        </p:nvSpPr>
        <p:spPr>
          <a:xfrm>
            <a:off x="4324112" y="2789099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1200" dirty="0"/>
          </a:p>
        </p:txBody>
      </p:sp>
      <p:sp>
        <p:nvSpPr>
          <p:cNvPr id="28" name="romashka-reports-line-27"/>
          <p:cNvSpPr/>
          <p:nvPr/>
        </p:nvSpPr>
        <p:spPr>
          <a:xfrm>
            <a:off x="5371505" y="3061990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romashka-reports-text-28"/>
          <p:cNvSpPr txBox="1"/>
          <p:nvPr/>
        </p:nvSpPr>
        <p:spPr>
          <a:xfrm>
            <a:off x="5462945" y="2789099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</a:t>
            </a:r>
            <a:endParaRPr lang="en-US" sz="1200" dirty="0"/>
          </a:p>
        </p:txBody>
      </p:sp>
      <p:sp>
        <p:nvSpPr>
          <p:cNvPr id="30" name="romashka-reports-line-29"/>
          <p:cNvSpPr/>
          <p:nvPr/>
        </p:nvSpPr>
        <p:spPr>
          <a:xfrm>
            <a:off x="815975" y="3388221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romashka-reports-text-30"/>
          <p:cNvSpPr txBox="1"/>
          <p:nvPr/>
        </p:nvSpPr>
        <p:spPr>
          <a:xfrm>
            <a:off x="907415" y="3115330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 и резервы</a:t>
            </a:r>
            <a:endParaRPr lang="en-US" sz="1200" dirty="0"/>
          </a:p>
        </p:txBody>
      </p:sp>
      <p:sp>
        <p:nvSpPr>
          <p:cNvPr id="32" name="romashka-reports-line-31"/>
          <p:cNvSpPr/>
          <p:nvPr/>
        </p:nvSpPr>
        <p:spPr>
          <a:xfrm>
            <a:off x="3435449" y="3388221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romashka-reports-text-32"/>
          <p:cNvSpPr txBox="1"/>
          <p:nvPr/>
        </p:nvSpPr>
        <p:spPr>
          <a:xfrm>
            <a:off x="3526889" y="3115330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</a:t>
            </a:r>
            <a:endParaRPr lang="en-US" sz="1200" dirty="0"/>
          </a:p>
        </p:txBody>
      </p:sp>
      <p:sp>
        <p:nvSpPr>
          <p:cNvPr id="34" name="romashka-reports-line-33"/>
          <p:cNvSpPr/>
          <p:nvPr/>
        </p:nvSpPr>
        <p:spPr>
          <a:xfrm>
            <a:off x="4232672" y="3388221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5" name="romashka-reports-text-34"/>
          <p:cNvSpPr txBox="1"/>
          <p:nvPr/>
        </p:nvSpPr>
        <p:spPr>
          <a:xfrm>
            <a:off x="4324112" y="3115330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</a:t>
            </a:r>
            <a:endParaRPr lang="en-US" sz="1200" dirty="0"/>
          </a:p>
        </p:txBody>
      </p:sp>
      <p:sp>
        <p:nvSpPr>
          <p:cNvPr id="36" name="romashka-reports-line-35"/>
          <p:cNvSpPr/>
          <p:nvPr/>
        </p:nvSpPr>
        <p:spPr>
          <a:xfrm>
            <a:off x="5371505" y="3388221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7" name="romashka-reports-text-36"/>
          <p:cNvSpPr txBox="1"/>
          <p:nvPr/>
        </p:nvSpPr>
        <p:spPr>
          <a:xfrm>
            <a:off x="5462945" y="3115330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875</a:t>
            </a:r>
            <a:endParaRPr lang="en-US" sz="1200" dirty="0"/>
          </a:p>
        </p:txBody>
      </p:sp>
      <p:sp>
        <p:nvSpPr>
          <p:cNvPr id="38" name="romashka-reports-line-37"/>
          <p:cNvSpPr/>
          <p:nvPr/>
        </p:nvSpPr>
        <p:spPr>
          <a:xfrm>
            <a:off x="815975" y="3714452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romashka-reports-text-38"/>
          <p:cNvSpPr txBox="1"/>
          <p:nvPr/>
        </p:nvSpPr>
        <p:spPr>
          <a:xfrm>
            <a:off x="907415" y="3441561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Заёмные, долгосрочные</a:t>
            </a:r>
            <a:endParaRPr lang="en-US" sz="1200" dirty="0"/>
          </a:p>
        </p:txBody>
      </p:sp>
      <p:sp>
        <p:nvSpPr>
          <p:cNvPr id="40" name="romashka-reports-line-39"/>
          <p:cNvSpPr/>
          <p:nvPr/>
        </p:nvSpPr>
        <p:spPr>
          <a:xfrm>
            <a:off x="3435449" y="3714452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romashka-reports-text-40"/>
          <p:cNvSpPr txBox="1"/>
          <p:nvPr/>
        </p:nvSpPr>
        <p:spPr>
          <a:xfrm>
            <a:off x="3526889" y="3441561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1200" dirty="0"/>
          </a:p>
        </p:txBody>
      </p:sp>
      <p:sp>
        <p:nvSpPr>
          <p:cNvPr id="42" name="romashka-reports-line-41"/>
          <p:cNvSpPr/>
          <p:nvPr/>
        </p:nvSpPr>
        <p:spPr>
          <a:xfrm>
            <a:off x="4232672" y="3714452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romashka-reports-text-42"/>
          <p:cNvSpPr txBox="1"/>
          <p:nvPr/>
        </p:nvSpPr>
        <p:spPr>
          <a:xfrm>
            <a:off x="4324112" y="3441561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1200" dirty="0"/>
          </a:p>
        </p:txBody>
      </p:sp>
      <p:sp>
        <p:nvSpPr>
          <p:cNvPr id="44" name="romashka-reports-line-43"/>
          <p:cNvSpPr/>
          <p:nvPr/>
        </p:nvSpPr>
        <p:spPr>
          <a:xfrm>
            <a:off x="5371505" y="3714452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5" name="romashka-reports-text-44"/>
          <p:cNvSpPr txBox="1"/>
          <p:nvPr/>
        </p:nvSpPr>
        <p:spPr>
          <a:xfrm>
            <a:off x="5462945" y="3441561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</a:t>
            </a:r>
            <a:endParaRPr lang="en-US" sz="1200" dirty="0"/>
          </a:p>
        </p:txBody>
      </p:sp>
      <p:sp>
        <p:nvSpPr>
          <p:cNvPr id="46" name="romashka-reports-line-45"/>
          <p:cNvSpPr/>
          <p:nvPr/>
        </p:nvSpPr>
        <p:spPr>
          <a:xfrm>
            <a:off x="815975" y="4040684"/>
            <a:ext cx="261947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7" name="romashka-reports-text-46"/>
          <p:cNvSpPr txBox="1"/>
          <p:nvPr/>
        </p:nvSpPr>
        <p:spPr>
          <a:xfrm>
            <a:off x="907415" y="3767792"/>
            <a:ext cx="25096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Заёмные, краткосрочные</a:t>
            </a:r>
            <a:endParaRPr lang="en-US" sz="1200" dirty="0"/>
          </a:p>
        </p:txBody>
      </p:sp>
      <p:sp>
        <p:nvSpPr>
          <p:cNvPr id="48" name="romashka-reports-line-47"/>
          <p:cNvSpPr/>
          <p:nvPr/>
        </p:nvSpPr>
        <p:spPr>
          <a:xfrm>
            <a:off x="3435449" y="4040684"/>
            <a:ext cx="79722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9" name="romashka-reports-text-48"/>
          <p:cNvSpPr txBox="1"/>
          <p:nvPr/>
        </p:nvSpPr>
        <p:spPr>
          <a:xfrm>
            <a:off x="3526889" y="3767792"/>
            <a:ext cx="63277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1510</a:t>
            </a:r>
            <a:endParaRPr lang="en-US" sz="1200" dirty="0"/>
          </a:p>
        </p:txBody>
      </p:sp>
      <p:sp>
        <p:nvSpPr>
          <p:cNvPr id="50" name="romashka-reports-line-49"/>
          <p:cNvSpPr/>
          <p:nvPr/>
        </p:nvSpPr>
        <p:spPr>
          <a:xfrm>
            <a:off x="4232672" y="4040684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1" name="romashka-reports-text-50"/>
          <p:cNvSpPr txBox="1"/>
          <p:nvPr/>
        </p:nvSpPr>
        <p:spPr>
          <a:xfrm>
            <a:off x="4324112" y="3767792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1 050</a:t>
            </a:r>
            <a:endParaRPr lang="en-US" sz="1200" dirty="0"/>
          </a:p>
        </p:txBody>
      </p:sp>
      <p:sp>
        <p:nvSpPr>
          <p:cNvPr id="52" name="romashka-reports-line-51"/>
          <p:cNvSpPr/>
          <p:nvPr/>
        </p:nvSpPr>
        <p:spPr>
          <a:xfrm>
            <a:off x="5371505" y="4040684"/>
            <a:ext cx="113903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3" name="romashka-reports-text-52"/>
          <p:cNvSpPr txBox="1"/>
          <p:nvPr/>
        </p:nvSpPr>
        <p:spPr>
          <a:xfrm>
            <a:off x="5462945" y="3767792"/>
            <a:ext cx="98483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200" dirty="0"/>
          </a:p>
        </p:txBody>
      </p:sp>
      <p:sp>
        <p:nvSpPr>
          <p:cNvPr id="54" name="romashka-reports-text-53"/>
          <p:cNvSpPr txBox="1"/>
          <p:nvPr/>
        </p:nvSpPr>
        <p:spPr>
          <a:xfrm>
            <a:off x="812800" y="4145459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ФИНАНСОВЫЕ РЕЗУЛЬТАТЫ ЗА ГОД</a:t>
            </a:r>
            <a:endParaRPr lang="en-US" sz="1200" dirty="0"/>
          </a:p>
        </p:txBody>
      </p:sp>
      <p:sp>
        <p:nvSpPr>
          <p:cNvPr id="55" name="romashka-reports-box-54"/>
          <p:cNvSpPr/>
          <p:nvPr/>
        </p:nvSpPr>
        <p:spPr>
          <a:xfrm>
            <a:off x="812800" y="4460379"/>
            <a:ext cx="5700911" cy="1311275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6" name="romashka-reports-line-55"/>
          <p:cNvSpPr/>
          <p:nvPr/>
        </p:nvSpPr>
        <p:spPr>
          <a:xfrm>
            <a:off x="815975" y="4789785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7" name="romashka-reports-text-56"/>
          <p:cNvSpPr txBox="1"/>
          <p:nvPr/>
        </p:nvSpPr>
        <p:spPr>
          <a:xfrm>
            <a:off x="907415" y="4516894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200" dirty="0"/>
          </a:p>
        </p:txBody>
      </p:sp>
      <p:sp>
        <p:nvSpPr>
          <p:cNvPr id="58" name="romashka-reports-line-57"/>
          <p:cNvSpPr/>
          <p:nvPr/>
        </p:nvSpPr>
        <p:spPr>
          <a:xfrm>
            <a:off x="4232771" y="4789785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9" name="romashka-reports-text-58"/>
          <p:cNvSpPr txBox="1"/>
          <p:nvPr/>
        </p:nvSpPr>
        <p:spPr>
          <a:xfrm>
            <a:off x="4324211" y="4516894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2110</a:t>
            </a:r>
            <a:endParaRPr lang="en-US" sz="1200" dirty="0"/>
          </a:p>
        </p:txBody>
      </p:sp>
      <p:sp>
        <p:nvSpPr>
          <p:cNvPr id="60" name="romashka-reports-line-59"/>
          <p:cNvSpPr/>
          <p:nvPr/>
        </p:nvSpPr>
        <p:spPr>
          <a:xfrm>
            <a:off x="5371604" y="4789785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1" name="romashka-reports-text-60"/>
          <p:cNvSpPr txBox="1"/>
          <p:nvPr/>
        </p:nvSpPr>
        <p:spPr>
          <a:xfrm>
            <a:off x="5434362" y="4516894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6 000</a:t>
            </a:r>
            <a:endParaRPr lang="en-US" sz="1200" dirty="0"/>
          </a:p>
        </p:txBody>
      </p:sp>
      <p:sp>
        <p:nvSpPr>
          <p:cNvPr id="62" name="romashka-reports-line-61"/>
          <p:cNvSpPr/>
          <p:nvPr/>
        </p:nvSpPr>
        <p:spPr>
          <a:xfrm>
            <a:off x="815975" y="5116016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3" name="romashka-reports-text-62"/>
          <p:cNvSpPr txBox="1"/>
          <p:nvPr/>
        </p:nvSpPr>
        <p:spPr>
          <a:xfrm>
            <a:off x="907415" y="4843125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от продаж</a:t>
            </a:r>
            <a:endParaRPr lang="en-US" sz="1200" dirty="0"/>
          </a:p>
        </p:txBody>
      </p:sp>
      <p:sp>
        <p:nvSpPr>
          <p:cNvPr id="64" name="romashka-reports-line-63"/>
          <p:cNvSpPr/>
          <p:nvPr/>
        </p:nvSpPr>
        <p:spPr>
          <a:xfrm>
            <a:off x="4232771" y="5116016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5" name="romashka-reports-text-64"/>
          <p:cNvSpPr txBox="1"/>
          <p:nvPr/>
        </p:nvSpPr>
        <p:spPr>
          <a:xfrm>
            <a:off x="4324211" y="4843125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</a:t>
            </a:r>
            <a:endParaRPr lang="en-US" sz="1200" dirty="0"/>
          </a:p>
        </p:txBody>
      </p:sp>
      <p:sp>
        <p:nvSpPr>
          <p:cNvPr id="66" name="romashka-reports-line-65"/>
          <p:cNvSpPr/>
          <p:nvPr/>
        </p:nvSpPr>
        <p:spPr>
          <a:xfrm>
            <a:off x="5371604" y="5116016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7" name="romashka-reports-text-66"/>
          <p:cNvSpPr txBox="1"/>
          <p:nvPr/>
        </p:nvSpPr>
        <p:spPr>
          <a:xfrm>
            <a:off x="5463044" y="4843125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en-US" sz="1200" dirty="0"/>
          </a:p>
        </p:txBody>
      </p:sp>
      <p:sp>
        <p:nvSpPr>
          <p:cNvPr id="68" name="romashka-reports-line-67"/>
          <p:cNvSpPr/>
          <p:nvPr/>
        </p:nvSpPr>
        <p:spPr>
          <a:xfrm>
            <a:off x="815975" y="5442248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9" name="romashka-reports-text-68"/>
          <p:cNvSpPr txBox="1"/>
          <p:nvPr/>
        </p:nvSpPr>
        <p:spPr>
          <a:xfrm>
            <a:off x="907415" y="5169356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к уплате</a:t>
            </a:r>
            <a:endParaRPr lang="en-US" sz="1200" dirty="0"/>
          </a:p>
        </p:txBody>
      </p:sp>
      <p:sp>
        <p:nvSpPr>
          <p:cNvPr id="70" name="romashka-reports-line-69"/>
          <p:cNvSpPr/>
          <p:nvPr/>
        </p:nvSpPr>
        <p:spPr>
          <a:xfrm>
            <a:off x="4232771" y="5442248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1" name="romashka-reports-text-70"/>
          <p:cNvSpPr txBox="1"/>
          <p:nvPr/>
        </p:nvSpPr>
        <p:spPr>
          <a:xfrm>
            <a:off x="4324211" y="5169356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2330</a:t>
            </a:r>
            <a:endParaRPr lang="en-US" sz="1200" dirty="0"/>
          </a:p>
        </p:txBody>
      </p:sp>
      <p:sp>
        <p:nvSpPr>
          <p:cNvPr id="72" name="romashka-reports-line-71"/>
          <p:cNvSpPr/>
          <p:nvPr/>
        </p:nvSpPr>
        <p:spPr>
          <a:xfrm>
            <a:off x="5371604" y="5442248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3" name="romashka-reports-text-72"/>
          <p:cNvSpPr txBox="1"/>
          <p:nvPr/>
        </p:nvSpPr>
        <p:spPr>
          <a:xfrm>
            <a:off x="5463044" y="5169356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(290)</a:t>
            </a:r>
            <a:endParaRPr lang="en-US" sz="1200" dirty="0"/>
          </a:p>
        </p:txBody>
      </p:sp>
      <p:sp>
        <p:nvSpPr>
          <p:cNvPr id="74" name="romashka-reports-line-73"/>
          <p:cNvSpPr/>
          <p:nvPr/>
        </p:nvSpPr>
        <p:spPr>
          <a:xfrm>
            <a:off x="815975" y="5768479"/>
            <a:ext cx="34167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5" name="romashka-reports-text-74"/>
          <p:cNvSpPr txBox="1"/>
          <p:nvPr/>
        </p:nvSpPr>
        <p:spPr>
          <a:xfrm>
            <a:off x="907415" y="5495588"/>
            <a:ext cx="33309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76" name="romashka-reports-line-75"/>
          <p:cNvSpPr/>
          <p:nvPr/>
        </p:nvSpPr>
        <p:spPr>
          <a:xfrm>
            <a:off x="4232771" y="5768479"/>
            <a:ext cx="113883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7" name="romashka-reports-text-76"/>
          <p:cNvSpPr txBox="1"/>
          <p:nvPr/>
        </p:nvSpPr>
        <p:spPr>
          <a:xfrm>
            <a:off x="4324211" y="5495588"/>
            <a:ext cx="98463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1200" dirty="0"/>
          </a:p>
        </p:txBody>
      </p:sp>
      <p:sp>
        <p:nvSpPr>
          <p:cNvPr id="78" name="romashka-reports-line-77"/>
          <p:cNvSpPr/>
          <p:nvPr/>
        </p:nvSpPr>
        <p:spPr>
          <a:xfrm>
            <a:off x="5371604" y="5768479"/>
            <a:ext cx="113893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9" name="romashka-reports-text-78"/>
          <p:cNvSpPr txBox="1"/>
          <p:nvPr/>
        </p:nvSpPr>
        <p:spPr>
          <a:xfrm>
            <a:off x="5463044" y="5495588"/>
            <a:ext cx="98473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</a:t>
            </a:r>
            <a:endParaRPr lang="en-US" sz="1200" dirty="0"/>
          </a:p>
        </p:txBody>
      </p:sp>
      <p:sp>
        <p:nvSpPr>
          <p:cNvPr id="80" name="romashka-reports-text-79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ДВИЖЕНИЕ ДЕНЕГ ЗА ГОД</a:t>
            </a:r>
            <a:endParaRPr lang="en-US" sz="1200" dirty="0"/>
          </a:p>
        </p:txBody>
      </p:sp>
      <p:sp>
        <p:nvSpPr>
          <p:cNvPr id="81" name="romashka-reports-box-80"/>
          <p:cNvSpPr/>
          <p:nvPr/>
        </p:nvSpPr>
        <p:spPr>
          <a:xfrm>
            <a:off x="6818511" y="2080121"/>
            <a:ext cx="4560689" cy="228996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2" name="romashka-reports-box-81"/>
          <p:cNvSpPr/>
          <p:nvPr/>
        </p:nvSpPr>
        <p:spPr>
          <a:xfrm>
            <a:off x="6821686" y="2083296"/>
            <a:ext cx="4554339" cy="326231"/>
          </a:xfrm>
          <a:prstGeom prst="rect">
            <a:avLst/>
          </a:prstGeom>
          <a:solidFill>
            <a:srgbClr val="D9EAE2"/>
          </a:solidFill>
          <a:ln/>
        </p:spPr>
      </p:sp>
      <p:sp>
        <p:nvSpPr>
          <p:cNvPr id="83" name="romashka-reports-line-82"/>
          <p:cNvSpPr/>
          <p:nvPr/>
        </p:nvSpPr>
        <p:spPr>
          <a:xfrm>
            <a:off x="6821686" y="2409527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4" name="romashka-reports-text-83"/>
          <p:cNvSpPr txBox="1"/>
          <p:nvPr/>
        </p:nvSpPr>
        <p:spPr>
          <a:xfrm>
            <a:off x="6913126" y="2136636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Сальдо текущих операций</a:t>
            </a:r>
            <a:endParaRPr lang="en-US" sz="1200" dirty="0"/>
          </a:p>
        </p:txBody>
      </p:sp>
      <p:sp>
        <p:nvSpPr>
          <p:cNvPr id="85" name="romashka-reports-line-84"/>
          <p:cNvSpPr/>
          <p:nvPr/>
        </p:nvSpPr>
        <p:spPr>
          <a:xfrm>
            <a:off x="9463187" y="2409527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6" name="romashka-reports-text-85"/>
          <p:cNvSpPr txBox="1"/>
          <p:nvPr/>
        </p:nvSpPr>
        <p:spPr>
          <a:xfrm>
            <a:off x="9554627" y="2136636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4100</a:t>
            </a:r>
            <a:endParaRPr lang="en-US" sz="1200" dirty="0"/>
          </a:p>
        </p:txBody>
      </p:sp>
      <p:sp>
        <p:nvSpPr>
          <p:cNvPr id="87" name="romashka-reports-line-86"/>
          <p:cNvSpPr/>
          <p:nvPr/>
        </p:nvSpPr>
        <p:spPr>
          <a:xfrm>
            <a:off x="10465098" y="2409527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8" name="romashka-reports-text-87"/>
          <p:cNvSpPr txBox="1"/>
          <p:nvPr/>
        </p:nvSpPr>
        <p:spPr>
          <a:xfrm>
            <a:off x="10534696" y="2136636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1200" dirty="0"/>
          </a:p>
        </p:txBody>
      </p:sp>
      <p:sp>
        <p:nvSpPr>
          <p:cNvPr id="89" name="romashka-reports-line-88"/>
          <p:cNvSpPr/>
          <p:nvPr/>
        </p:nvSpPr>
        <p:spPr>
          <a:xfrm>
            <a:off x="6821686" y="2735759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0" name="romashka-reports-text-89"/>
          <p:cNvSpPr txBox="1"/>
          <p:nvPr/>
        </p:nvSpPr>
        <p:spPr>
          <a:xfrm>
            <a:off x="6913126" y="2462867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т. ч. уплачены проценты</a:t>
            </a:r>
            <a:endParaRPr lang="en-US" sz="1200" dirty="0"/>
          </a:p>
        </p:txBody>
      </p:sp>
      <p:sp>
        <p:nvSpPr>
          <p:cNvPr id="91" name="romashka-reports-line-90"/>
          <p:cNvSpPr/>
          <p:nvPr/>
        </p:nvSpPr>
        <p:spPr>
          <a:xfrm>
            <a:off x="9463187" y="2735759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2" name="romashka-reports-text-91"/>
          <p:cNvSpPr txBox="1"/>
          <p:nvPr/>
        </p:nvSpPr>
        <p:spPr>
          <a:xfrm>
            <a:off x="9554627" y="2462867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4123</a:t>
            </a:r>
            <a:endParaRPr lang="en-US" sz="1200" dirty="0"/>
          </a:p>
        </p:txBody>
      </p:sp>
      <p:sp>
        <p:nvSpPr>
          <p:cNvPr id="93" name="romashka-reports-line-92"/>
          <p:cNvSpPr/>
          <p:nvPr/>
        </p:nvSpPr>
        <p:spPr>
          <a:xfrm>
            <a:off x="10465098" y="2735759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4" name="romashka-reports-text-93"/>
          <p:cNvSpPr txBox="1"/>
          <p:nvPr/>
        </p:nvSpPr>
        <p:spPr>
          <a:xfrm>
            <a:off x="10556538" y="2462867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(250)</a:t>
            </a:r>
            <a:endParaRPr lang="en-US" sz="1200" dirty="0"/>
          </a:p>
        </p:txBody>
      </p:sp>
      <p:sp>
        <p:nvSpPr>
          <p:cNvPr id="95" name="romashka-reports-line-94"/>
          <p:cNvSpPr/>
          <p:nvPr/>
        </p:nvSpPr>
        <p:spPr>
          <a:xfrm>
            <a:off x="6821686" y="3061990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6" name="romashka-reports-text-95"/>
          <p:cNvSpPr txBox="1"/>
          <p:nvPr/>
        </p:nvSpPr>
        <p:spPr>
          <a:xfrm>
            <a:off x="6913126" y="2789099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Капекс</a:t>
            </a:r>
            <a:endParaRPr lang="en-US" sz="1200" dirty="0"/>
          </a:p>
        </p:txBody>
      </p:sp>
      <p:sp>
        <p:nvSpPr>
          <p:cNvPr id="97" name="romashka-reports-line-96"/>
          <p:cNvSpPr/>
          <p:nvPr/>
        </p:nvSpPr>
        <p:spPr>
          <a:xfrm>
            <a:off x="9463187" y="3061990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8" name="romashka-reports-text-97"/>
          <p:cNvSpPr txBox="1"/>
          <p:nvPr/>
        </p:nvSpPr>
        <p:spPr>
          <a:xfrm>
            <a:off x="9554627" y="2789099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4221</a:t>
            </a:r>
            <a:endParaRPr lang="en-US" sz="1200" dirty="0"/>
          </a:p>
        </p:txBody>
      </p:sp>
      <p:sp>
        <p:nvSpPr>
          <p:cNvPr id="99" name="romashka-reports-line-98"/>
          <p:cNvSpPr/>
          <p:nvPr/>
        </p:nvSpPr>
        <p:spPr>
          <a:xfrm>
            <a:off x="10465098" y="3061990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0" name="romashka-reports-text-99"/>
          <p:cNvSpPr txBox="1"/>
          <p:nvPr/>
        </p:nvSpPr>
        <p:spPr>
          <a:xfrm>
            <a:off x="10556538" y="2789099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(380)</a:t>
            </a:r>
            <a:endParaRPr lang="en-US" sz="1200" dirty="0"/>
          </a:p>
        </p:txBody>
      </p:sp>
      <p:sp>
        <p:nvSpPr>
          <p:cNvPr id="101" name="romashka-reports-line-100"/>
          <p:cNvSpPr/>
          <p:nvPr/>
        </p:nvSpPr>
        <p:spPr>
          <a:xfrm>
            <a:off x="6821686" y="3388221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2" name="romashka-reports-text-101"/>
          <p:cNvSpPr txBox="1"/>
          <p:nvPr/>
        </p:nvSpPr>
        <p:spPr>
          <a:xfrm>
            <a:off x="6913126" y="3115330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Займы выданные</a:t>
            </a:r>
            <a:endParaRPr lang="en-US" sz="1200" dirty="0"/>
          </a:p>
        </p:txBody>
      </p:sp>
      <p:sp>
        <p:nvSpPr>
          <p:cNvPr id="103" name="romashka-reports-line-102"/>
          <p:cNvSpPr/>
          <p:nvPr/>
        </p:nvSpPr>
        <p:spPr>
          <a:xfrm>
            <a:off x="9463187" y="3388221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4" name="romashka-reports-text-103"/>
          <p:cNvSpPr txBox="1"/>
          <p:nvPr/>
        </p:nvSpPr>
        <p:spPr>
          <a:xfrm>
            <a:off x="9554627" y="3115330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4223</a:t>
            </a:r>
            <a:endParaRPr lang="en-US" sz="1200" dirty="0"/>
          </a:p>
        </p:txBody>
      </p:sp>
      <p:sp>
        <p:nvSpPr>
          <p:cNvPr id="105" name="romashka-reports-line-104"/>
          <p:cNvSpPr/>
          <p:nvPr/>
        </p:nvSpPr>
        <p:spPr>
          <a:xfrm>
            <a:off x="10465098" y="3388221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6" name="romashka-reports-text-105"/>
          <p:cNvSpPr txBox="1"/>
          <p:nvPr/>
        </p:nvSpPr>
        <p:spPr>
          <a:xfrm>
            <a:off x="10556538" y="3115330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(300)</a:t>
            </a:r>
            <a:endParaRPr lang="en-US" sz="1200" dirty="0"/>
          </a:p>
        </p:txBody>
      </p:sp>
      <p:sp>
        <p:nvSpPr>
          <p:cNvPr id="107" name="romashka-reports-line-106"/>
          <p:cNvSpPr/>
          <p:nvPr/>
        </p:nvSpPr>
        <p:spPr>
          <a:xfrm>
            <a:off x="6821686" y="3714452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8" name="romashka-reports-text-107"/>
          <p:cNvSpPr txBox="1"/>
          <p:nvPr/>
        </p:nvSpPr>
        <p:spPr>
          <a:xfrm>
            <a:off x="6913126" y="3441561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Капитализированные проценты</a:t>
            </a:r>
            <a:endParaRPr lang="en-US" sz="1200" dirty="0"/>
          </a:p>
        </p:txBody>
      </p:sp>
      <p:sp>
        <p:nvSpPr>
          <p:cNvPr id="109" name="romashka-reports-line-108"/>
          <p:cNvSpPr/>
          <p:nvPr/>
        </p:nvSpPr>
        <p:spPr>
          <a:xfrm>
            <a:off x="9463187" y="3714452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0" name="romashka-reports-text-109"/>
          <p:cNvSpPr txBox="1"/>
          <p:nvPr/>
        </p:nvSpPr>
        <p:spPr>
          <a:xfrm>
            <a:off x="9554627" y="3441561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4224</a:t>
            </a:r>
            <a:endParaRPr lang="en-US" sz="1200" dirty="0"/>
          </a:p>
        </p:txBody>
      </p:sp>
      <p:sp>
        <p:nvSpPr>
          <p:cNvPr id="111" name="romashka-reports-line-110"/>
          <p:cNvSpPr/>
          <p:nvPr/>
        </p:nvSpPr>
        <p:spPr>
          <a:xfrm>
            <a:off x="10465098" y="3714452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2" name="romashka-reports-text-111"/>
          <p:cNvSpPr txBox="1"/>
          <p:nvPr/>
        </p:nvSpPr>
        <p:spPr>
          <a:xfrm>
            <a:off x="10556538" y="3441561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(160)</a:t>
            </a:r>
            <a:endParaRPr lang="en-US" sz="1200" dirty="0"/>
          </a:p>
        </p:txBody>
      </p:sp>
      <p:sp>
        <p:nvSpPr>
          <p:cNvPr id="113" name="romashka-reports-line-112"/>
          <p:cNvSpPr/>
          <p:nvPr/>
        </p:nvSpPr>
        <p:spPr>
          <a:xfrm>
            <a:off x="6821686" y="4040684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4" name="romashka-reports-text-113"/>
          <p:cNvSpPr txBox="1"/>
          <p:nvPr/>
        </p:nvSpPr>
        <p:spPr>
          <a:xfrm>
            <a:off x="6913126" y="3767792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кредиты и облигации</a:t>
            </a:r>
            <a:endParaRPr lang="en-US" sz="1200" dirty="0"/>
          </a:p>
        </p:txBody>
      </p:sp>
      <p:sp>
        <p:nvSpPr>
          <p:cNvPr id="115" name="romashka-reports-line-114"/>
          <p:cNvSpPr/>
          <p:nvPr/>
        </p:nvSpPr>
        <p:spPr>
          <a:xfrm>
            <a:off x="9463187" y="4040684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6" name="romashka-reports-text-115"/>
          <p:cNvSpPr txBox="1"/>
          <p:nvPr/>
        </p:nvSpPr>
        <p:spPr>
          <a:xfrm>
            <a:off x="9554627" y="3767792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4311+4314</a:t>
            </a:r>
            <a:endParaRPr lang="en-US" sz="1200" dirty="0"/>
          </a:p>
        </p:txBody>
      </p:sp>
      <p:sp>
        <p:nvSpPr>
          <p:cNvPr id="117" name="romashka-reports-line-116"/>
          <p:cNvSpPr/>
          <p:nvPr/>
        </p:nvSpPr>
        <p:spPr>
          <a:xfrm>
            <a:off x="10465098" y="4040684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8" name="romashka-reports-text-117"/>
          <p:cNvSpPr txBox="1"/>
          <p:nvPr/>
        </p:nvSpPr>
        <p:spPr>
          <a:xfrm>
            <a:off x="10556538" y="3767792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1 300</a:t>
            </a:r>
            <a:endParaRPr lang="en-US" sz="1200" dirty="0"/>
          </a:p>
        </p:txBody>
      </p:sp>
      <p:sp>
        <p:nvSpPr>
          <p:cNvPr id="119" name="romashka-reports-line-118"/>
          <p:cNvSpPr/>
          <p:nvPr/>
        </p:nvSpPr>
        <p:spPr>
          <a:xfrm>
            <a:off x="6821686" y="4366915"/>
            <a:ext cx="264150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0" name="romashka-reports-text-119"/>
          <p:cNvSpPr txBox="1"/>
          <p:nvPr/>
        </p:nvSpPr>
        <p:spPr>
          <a:xfrm>
            <a:off x="6913126" y="4094024"/>
            <a:ext cx="253237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Погашено долга</a:t>
            </a:r>
            <a:endParaRPr lang="en-US" sz="1200" dirty="0"/>
          </a:p>
        </p:txBody>
      </p:sp>
      <p:sp>
        <p:nvSpPr>
          <p:cNvPr id="121" name="romashka-reports-line-120"/>
          <p:cNvSpPr/>
          <p:nvPr/>
        </p:nvSpPr>
        <p:spPr>
          <a:xfrm>
            <a:off x="9463187" y="4366915"/>
            <a:ext cx="100191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2" name="romashka-reports-text-121"/>
          <p:cNvSpPr txBox="1"/>
          <p:nvPr/>
        </p:nvSpPr>
        <p:spPr>
          <a:xfrm>
            <a:off x="9554627" y="4094024"/>
            <a:ext cx="8436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4323</a:t>
            </a:r>
            <a:endParaRPr lang="en-US" sz="1200" dirty="0"/>
          </a:p>
        </p:txBody>
      </p:sp>
      <p:sp>
        <p:nvSpPr>
          <p:cNvPr id="123" name="romashka-reports-line-122"/>
          <p:cNvSpPr/>
          <p:nvPr/>
        </p:nvSpPr>
        <p:spPr>
          <a:xfrm>
            <a:off x="10465098" y="4366915"/>
            <a:ext cx="91092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4" name="romashka-reports-text-123"/>
          <p:cNvSpPr txBox="1"/>
          <p:nvPr/>
        </p:nvSpPr>
        <p:spPr>
          <a:xfrm>
            <a:off x="10556538" y="4094024"/>
            <a:ext cx="7498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(1 050)</a:t>
            </a:r>
            <a:endParaRPr lang="en-US" sz="1200" dirty="0"/>
          </a:p>
        </p:txBody>
      </p:sp>
      <p:sp>
        <p:nvSpPr>
          <p:cNvPr id="125" name="romashka-reports-text-12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not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ПОЯСНЕНИЯ И РЫНОК · МЛН ₽</a:t>
            </a:r>
            <a:endParaRPr lang="en-US" sz="1200" dirty="0"/>
          </a:p>
        </p:txBody>
      </p:sp>
      <p:sp>
        <p:nvSpPr>
          <p:cNvPr id="3" name="romashka-not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Ромашка: что за строками</a:t>
            </a:r>
            <a:endParaRPr lang="en-US" sz="2800" dirty="0"/>
          </a:p>
        </p:txBody>
      </p:sp>
      <p:sp>
        <p:nvSpPr>
          <p:cNvPr id="4" name="romashka-notes-box-3"/>
          <p:cNvSpPr/>
          <p:nvPr/>
        </p:nvSpPr>
        <p:spPr>
          <a:xfrm>
            <a:off x="8128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notes-text-4"/>
          <p:cNvSpPr txBox="1"/>
          <p:nvPr/>
        </p:nvSpPr>
        <p:spPr>
          <a:xfrm>
            <a:off x="9715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2800" dirty="0"/>
          </a:p>
        </p:txBody>
      </p:sp>
      <p:sp>
        <p:nvSpPr>
          <p:cNvPr id="6" name="romashka-notes-text-5"/>
          <p:cNvSpPr txBox="1"/>
          <p:nvPr/>
        </p:nvSpPr>
        <p:spPr>
          <a:xfrm>
            <a:off x="971550" y="2365871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амортизация за год, пояснения к основным средствам</a:t>
            </a:r>
            <a:endParaRPr lang="en-US" sz="1200" dirty="0"/>
          </a:p>
        </p:txBody>
      </p:sp>
      <p:sp>
        <p:nvSpPr>
          <p:cNvPr id="7" name="romashka-notes-box-6"/>
          <p:cNvSpPr/>
          <p:nvPr/>
        </p:nvSpPr>
        <p:spPr>
          <a:xfrm>
            <a:off x="34925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romashka-notes-text-7"/>
          <p:cNvSpPr txBox="1"/>
          <p:nvPr/>
        </p:nvSpPr>
        <p:spPr>
          <a:xfrm>
            <a:off x="36512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endParaRPr lang="en-US" sz="2800" dirty="0"/>
          </a:p>
        </p:txBody>
      </p:sp>
      <p:sp>
        <p:nvSpPr>
          <p:cNvPr id="9" name="romashka-notes-text-8"/>
          <p:cNvSpPr txBox="1"/>
          <p:nvPr/>
        </p:nvSpPr>
        <p:spPr>
          <a:xfrm>
            <a:off x="3651250" y="23658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факторинг с регрессом, не входит в 1410 и 1510</a:t>
            </a:r>
            <a:endParaRPr lang="en-US" sz="1200" dirty="0"/>
          </a:p>
        </p:txBody>
      </p:sp>
      <p:sp>
        <p:nvSpPr>
          <p:cNvPr id="10" name="romashka-notes-box-9"/>
          <p:cNvSpPr/>
          <p:nvPr/>
        </p:nvSpPr>
        <p:spPr>
          <a:xfrm>
            <a:off x="61722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romashka-notes-text-10"/>
          <p:cNvSpPr txBox="1"/>
          <p:nvPr/>
        </p:nvSpPr>
        <p:spPr>
          <a:xfrm>
            <a:off x="63309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800" dirty="0"/>
          </a:p>
        </p:txBody>
      </p:sp>
      <p:sp>
        <p:nvSpPr>
          <p:cNvPr id="12" name="romashka-notes-text-11"/>
          <p:cNvSpPr txBox="1"/>
          <p:nvPr/>
        </p:nvSpPr>
        <p:spPr>
          <a:xfrm>
            <a:off x="6330950" y="2365871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заём ООО «Ромашка-Строй», компании под общим контролем бенефициара</a:t>
            </a:r>
            <a:endParaRPr lang="en-US" sz="1200" dirty="0"/>
          </a:p>
        </p:txBody>
      </p:sp>
      <p:sp>
        <p:nvSpPr>
          <p:cNvPr id="13" name="romashka-notes-box-12"/>
          <p:cNvSpPr/>
          <p:nvPr/>
        </p:nvSpPr>
        <p:spPr>
          <a:xfrm>
            <a:off x="8851900" y="1765201"/>
            <a:ext cx="2527300" cy="1399381"/>
          </a:xfrm>
          <a:prstGeom prst="roundRect">
            <a:avLst>
              <a:gd name="adj" fmla="val 474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romashka-notes-text-13"/>
          <p:cNvSpPr txBox="1"/>
          <p:nvPr/>
        </p:nvSpPr>
        <p:spPr>
          <a:xfrm>
            <a:off x="9010650" y="1923951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800" dirty="0"/>
          </a:p>
        </p:txBody>
      </p:sp>
      <p:sp>
        <p:nvSpPr>
          <p:cNvPr id="15" name="romashka-notes-text-14"/>
          <p:cNvSpPr txBox="1"/>
          <p:nvPr/>
        </p:nvSpPr>
        <p:spPr>
          <a:xfrm>
            <a:off x="9010650" y="23658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неиспользованные банковские лимиты</a:t>
            </a:r>
            <a:endParaRPr lang="en-US" sz="1200" dirty="0"/>
          </a:p>
        </p:txBody>
      </p:sp>
      <p:sp>
        <p:nvSpPr>
          <p:cNvPr id="16" name="romashka-notes-box-15"/>
          <p:cNvSpPr/>
          <p:nvPr/>
        </p:nvSpPr>
        <p:spPr>
          <a:xfrm>
            <a:off x="8128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7" name="romashka-notes-text-16"/>
          <p:cNvSpPr txBox="1"/>
          <p:nvPr/>
        </p:nvSpPr>
        <p:spPr>
          <a:xfrm>
            <a:off x="9715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970</a:t>
            </a:r>
            <a:endParaRPr lang="en-US" sz="2800" dirty="0"/>
          </a:p>
        </p:txBody>
      </p:sp>
      <p:sp>
        <p:nvSpPr>
          <p:cNvPr id="18" name="romashka-notes-text-17"/>
          <p:cNvSpPr txBox="1"/>
          <p:nvPr/>
        </p:nvSpPr>
        <p:spPr>
          <a:xfrm>
            <a:off x="971550" y="3917652"/>
            <a:ext cx="2276094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за 6 месяцев: оферта 400 через 4 месяца, амортизация 150, купоны 120, кредит 300</a:t>
            </a:r>
            <a:endParaRPr lang="en-US" sz="1200" dirty="0"/>
          </a:p>
        </p:txBody>
      </p:sp>
      <p:sp>
        <p:nvSpPr>
          <p:cNvPr id="19" name="romashka-notes-box-18"/>
          <p:cNvSpPr/>
          <p:nvPr/>
        </p:nvSpPr>
        <p:spPr>
          <a:xfrm>
            <a:off x="34925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0" name="romashka-notes-text-19"/>
          <p:cNvSpPr txBox="1"/>
          <p:nvPr/>
        </p:nvSpPr>
        <p:spPr>
          <a:xfrm>
            <a:off x="36512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300/500</a:t>
            </a:r>
            <a:endParaRPr lang="en-US" sz="2800" dirty="0"/>
          </a:p>
        </p:txBody>
      </p:sp>
      <p:sp>
        <p:nvSpPr>
          <p:cNvPr id="21" name="romashka-notes-text-20"/>
          <p:cNvSpPr txBox="1"/>
          <p:nvPr/>
        </p:nvSpPr>
        <p:spPr>
          <a:xfrm>
            <a:off x="3651250" y="39176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собрано на последнем размещении, выпуск БО-03</a:t>
            </a:r>
            <a:endParaRPr lang="en-US" sz="1200" dirty="0"/>
          </a:p>
        </p:txBody>
      </p:sp>
      <p:sp>
        <p:nvSpPr>
          <p:cNvPr id="22" name="romashka-notes-box-21"/>
          <p:cNvSpPr/>
          <p:nvPr/>
        </p:nvSpPr>
        <p:spPr>
          <a:xfrm>
            <a:off x="61722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3" name="romashka-notes-text-22"/>
          <p:cNvSpPr txBox="1"/>
          <p:nvPr/>
        </p:nvSpPr>
        <p:spPr>
          <a:xfrm>
            <a:off x="63309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91–93%</a:t>
            </a:r>
            <a:endParaRPr lang="en-US" sz="2800" dirty="0"/>
          </a:p>
        </p:txBody>
      </p:sp>
      <p:sp>
        <p:nvSpPr>
          <p:cNvPr id="24" name="romashka-notes-text-23"/>
          <p:cNvSpPr txBox="1"/>
          <p:nvPr/>
        </p:nvSpPr>
        <p:spPr>
          <a:xfrm>
            <a:off x="6330950" y="39176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выпусков от номинала, доходность около 31%</a:t>
            </a:r>
            <a:endParaRPr lang="en-US" sz="1200" dirty="0"/>
          </a:p>
        </p:txBody>
      </p:sp>
      <p:sp>
        <p:nvSpPr>
          <p:cNvPr id="25" name="romashka-notes-box-24"/>
          <p:cNvSpPr/>
          <p:nvPr/>
        </p:nvSpPr>
        <p:spPr>
          <a:xfrm>
            <a:off x="8851900" y="3316982"/>
            <a:ext cx="2527300" cy="1612702"/>
          </a:xfrm>
          <a:prstGeom prst="roundRect">
            <a:avLst>
              <a:gd name="adj" fmla="val 3572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6" name="romashka-notes-text-25"/>
          <p:cNvSpPr txBox="1"/>
          <p:nvPr/>
        </p:nvSpPr>
        <p:spPr>
          <a:xfrm>
            <a:off x="9010650" y="3475732"/>
            <a:ext cx="227609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3 600</a:t>
            </a:r>
            <a:endParaRPr lang="en-US" sz="2800" dirty="0"/>
          </a:p>
        </p:txBody>
      </p:sp>
      <p:sp>
        <p:nvSpPr>
          <p:cNvPr id="27" name="romashka-notes-text-26"/>
          <p:cNvSpPr txBox="1"/>
          <p:nvPr/>
        </p:nvSpPr>
        <p:spPr>
          <a:xfrm>
            <a:off x="9010650" y="3917652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заказов: госконтракты на zakupki.gov.ru и раскрытие</a:t>
            </a:r>
            <a:endParaRPr lang="en-US" sz="1200" dirty="0"/>
          </a:p>
        </p:txBody>
      </p:sp>
      <p:sp>
        <p:nvSpPr>
          <p:cNvPr id="28" name="romashka-notes-text-27"/>
          <p:cNvSpPr txBox="1"/>
          <p:nvPr/>
        </p:nvSpPr>
        <p:spPr>
          <a:xfrm>
            <a:off x="812800" y="5183684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Акционер</a:t>
            </a:r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одно физлицо, других крупных активов не видно.</a:t>
            </a:r>
            <a:endParaRPr lang="en-US" sz="1400" dirty="0"/>
          </a:p>
        </p:txBody>
      </p:sp>
      <p:sp>
        <p:nvSpPr>
          <p:cNvPr id="29" name="romashka-notes-text-28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gap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ОТВЕТЫ 1 И 2</a:t>
            </a:r>
            <a:endParaRPr lang="en-US" sz="1200" dirty="0"/>
          </a:p>
        </p:txBody>
      </p:sp>
      <p:sp>
        <p:nvSpPr>
          <p:cNvPr id="3" name="romashka-gap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Разрыв и долг</a:t>
            </a:r>
            <a:endParaRPr lang="en-US" sz="2800" dirty="0"/>
          </a:p>
        </p:txBody>
      </p:sp>
      <p:sp>
        <p:nvSpPr>
          <p:cNvPr id="4" name="romashka-gap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gap-text-4"/>
          <p:cNvSpPr txBox="1"/>
          <p:nvPr/>
        </p:nvSpPr>
        <p:spPr>
          <a:xfrm>
            <a:off x="1123950" y="2076351"/>
            <a:ext cx="469607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РАЗРЫВ НА ПОЛГОДА, МЛН ₽</a:t>
            </a:r>
            <a:endParaRPr lang="en-US" sz="1200" dirty="0"/>
          </a:p>
        </p:txBody>
      </p:sp>
      <p:sp>
        <p:nvSpPr>
          <p:cNvPr id="6" name="romashka-gap-text-5"/>
          <p:cNvSpPr txBox="1"/>
          <p:nvPr/>
        </p:nvSpPr>
        <p:spPr>
          <a:xfrm>
            <a:off x="1123950" y="2391271"/>
            <a:ext cx="469607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</a:t>
            </a:r>
            <a:endParaRPr lang="en-US" sz="6400" dirty="0"/>
          </a:p>
        </p:txBody>
      </p:sp>
      <p:sp>
        <p:nvSpPr>
          <p:cNvPr id="7" name="romashka-gap-text-6"/>
          <p:cNvSpPr txBox="1"/>
          <p:nvPr/>
        </p:nvSpPr>
        <p:spPr>
          <a:xfrm>
            <a:off x="1123950" y="5015309"/>
            <a:ext cx="469607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400 + 150 + 120 + 300 = 970 против денег 180. Деньги закрывают 19% выплат.</a:t>
            </a:r>
            <a:endParaRPr lang="en-US" sz="1400" dirty="0"/>
          </a:p>
        </p:txBody>
      </p:sp>
      <p:sp>
        <p:nvSpPr>
          <p:cNvPr id="8" name="romashka-gap-box-7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romashka-gap-text-8"/>
          <p:cNvSpPr txBox="1"/>
          <p:nvPr/>
        </p:nvSpPr>
        <p:spPr>
          <a:xfrm>
            <a:off x="6508750" y="2076351"/>
            <a:ext cx="469607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ЧИСТЫЙ ДОЛГ / EBITDA</a:t>
            </a:r>
            <a:endParaRPr lang="en-US" sz="1200" dirty="0"/>
          </a:p>
        </p:txBody>
      </p:sp>
      <p:sp>
        <p:nvSpPr>
          <p:cNvPr id="10" name="romashka-gap-text-9"/>
          <p:cNvSpPr txBox="1"/>
          <p:nvPr/>
        </p:nvSpPr>
        <p:spPr>
          <a:xfrm>
            <a:off x="6508750" y="2391271"/>
            <a:ext cx="1321794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</a:t>
            </a:r>
            <a:endParaRPr lang="en-US" sz="6400" dirty="0"/>
          </a:p>
        </p:txBody>
      </p:sp>
      <p:sp>
        <p:nvSpPr>
          <p:cNvPr id="11" name="romashka-gap-text-10"/>
          <p:cNvSpPr txBox="1"/>
          <p:nvPr/>
        </p:nvSpPr>
        <p:spPr>
          <a:xfrm>
            <a:off x="6508750" y="3254871"/>
            <a:ext cx="13217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 презентации</a:t>
            </a:r>
            <a:endParaRPr lang="en-US" sz="1200" dirty="0"/>
          </a:p>
        </p:txBody>
      </p:sp>
      <p:sp>
        <p:nvSpPr>
          <p:cNvPr id="12" name="romashka-gap-text-11"/>
          <p:cNvSpPr txBox="1"/>
          <p:nvPr/>
        </p:nvSpPr>
        <p:spPr>
          <a:xfrm>
            <a:off x="8046045" y="2391271"/>
            <a:ext cx="1382703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</a:t>
            </a:r>
            <a:endParaRPr lang="en-US" sz="6400" dirty="0"/>
          </a:p>
        </p:txBody>
      </p:sp>
      <p:sp>
        <p:nvSpPr>
          <p:cNvPr id="13" name="romashka-gap-text-12"/>
          <p:cNvSpPr txBox="1"/>
          <p:nvPr/>
        </p:nvSpPr>
        <p:spPr>
          <a:xfrm>
            <a:off x="8046045" y="3254871"/>
            <a:ext cx="138270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факторингом 900</a:t>
            </a:r>
            <a:endParaRPr lang="en-US" sz="1200" dirty="0"/>
          </a:p>
        </p:txBody>
      </p:sp>
      <p:sp>
        <p:nvSpPr>
          <p:cNvPr id="14" name="romashka-gap-text-13"/>
          <p:cNvSpPr txBox="1"/>
          <p:nvPr/>
        </p:nvSpPr>
        <p:spPr>
          <a:xfrm>
            <a:off x="6508750" y="4757539"/>
            <a:ext cx="469607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= 620 + 130 = 750. Чистый долг 1 770, с факторингом 2 670. Порог тревоги для производства — 3,5.</a:t>
            </a:r>
            <a:endParaRPr lang="en-US" sz="1400" dirty="0"/>
          </a:p>
        </p:txBody>
      </p:sp>
      <p:sp>
        <p:nvSpPr>
          <p:cNvPr id="15" name="romashka-gap-text-1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interes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3</a:t>
            </a:r>
            <a:endParaRPr lang="en-US" sz="1200" dirty="0"/>
          </a:p>
        </p:txBody>
      </p:sp>
      <p:sp>
        <p:nvSpPr>
          <p:cNvPr id="3" name="romashka-interes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Проценты: по отчёту и деньгами</a:t>
            </a:r>
            <a:endParaRPr lang="en-US" sz="2800" dirty="0"/>
          </a:p>
        </p:txBody>
      </p:sp>
      <p:sp>
        <p:nvSpPr>
          <p:cNvPr id="4" name="romashka-interest-text-3"/>
          <p:cNvSpPr txBox="1"/>
          <p:nvPr/>
        </p:nvSpPr>
        <p:spPr>
          <a:xfrm>
            <a:off x="812800" y="1765201"/>
            <a:ext cx="108833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отчёту: EBITDA / 2330 = 750 / 290</a:t>
            </a:r>
            <a:endParaRPr lang="en-US" sz="1400" dirty="0"/>
          </a:p>
        </p:txBody>
      </p:sp>
      <p:sp>
        <p:nvSpPr>
          <p:cNvPr id="5" name="romashka-interest-box-4"/>
          <p:cNvSpPr/>
          <p:nvPr/>
        </p:nvSpPr>
        <p:spPr>
          <a:xfrm>
            <a:off x="812800" y="2090241"/>
            <a:ext cx="605155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6" name="romashka-interest-text-5"/>
          <p:cNvSpPr txBox="1"/>
          <p:nvPr/>
        </p:nvSpPr>
        <p:spPr>
          <a:xfrm>
            <a:off x="7016750" y="2064841"/>
            <a:ext cx="72313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2,6×</a:t>
            </a:r>
            <a:endParaRPr lang="en-US" sz="2800" dirty="0"/>
          </a:p>
        </p:txBody>
      </p:sp>
      <p:sp>
        <p:nvSpPr>
          <p:cNvPr id="7" name="romashka-interest-text-6"/>
          <p:cNvSpPr txBox="1"/>
          <p:nvPr/>
        </p:nvSpPr>
        <p:spPr>
          <a:xfrm>
            <a:off x="812800" y="2598241"/>
            <a:ext cx="1088339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Деньгами: (4100 + 4123) / (4123 + 4224) = 460 / 410</a:t>
            </a:r>
            <a:endParaRPr lang="en-US" sz="1400" dirty="0"/>
          </a:p>
        </p:txBody>
      </p:sp>
      <p:sp>
        <p:nvSpPr>
          <p:cNvPr id="8" name="romashka-interest-box-7"/>
          <p:cNvSpPr/>
          <p:nvPr/>
        </p:nvSpPr>
        <p:spPr>
          <a:xfrm>
            <a:off x="812800" y="2923282"/>
            <a:ext cx="2559050" cy="304800"/>
          </a:xfrm>
          <a:prstGeom prst="roundRect">
            <a:avLst>
              <a:gd name="adj" fmla="val 37500"/>
            </a:avLst>
          </a:prstGeom>
          <a:solidFill>
            <a:srgbClr val="A63326"/>
          </a:solidFill>
          <a:ln/>
        </p:spPr>
      </p:sp>
      <p:sp>
        <p:nvSpPr>
          <p:cNvPr id="9" name="romashka-interest-text-8"/>
          <p:cNvSpPr txBox="1"/>
          <p:nvPr/>
        </p:nvSpPr>
        <p:spPr>
          <a:xfrm>
            <a:off x="3524250" y="2897882"/>
            <a:ext cx="72313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1,1×</a:t>
            </a:r>
            <a:endParaRPr lang="en-US" sz="2800" dirty="0"/>
          </a:p>
        </p:txBody>
      </p:sp>
      <p:sp>
        <p:nvSpPr>
          <p:cNvPr id="10" name="romashka-interest-text-9"/>
          <p:cNvSpPr txBox="1"/>
          <p:nvPr/>
        </p:nvSpPr>
        <p:spPr>
          <a:xfrm>
            <a:off x="812800" y="343128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Длина полос в одном масштабе. Меньше 1 — проценты платятся из новых займов.</a:t>
            </a:r>
            <a:endParaRPr lang="en-US" sz="1200" dirty="0"/>
          </a:p>
        </p:txBody>
      </p:sp>
      <p:sp>
        <p:nvSpPr>
          <p:cNvPr id="11" name="romashka-interest-box-10"/>
          <p:cNvSpPr/>
          <p:nvPr/>
        </p:nvSpPr>
        <p:spPr>
          <a:xfrm>
            <a:off x="812800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romashka-interest-text-11"/>
          <p:cNvSpPr txBox="1"/>
          <p:nvPr/>
        </p:nvSpPr>
        <p:spPr>
          <a:xfrm>
            <a:off x="1022350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−330</a:t>
            </a:r>
            <a:endParaRPr lang="en-US" sz="2800" dirty="0"/>
          </a:p>
        </p:txBody>
      </p:sp>
      <p:sp>
        <p:nvSpPr>
          <p:cNvPr id="13" name="romashka-interest-text-12"/>
          <p:cNvSpPr txBox="1"/>
          <p:nvPr/>
        </p:nvSpPr>
        <p:spPr>
          <a:xfrm>
            <a:off x="1022350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поток, млн: 210 − 380 − 160</a:t>
            </a:r>
            <a:endParaRPr lang="en-US" sz="1200" dirty="0"/>
          </a:p>
        </p:txBody>
      </p:sp>
      <p:sp>
        <p:nvSpPr>
          <p:cNvPr id="14" name="romashka-interest-box-13"/>
          <p:cNvSpPr/>
          <p:nvPr/>
        </p:nvSpPr>
        <p:spPr>
          <a:xfrm>
            <a:off x="4385766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5" name="romashka-interest-text-14"/>
          <p:cNvSpPr txBox="1"/>
          <p:nvPr/>
        </p:nvSpPr>
        <p:spPr>
          <a:xfrm>
            <a:off x="4595316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1 300</a:t>
            </a:r>
            <a:endParaRPr lang="en-US" sz="2800" dirty="0"/>
          </a:p>
        </p:txBody>
      </p:sp>
      <p:sp>
        <p:nvSpPr>
          <p:cNvPr id="16" name="romashka-interest-text-15"/>
          <p:cNvSpPr txBox="1"/>
          <p:nvPr/>
        </p:nvSpPr>
        <p:spPr>
          <a:xfrm>
            <a:off x="4595316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заняла за год, а вернула 1 050</a:t>
            </a:r>
            <a:endParaRPr lang="en-US" sz="1200" dirty="0"/>
          </a:p>
        </p:txBody>
      </p:sp>
      <p:sp>
        <p:nvSpPr>
          <p:cNvPr id="17" name="romashka-interest-box-16"/>
          <p:cNvSpPr/>
          <p:nvPr/>
        </p:nvSpPr>
        <p:spPr>
          <a:xfrm>
            <a:off x="7958733" y="3898602"/>
            <a:ext cx="3420566" cy="1074341"/>
          </a:xfrm>
          <a:prstGeom prst="roundRect">
            <a:avLst>
              <a:gd name="adj" fmla="val 804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romashka-interest-text-17"/>
          <p:cNvSpPr txBox="1"/>
          <p:nvPr/>
        </p:nvSpPr>
        <p:spPr>
          <a:xfrm>
            <a:off x="8168283" y="4108152"/>
            <a:ext cx="309151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800" dirty="0"/>
          </a:p>
        </p:txBody>
      </p:sp>
      <p:sp>
        <p:nvSpPr>
          <p:cNvPr id="19" name="romashka-interest-text-18"/>
          <p:cNvSpPr txBox="1"/>
          <p:nvPr/>
        </p:nvSpPr>
        <p:spPr>
          <a:xfrm>
            <a:off x="8168283" y="4550073"/>
            <a:ext cx="3091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выдала связанной компании</a:t>
            </a:r>
            <a:endParaRPr lang="en-US" sz="1200" dirty="0"/>
          </a:p>
        </p:txBody>
      </p:sp>
      <p:sp>
        <p:nvSpPr>
          <p:cNvPr id="20" name="romashka-interest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mashka-verdic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4</a:t>
            </a:r>
            <a:endParaRPr lang="en-US" sz="1200" dirty="0"/>
          </a:p>
        </p:txBody>
      </p:sp>
      <p:sp>
        <p:nvSpPr>
          <p:cNvPr id="3" name="romashka-verdic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и вердикт</a:t>
            </a:r>
            <a:endParaRPr lang="en-US" sz="2800" dirty="0"/>
          </a:p>
        </p:txBody>
      </p:sp>
      <p:sp>
        <p:nvSpPr>
          <p:cNvPr id="4" name="romashka-verdict-box-3"/>
          <p:cNvSpPr/>
          <p:nvPr/>
        </p:nvSpPr>
        <p:spPr>
          <a:xfrm>
            <a:off x="812800" y="1765201"/>
            <a:ext cx="10566400" cy="1524595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romashka-verdict-line-4"/>
          <p:cNvSpPr/>
          <p:nvPr/>
        </p:nvSpPr>
        <p:spPr>
          <a:xfrm>
            <a:off x="815975" y="2094607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romashka-verdict-text-5"/>
          <p:cNvSpPr txBox="1"/>
          <p:nvPr/>
        </p:nvSpPr>
        <p:spPr>
          <a:xfrm>
            <a:off x="907415" y="1821716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</a:t>
            </a:r>
            <a:endParaRPr lang="en-US" sz="1200" dirty="0"/>
          </a:p>
        </p:txBody>
      </p:sp>
      <p:sp>
        <p:nvSpPr>
          <p:cNvPr id="7" name="romashka-verdict-line-6"/>
          <p:cNvSpPr/>
          <p:nvPr/>
        </p:nvSpPr>
        <p:spPr>
          <a:xfrm>
            <a:off x="3772694" y="2094607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romashka-verdict-text-7"/>
          <p:cNvSpPr txBox="1"/>
          <p:nvPr/>
        </p:nvSpPr>
        <p:spPr>
          <a:xfrm>
            <a:off x="3864134" y="1821716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9" name="romashka-verdict-line-8"/>
          <p:cNvSpPr/>
          <p:nvPr/>
        </p:nvSpPr>
        <p:spPr>
          <a:xfrm>
            <a:off x="5462290" y="2094607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romashka-verdict-text-9"/>
          <p:cNvSpPr txBox="1"/>
          <p:nvPr/>
        </p:nvSpPr>
        <p:spPr>
          <a:xfrm>
            <a:off x="5553730" y="1821716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</a:t>
            </a:r>
            <a:endParaRPr lang="en-US" sz="1200" dirty="0"/>
          </a:p>
        </p:txBody>
      </p:sp>
      <p:sp>
        <p:nvSpPr>
          <p:cNvPr id="11" name="romashka-verdict-line-10"/>
          <p:cNvSpPr/>
          <p:nvPr/>
        </p:nvSpPr>
        <p:spPr>
          <a:xfrm>
            <a:off x="815975" y="2420838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romashka-verdict-text-11"/>
          <p:cNvSpPr txBox="1"/>
          <p:nvPr/>
        </p:nvSpPr>
        <p:spPr>
          <a:xfrm>
            <a:off x="907415" y="2147947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ли потока?</a:t>
            </a:r>
            <a:endParaRPr lang="en-US" sz="1200" dirty="0"/>
          </a:p>
        </p:txBody>
      </p:sp>
      <p:sp>
        <p:nvSpPr>
          <p:cNvPr id="13" name="romashka-verdict-line-12"/>
          <p:cNvSpPr/>
          <p:nvPr/>
        </p:nvSpPr>
        <p:spPr>
          <a:xfrm>
            <a:off x="3772694" y="2420838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romashka-verdict-text-13"/>
          <p:cNvSpPr txBox="1"/>
          <p:nvPr/>
        </p:nvSpPr>
        <p:spPr>
          <a:xfrm>
            <a:off x="3864134" y="2147947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</a:t>
            </a:r>
            <a:endParaRPr lang="en-US" sz="1200" dirty="0"/>
          </a:p>
        </p:txBody>
      </p:sp>
      <p:sp>
        <p:nvSpPr>
          <p:cNvPr id="15" name="romashka-verdict-line-14"/>
          <p:cNvSpPr/>
          <p:nvPr/>
        </p:nvSpPr>
        <p:spPr>
          <a:xfrm>
            <a:off x="5462290" y="2420838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romashka-verdict-text-15"/>
          <p:cNvSpPr txBox="1"/>
          <p:nvPr/>
        </p:nvSpPr>
        <p:spPr>
          <a:xfrm>
            <a:off x="5553730" y="2147947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Хватает только на проценты. Выплаты 970 млн из него не покрыть</a:t>
            </a:r>
            <a:endParaRPr lang="en-US" sz="1200" dirty="0"/>
          </a:p>
        </p:txBody>
      </p:sp>
      <p:sp>
        <p:nvSpPr>
          <p:cNvPr id="17" name="romashka-verdict-line-16"/>
          <p:cNvSpPr/>
          <p:nvPr/>
        </p:nvSpPr>
        <p:spPr>
          <a:xfrm>
            <a:off x="815975" y="2960390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romashka-verdict-text-17"/>
          <p:cNvSpPr txBox="1"/>
          <p:nvPr/>
        </p:nvSpPr>
        <p:spPr>
          <a:xfrm>
            <a:off x="907415" y="2474178"/>
            <a:ext cx="2857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Сможет ли занять?</a:t>
            </a:r>
            <a:endParaRPr lang="en-US" sz="1200" dirty="0"/>
          </a:p>
        </p:txBody>
      </p:sp>
      <p:sp>
        <p:nvSpPr>
          <p:cNvPr id="19" name="romashka-verdict-line-18"/>
          <p:cNvSpPr/>
          <p:nvPr/>
        </p:nvSpPr>
        <p:spPr>
          <a:xfrm>
            <a:off x="3772694" y="2960390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romashka-verdict-text-19"/>
          <p:cNvSpPr txBox="1"/>
          <p:nvPr/>
        </p:nvSpPr>
        <p:spPr>
          <a:xfrm>
            <a:off x="3864134" y="2474178"/>
            <a:ext cx="1551918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Сомнительно</a:t>
            </a:r>
            <a:endParaRPr lang="en-US" sz="1200" dirty="0"/>
          </a:p>
        </p:txBody>
      </p:sp>
      <p:sp>
        <p:nvSpPr>
          <p:cNvPr id="21" name="romashka-verdict-line-20"/>
          <p:cNvSpPr/>
          <p:nvPr/>
        </p:nvSpPr>
        <p:spPr>
          <a:xfrm>
            <a:off x="5462290" y="2960390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romashka-verdict-text-21"/>
          <p:cNvSpPr txBox="1"/>
          <p:nvPr/>
        </p:nvSpPr>
        <p:spPr>
          <a:xfrm>
            <a:off x="5553730" y="2474178"/>
            <a:ext cx="5902781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Собрали 60% объёма, выпуски по 91–93%, доходность выше 30%. Лимиты 100 против разрыва 790</a:t>
            </a:r>
            <a:endParaRPr lang="en-US" sz="1200" dirty="0"/>
          </a:p>
        </p:txBody>
      </p:sp>
      <p:sp>
        <p:nvSpPr>
          <p:cNvPr id="23" name="romashka-verdict-line-22"/>
          <p:cNvSpPr/>
          <p:nvPr/>
        </p:nvSpPr>
        <p:spPr>
          <a:xfrm>
            <a:off x="815975" y="3286621"/>
            <a:ext cx="2956719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romashka-verdict-text-23"/>
          <p:cNvSpPr txBox="1"/>
          <p:nvPr/>
        </p:nvSpPr>
        <p:spPr>
          <a:xfrm>
            <a:off x="907415" y="3013730"/>
            <a:ext cx="2857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Поможет ли акционер?</a:t>
            </a:r>
            <a:endParaRPr lang="en-US" sz="1200" dirty="0"/>
          </a:p>
        </p:txBody>
      </p:sp>
      <p:sp>
        <p:nvSpPr>
          <p:cNvPr id="25" name="romashka-verdict-line-24"/>
          <p:cNvSpPr/>
          <p:nvPr/>
        </p:nvSpPr>
        <p:spPr>
          <a:xfrm>
            <a:off x="3772694" y="3286621"/>
            <a:ext cx="168959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romashka-verdict-text-25"/>
          <p:cNvSpPr txBox="1"/>
          <p:nvPr/>
        </p:nvSpPr>
        <p:spPr>
          <a:xfrm>
            <a:off x="3864134" y="3013730"/>
            <a:ext cx="1551918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Скорее нет</a:t>
            </a:r>
            <a:endParaRPr lang="en-US" sz="1200" dirty="0"/>
          </a:p>
        </p:txBody>
      </p:sp>
      <p:sp>
        <p:nvSpPr>
          <p:cNvPr id="27" name="romashka-verdict-line-26"/>
          <p:cNvSpPr/>
          <p:nvPr/>
        </p:nvSpPr>
        <p:spPr>
          <a:xfrm>
            <a:off x="5462290" y="3286621"/>
            <a:ext cx="59137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romashka-verdict-text-27"/>
          <p:cNvSpPr txBox="1"/>
          <p:nvPr/>
        </p:nvSpPr>
        <p:spPr>
          <a:xfrm>
            <a:off x="5553730" y="3013730"/>
            <a:ext cx="590278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Ресурсов не видно, а 300 млн ушли связанной компании</a:t>
            </a:r>
            <a:endParaRPr lang="en-US" sz="1200" dirty="0"/>
          </a:p>
        </p:txBody>
      </p:sp>
      <p:sp>
        <p:nvSpPr>
          <p:cNvPr id="29" name="romashka-verdict-text-28"/>
          <p:cNvSpPr txBox="1"/>
          <p:nvPr/>
        </p:nvSpPr>
        <p:spPr>
          <a:xfrm>
            <a:off x="812800" y="3543796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Портфель заказов 3 600 / 6 000 = 0,6 выручки: ниже нормы 1, но выше порога тревоги 0,5.</a:t>
            </a:r>
            <a:endParaRPr lang="en-US" sz="1200" dirty="0"/>
          </a:p>
        </p:txBody>
      </p:sp>
      <p:sp>
        <p:nvSpPr>
          <p:cNvPr id="30" name="romashka-verdict-box-29"/>
          <p:cNvSpPr/>
          <p:nvPr/>
        </p:nvSpPr>
        <p:spPr>
          <a:xfrm>
            <a:off x="812800" y="4011116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31" name="romashka-verdict-text-30"/>
          <p:cNvSpPr txBox="1"/>
          <p:nvPr/>
        </p:nvSpPr>
        <p:spPr>
          <a:xfrm>
            <a:off x="1066800" y="4214316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Вердикт: не покупать. Если бумага уже есть, решите сейчас: продать по 91–93% или идти в оферту, где 400 больше всех денег на счетах.</a:t>
            </a:r>
            <a:endParaRPr lang="en-US" sz="1800" dirty="0"/>
          </a:p>
        </p:txBody>
      </p:sp>
      <p:sp>
        <p:nvSpPr>
          <p:cNvPr id="32" name="romashka-verdict-text-3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26:00–33:00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Облигация: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B4C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o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D6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33:00–53:00 · 20 МИНУТ</a:t>
            </a:r>
            <a:endParaRPr lang="en-US" sz="1200" dirty="0"/>
          </a:p>
        </p:txBody>
      </p:sp>
      <p:sp>
        <p:nvSpPr>
          <p:cNvPr id="3" name="stocks-text-2"/>
          <p:cNvSpPr txBox="1"/>
          <p:nvPr/>
        </p:nvSpPr>
        <p:spPr>
          <a:xfrm>
            <a:off x="812800" y="1178520"/>
            <a:ext cx="1088339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6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33:00</a:t>
            </a:r>
            <a:endParaRPr lang="en-US" sz="6400" dirty="0"/>
          </a:p>
        </p:txBody>
      </p:sp>
      <p:sp>
        <p:nvSpPr>
          <p:cNvPr id="4" name="stocks-text-3"/>
          <p:cNvSpPr txBox="1"/>
          <p:nvPr/>
        </p:nvSpPr>
        <p:spPr>
          <a:xfrm>
            <a:off x="812800" y="21437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 тот же порядок, другой вопрос</a:t>
            </a:r>
            <a:endParaRPr lang="en-US" sz="2800" dirty="0"/>
          </a:p>
        </p:txBody>
      </p:sp>
      <p:sp>
        <p:nvSpPr>
          <p:cNvPr id="5" name="stocks-text-4"/>
          <p:cNvSpPr txBox="1"/>
          <p:nvPr/>
        </p:nvSpPr>
        <p:spPr>
          <a:xfrm>
            <a:off x="812800" y="4569619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D6D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ГЛАВНЫЙ ВОПРОС</a:t>
            </a:r>
            <a:endParaRPr lang="en-US" sz="1200" dirty="0"/>
          </a:p>
        </p:txBody>
      </p:sp>
      <p:sp>
        <p:nvSpPr>
          <p:cNvPr id="6" name="stocks-text-5"/>
          <p:cNvSpPr txBox="1"/>
          <p:nvPr/>
        </p:nvSpPr>
        <p:spPr>
          <a:xfrm>
            <a:off x="812800" y="4859139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бизнес заработает на мою акцию в ближайшие 2–3 года, сколько из этого дойдёт до меня и не переплачиваю ли я?</a:t>
            </a:r>
            <a:endParaRPr lang="en-US" sz="1800" dirty="0"/>
          </a:p>
        </p:txBody>
      </p:sp>
      <p:sp>
        <p:nvSpPr>
          <p:cNvPr id="7" name="stocks-text-6"/>
          <p:cNvSpPr txBox="1"/>
          <p:nvPr/>
        </p:nvSpPr>
        <p:spPr>
          <a:xfrm>
            <a:off x="812800" y="5529659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D6D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Кредитору достаточно, чтобы компания не упала. Акционеру нужно, чтобы она зарабатывала больше, делилась с ним и стоила разумных денег.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question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КАРКАС БЛОКА</a:t>
            </a:r>
            <a:endParaRPr lang="en-US" sz="1200" dirty="0"/>
          </a:p>
        </p:txBody>
      </p:sp>
      <p:sp>
        <p:nvSpPr>
          <p:cNvPr id="3" name="s-question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вопроса к акции</a:t>
            </a:r>
            <a:endParaRPr lang="en-US" sz="2800" dirty="0"/>
          </a:p>
        </p:txBody>
      </p:sp>
      <p:sp>
        <p:nvSpPr>
          <p:cNvPr id="4" name="s-question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облигации было три источника денег. У акции — три вопроса к тому, что вы покупаете.</a:t>
            </a:r>
            <a:endParaRPr lang="en-US" sz="1400" dirty="0"/>
          </a:p>
        </p:txBody>
      </p:sp>
      <p:sp>
        <p:nvSpPr>
          <p:cNvPr id="5" name="s-questions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questions-text-5"/>
          <p:cNvSpPr txBox="1"/>
          <p:nvPr/>
        </p:nvSpPr>
        <p:spPr>
          <a:xfrm>
            <a:off x="1073150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s-questions-text-6"/>
          <p:cNvSpPr txBox="1"/>
          <p:nvPr/>
        </p:nvSpPr>
        <p:spPr>
          <a:xfrm>
            <a:off x="1073150" y="342632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Настоящая ли прибыль?</a:t>
            </a:r>
            <a:endParaRPr lang="en-US" sz="1800" dirty="0"/>
          </a:p>
        </p:txBody>
      </p:sp>
      <p:sp>
        <p:nvSpPr>
          <p:cNvPr id="8" name="s-questions-text-7"/>
          <p:cNvSpPr txBox="1"/>
          <p:nvPr/>
        </p:nvSpPr>
        <p:spPr>
          <a:xfrm>
            <a:off x="1073150" y="377676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Подтверждена ли она деньгами</a:t>
            </a:r>
            <a:endParaRPr lang="en-US" sz="1200" dirty="0"/>
          </a:p>
        </p:txBody>
      </p:sp>
      <p:sp>
        <p:nvSpPr>
          <p:cNvPr id="9" name="s-questions-box-8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s-questions-text-9"/>
          <p:cNvSpPr txBox="1"/>
          <p:nvPr/>
        </p:nvSpPr>
        <p:spPr>
          <a:xfrm>
            <a:off x="4662984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s-questions-text-10"/>
          <p:cNvSpPr txBox="1"/>
          <p:nvPr/>
        </p:nvSpPr>
        <p:spPr>
          <a:xfrm>
            <a:off x="4662984" y="3426321"/>
            <a:ext cx="2951912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Дойдут ли деньги до акционера?</a:t>
            </a:r>
            <a:endParaRPr lang="en-US" sz="1800" dirty="0"/>
          </a:p>
        </p:txBody>
      </p:sp>
      <p:sp>
        <p:nvSpPr>
          <p:cNvPr id="12" name="s-questions-text-11"/>
          <p:cNvSpPr txBox="1"/>
          <p:nvPr/>
        </p:nvSpPr>
        <p:spPr>
          <a:xfrm>
            <a:off x="4662984" y="4051002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и байбэк или капекс, долг и мажоритарий</a:t>
            </a:r>
            <a:endParaRPr lang="en-US" sz="1200" dirty="0"/>
          </a:p>
        </p:txBody>
      </p:sp>
      <p:sp>
        <p:nvSpPr>
          <p:cNvPr id="13" name="s-questions-box-12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questions-text-13"/>
          <p:cNvSpPr txBox="1"/>
          <p:nvPr/>
        </p:nvSpPr>
        <p:spPr>
          <a:xfrm>
            <a:off x="8252817" y="253732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15" name="s-questions-text-14"/>
          <p:cNvSpPr txBox="1"/>
          <p:nvPr/>
        </p:nvSpPr>
        <p:spPr>
          <a:xfrm>
            <a:off x="8252817" y="342632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за это плачу?</a:t>
            </a:r>
            <a:endParaRPr lang="en-US" sz="1800" dirty="0"/>
          </a:p>
        </p:txBody>
      </p:sp>
      <p:sp>
        <p:nvSpPr>
          <p:cNvPr id="16" name="s-questions-text-15"/>
          <p:cNvSpPr txBox="1"/>
          <p:nvPr/>
        </p:nvSpPr>
        <p:spPr>
          <a:xfrm>
            <a:off x="8252817" y="3776762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против ОФЗ, истории и аналогов</a:t>
            </a:r>
            <a:endParaRPr lang="en-US" sz="1200" dirty="0"/>
          </a:p>
        </p:txBody>
      </p:sp>
      <p:sp>
        <p:nvSpPr>
          <p:cNvPr id="17" name="s-questions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КАРКАС ТОТ ЖЕ</a:t>
            </a:r>
            <a:endParaRPr lang="en-US" sz="1200" dirty="0"/>
          </a:p>
        </p:txBody>
      </p:sp>
      <p:sp>
        <p:nvSpPr>
          <p:cNvPr id="3" name="s-ste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шагов: облигация и акция</a:t>
            </a:r>
            <a:endParaRPr lang="en-US" sz="2800" dirty="0"/>
          </a:p>
        </p:txBody>
      </p:sp>
      <p:sp>
        <p:nvSpPr>
          <p:cNvPr id="4" name="s-steps-box-3"/>
          <p:cNvSpPr/>
          <p:nvPr/>
        </p:nvSpPr>
        <p:spPr>
          <a:xfrm>
            <a:off x="812800" y="1765201"/>
            <a:ext cx="10566400" cy="22840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s-line-4"/>
          <p:cNvSpPr/>
          <p:nvPr/>
        </p:nvSpPr>
        <p:spPr>
          <a:xfrm>
            <a:off x="815975" y="2147987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steps-text-5"/>
          <p:cNvSpPr txBox="1"/>
          <p:nvPr/>
        </p:nvSpPr>
        <p:spPr>
          <a:xfrm>
            <a:off x="922655" y="1830606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</a:t>
            </a:r>
            <a:endParaRPr lang="en-US" sz="1400" dirty="0"/>
          </a:p>
        </p:txBody>
      </p:sp>
      <p:sp>
        <p:nvSpPr>
          <p:cNvPr id="7" name="s-steps-line-6"/>
          <p:cNvSpPr/>
          <p:nvPr/>
        </p:nvSpPr>
        <p:spPr>
          <a:xfrm>
            <a:off x="1660723" y="2147987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steps-text-7"/>
          <p:cNvSpPr txBox="1"/>
          <p:nvPr/>
        </p:nvSpPr>
        <p:spPr>
          <a:xfrm>
            <a:off x="1767403" y="1830606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</a:t>
            </a:r>
            <a:endParaRPr lang="en-US" sz="1400" dirty="0"/>
          </a:p>
        </p:txBody>
      </p:sp>
      <p:sp>
        <p:nvSpPr>
          <p:cNvPr id="9" name="s-steps-line-8"/>
          <p:cNvSpPr/>
          <p:nvPr/>
        </p:nvSpPr>
        <p:spPr>
          <a:xfrm>
            <a:off x="5462290" y="2147987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steps-text-9"/>
          <p:cNvSpPr txBox="1"/>
          <p:nvPr/>
        </p:nvSpPr>
        <p:spPr>
          <a:xfrm>
            <a:off x="5568970" y="1830606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</a:t>
            </a:r>
            <a:endParaRPr lang="en-US" sz="1400" dirty="0"/>
          </a:p>
        </p:txBody>
      </p:sp>
      <p:sp>
        <p:nvSpPr>
          <p:cNvPr id="11" name="s-steps-line-10"/>
          <p:cNvSpPr/>
          <p:nvPr/>
        </p:nvSpPr>
        <p:spPr>
          <a:xfrm>
            <a:off x="9897467" y="2147987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steps-text-11"/>
          <p:cNvSpPr txBox="1"/>
          <p:nvPr/>
        </p:nvSpPr>
        <p:spPr>
          <a:xfrm>
            <a:off x="9966191" y="1830606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1400" dirty="0"/>
          </a:p>
        </p:txBody>
      </p:sp>
      <p:sp>
        <p:nvSpPr>
          <p:cNvPr id="13" name="s-steps-line-12"/>
          <p:cNvSpPr/>
          <p:nvPr/>
        </p:nvSpPr>
        <p:spPr>
          <a:xfrm>
            <a:off x="815975" y="2527598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s-text-13"/>
          <p:cNvSpPr txBox="1"/>
          <p:nvPr/>
        </p:nvSpPr>
        <p:spPr>
          <a:xfrm>
            <a:off x="922655" y="2210217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-steps-line-14"/>
          <p:cNvSpPr/>
          <p:nvPr/>
        </p:nvSpPr>
        <p:spPr>
          <a:xfrm>
            <a:off x="1660723" y="2527598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steps-text-15"/>
          <p:cNvSpPr txBox="1"/>
          <p:nvPr/>
        </p:nvSpPr>
        <p:spPr>
          <a:xfrm>
            <a:off x="1767403" y="2210217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компании</a:t>
            </a:r>
            <a:endParaRPr lang="en-US" sz="1400" dirty="0"/>
          </a:p>
        </p:txBody>
      </p:sp>
      <p:sp>
        <p:nvSpPr>
          <p:cNvPr id="17" name="s-steps-line-16"/>
          <p:cNvSpPr/>
          <p:nvPr/>
        </p:nvSpPr>
        <p:spPr>
          <a:xfrm>
            <a:off x="5462290" y="2527598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steps-text-17"/>
          <p:cNvSpPr txBox="1"/>
          <p:nvPr/>
        </p:nvSpPr>
        <p:spPr>
          <a:xfrm>
            <a:off x="5568970" y="2210217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владелец и что вы покупаете</a:t>
            </a:r>
            <a:endParaRPr lang="en-US" sz="1400" dirty="0"/>
          </a:p>
        </p:txBody>
      </p:sp>
      <p:sp>
        <p:nvSpPr>
          <p:cNvPr id="19" name="s-steps-line-18"/>
          <p:cNvSpPr/>
          <p:nvPr/>
        </p:nvSpPr>
        <p:spPr>
          <a:xfrm>
            <a:off x="9897467" y="2527598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steps-text-19"/>
          <p:cNvSpPr txBox="1"/>
          <p:nvPr/>
        </p:nvSpPr>
        <p:spPr>
          <a:xfrm>
            <a:off x="10004147" y="2210217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21" name="s-steps-line-20"/>
          <p:cNvSpPr/>
          <p:nvPr/>
        </p:nvSpPr>
        <p:spPr>
          <a:xfrm>
            <a:off x="815975" y="2907209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steps-text-21"/>
          <p:cNvSpPr txBox="1"/>
          <p:nvPr/>
        </p:nvSpPr>
        <p:spPr>
          <a:xfrm>
            <a:off x="922655" y="2589828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-steps-line-22"/>
          <p:cNvSpPr/>
          <p:nvPr/>
        </p:nvSpPr>
        <p:spPr>
          <a:xfrm>
            <a:off x="1660723" y="2907209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steps-text-23"/>
          <p:cNvSpPr txBox="1"/>
          <p:nvPr/>
        </p:nvSpPr>
        <p:spPr>
          <a:xfrm>
            <a:off x="1767403" y="2589828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и ближайшие выплаты</a:t>
            </a:r>
            <a:endParaRPr lang="en-US" sz="1400" dirty="0"/>
          </a:p>
        </p:txBody>
      </p:sp>
      <p:sp>
        <p:nvSpPr>
          <p:cNvPr id="25" name="s-steps-line-24"/>
          <p:cNvSpPr/>
          <p:nvPr/>
        </p:nvSpPr>
        <p:spPr>
          <a:xfrm>
            <a:off x="5462290" y="2907209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steps-text-25"/>
          <p:cNvSpPr txBox="1"/>
          <p:nvPr/>
        </p:nvSpPr>
        <p:spPr>
          <a:xfrm>
            <a:off x="5568970" y="2589828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и цена денег</a:t>
            </a:r>
            <a:endParaRPr lang="en-US" sz="1400" dirty="0"/>
          </a:p>
        </p:txBody>
      </p:sp>
      <p:sp>
        <p:nvSpPr>
          <p:cNvPr id="27" name="s-steps-line-26"/>
          <p:cNvSpPr/>
          <p:nvPr/>
        </p:nvSpPr>
        <p:spPr>
          <a:xfrm>
            <a:off x="9897467" y="2907209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steps-text-27"/>
          <p:cNvSpPr txBox="1"/>
          <p:nvPr/>
        </p:nvSpPr>
        <p:spPr>
          <a:xfrm>
            <a:off x="10004147" y="2589828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29" name="s-steps-line-28"/>
          <p:cNvSpPr/>
          <p:nvPr/>
        </p:nvSpPr>
        <p:spPr>
          <a:xfrm>
            <a:off x="815975" y="3286820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steps-text-29"/>
          <p:cNvSpPr txBox="1"/>
          <p:nvPr/>
        </p:nvSpPr>
        <p:spPr>
          <a:xfrm>
            <a:off x="922655" y="2969439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-steps-line-30"/>
          <p:cNvSpPr/>
          <p:nvPr/>
        </p:nvSpPr>
        <p:spPr>
          <a:xfrm>
            <a:off x="1660723" y="3286820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steps-text-31"/>
          <p:cNvSpPr txBox="1"/>
          <p:nvPr/>
        </p:nvSpPr>
        <p:spPr>
          <a:xfrm>
            <a:off x="1767403" y="2969439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источника денег</a:t>
            </a:r>
            <a:endParaRPr lang="en-US" sz="1400" dirty="0"/>
          </a:p>
        </p:txBody>
      </p:sp>
      <p:sp>
        <p:nvSpPr>
          <p:cNvPr id="33" name="s-steps-line-32"/>
          <p:cNvSpPr/>
          <p:nvPr/>
        </p:nvSpPr>
        <p:spPr>
          <a:xfrm>
            <a:off x="5462290" y="3286820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steps-text-33"/>
          <p:cNvSpPr txBox="1"/>
          <p:nvPr/>
        </p:nvSpPr>
        <p:spPr>
          <a:xfrm>
            <a:off x="5568970" y="2969439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прибыли</a:t>
            </a:r>
            <a:endParaRPr lang="en-US" sz="1400" dirty="0"/>
          </a:p>
        </p:txBody>
      </p:sp>
      <p:sp>
        <p:nvSpPr>
          <p:cNvPr id="35" name="s-steps-line-34"/>
          <p:cNvSpPr/>
          <p:nvPr/>
        </p:nvSpPr>
        <p:spPr>
          <a:xfrm>
            <a:off x="9897467" y="3286820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steps-text-35"/>
          <p:cNvSpPr txBox="1"/>
          <p:nvPr/>
        </p:nvSpPr>
        <p:spPr>
          <a:xfrm>
            <a:off x="10004147" y="2969439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мин</a:t>
            </a:r>
            <a:endParaRPr lang="en-US" sz="1400" dirty="0"/>
          </a:p>
        </p:txBody>
      </p:sp>
      <p:sp>
        <p:nvSpPr>
          <p:cNvPr id="37" name="s-steps-line-36"/>
          <p:cNvSpPr/>
          <p:nvPr/>
        </p:nvSpPr>
        <p:spPr>
          <a:xfrm>
            <a:off x="815975" y="3666430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steps-text-37"/>
          <p:cNvSpPr txBox="1"/>
          <p:nvPr/>
        </p:nvSpPr>
        <p:spPr>
          <a:xfrm>
            <a:off x="922655" y="3349050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s-steps-line-38"/>
          <p:cNvSpPr/>
          <p:nvPr/>
        </p:nvSpPr>
        <p:spPr>
          <a:xfrm>
            <a:off x="1660723" y="3666430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steps-text-39"/>
          <p:cNvSpPr txBox="1"/>
          <p:nvPr/>
        </p:nvSpPr>
        <p:spPr>
          <a:xfrm>
            <a:off x="1767403" y="3349050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</a:t>
            </a:r>
            <a:endParaRPr lang="en-US" sz="1400" dirty="0"/>
          </a:p>
        </p:txBody>
      </p:sp>
      <p:sp>
        <p:nvSpPr>
          <p:cNvPr id="41" name="s-steps-line-40"/>
          <p:cNvSpPr/>
          <p:nvPr/>
        </p:nvSpPr>
        <p:spPr>
          <a:xfrm>
            <a:off x="5462290" y="3666430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s-steps-text-41"/>
          <p:cNvSpPr txBox="1"/>
          <p:nvPr/>
        </p:nvSpPr>
        <p:spPr>
          <a:xfrm>
            <a:off x="5568970" y="3349050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дойдёт до акционера</a:t>
            </a:r>
            <a:endParaRPr lang="en-US" sz="1400" dirty="0"/>
          </a:p>
        </p:txBody>
      </p:sp>
      <p:sp>
        <p:nvSpPr>
          <p:cNvPr id="43" name="s-steps-line-42"/>
          <p:cNvSpPr/>
          <p:nvPr/>
        </p:nvSpPr>
        <p:spPr>
          <a:xfrm>
            <a:off x="9897467" y="3666430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s-steps-text-43"/>
          <p:cNvSpPr txBox="1"/>
          <p:nvPr/>
        </p:nvSpPr>
        <p:spPr>
          <a:xfrm>
            <a:off x="10004147" y="3349050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</a:t>
            </a:r>
            <a:endParaRPr lang="en-US" sz="1400" dirty="0"/>
          </a:p>
        </p:txBody>
      </p:sp>
      <p:sp>
        <p:nvSpPr>
          <p:cNvPr id="45" name="s-steps-line-44"/>
          <p:cNvSpPr/>
          <p:nvPr/>
        </p:nvSpPr>
        <p:spPr>
          <a:xfrm>
            <a:off x="815975" y="4046041"/>
            <a:ext cx="84474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s-steps-text-45"/>
          <p:cNvSpPr txBox="1"/>
          <p:nvPr/>
        </p:nvSpPr>
        <p:spPr>
          <a:xfrm>
            <a:off x="922655" y="3728660"/>
            <a:ext cx="650330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-steps-line-46"/>
          <p:cNvSpPr/>
          <p:nvPr/>
        </p:nvSpPr>
        <p:spPr>
          <a:xfrm>
            <a:off x="1660723" y="4046041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s-steps-text-47"/>
          <p:cNvSpPr txBox="1"/>
          <p:nvPr/>
        </p:nvSpPr>
        <p:spPr>
          <a:xfrm>
            <a:off x="1767403" y="3728660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Флаги-стопы</a:t>
            </a:r>
            <a:endParaRPr lang="en-US" sz="1400" dirty="0"/>
          </a:p>
        </p:txBody>
      </p:sp>
      <p:sp>
        <p:nvSpPr>
          <p:cNvPr id="49" name="s-steps-line-48"/>
          <p:cNvSpPr/>
          <p:nvPr/>
        </p:nvSpPr>
        <p:spPr>
          <a:xfrm>
            <a:off x="5462290" y="4046041"/>
            <a:ext cx="443517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s-steps-text-49"/>
          <p:cNvSpPr txBox="1"/>
          <p:nvPr/>
        </p:nvSpPr>
        <p:spPr>
          <a:xfrm>
            <a:off x="5568970" y="3728660"/>
            <a:ext cx="4348472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отраслевая поправка, флаги</a:t>
            </a:r>
            <a:endParaRPr lang="en-US" sz="1400" dirty="0"/>
          </a:p>
        </p:txBody>
      </p:sp>
      <p:sp>
        <p:nvSpPr>
          <p:cNvPr id="51" name="s-steps-line-50"/>
          <p:cNvSpPr/>
          <p:nvPr/>
        </p:nvSpPr>
        <p:spPr>
          <a:xfrm>
            <a:off x="9897467" y="4046041"/>
            <a:ext cx="147855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s-steps-text-51"/>
          <p:cNvSpPr txBox="1"/>
          <p:nvPr/>
        </p:nvSpPr>
        <p:spPr>
          <a:xfrm>
            <a:off x="10004147" y="3728660"/>
            <a:ext cx="130315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мин</a:t>
            </a:r>
            <a:endParaRPr lang="en-US" sz="1400" dirty="0"/>
          </a:p>
        </p:txBody>
      </p:sp>
      <p:sp>
        <p:nvSpPr>
          <p:cNvPr id="53" name="s-steps-text-52"/>
          <p:cNvSpPr txBox="1"/>
          <p:nvPr/>
        </p:nvSpPr>
        <p:spPr>
          <a:xfrm>
            <a:off x="812800" y="4303216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 у акции переезжает в пятый шаг, рядом с ценой: от сектора зависит, какой мультипликатор вообще имеет смысл.</a:t>
            </a:r>
            <a:endParaRPr lang="en-US" sz="1400" dirty="0"/>
          </a:p>
        </p:txBody>
      </p:sp>
      <p:sp>
        <p:nvSpPr>
          <p:cNvPr id="54" name="s-steps-text-5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1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1 · 5 МИНУТ</a:t>
            </a:r>
            <a:endParaRPr lang="en-US" sz="1200" dirty="0"/>
          </a:p>
        </p:txBody>
      </p:sp>
      <p:sp>
        <p:nvSpPr>
          <p:cNvPr id="3" name="s-step1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владелец и что вы покупаете</a:t>
            </a:r>
            <a:endParaRPr lang="en-US" sz="2800" dirty="0"/>
          </a:p>
        </p:txBody>
      </p:sp>
      <p:sp>
        <p:nvSpPr>
          <p:cNvPr id="4" name="s-step1-text-3"/>
          <p:cNvSpPr txBox="1"/>
          <p:nvPr/>
        </p:nvSpPr>
        <p:spPr>
          <a:xfrm>
            <a:off x="812800" y="1765201"/>
            <a:ext cx="602768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и free-float.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Государство, частный мажоритарий или менеджмент. Квазиказначейские акции исключайте из расчёта на акцию</a:t>
            </a:r>
            <a:endParaRPr lang="en-US" sz="1400" dirty="0"/>
          </a:p>
        </p:txBody>
      </p:sp>
      <p:sp>
        <p:nvSpPr>
          <p:cNvPr id="5" name="s-step1-text-4"/>
          <p:cNvSpPr txBox="1"/>
          <p:nvPr/>
        </p:nvSpPr>
        <p:spPr>
          <a:xfrm>
            <a:off x="812800" y="2638723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Обыкновенная или привилегированная.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Дивиденд по префам прописан в уставе: читайте устав</a:t>
            </a:r>
            <a:endParaRPr lang="en-US" sz="1400" dirty="0"/>
          </a:p>
        </p:txBody>
      </p:sp>
      <p:sp>
        <p:nvSpPr>
          <p:cNvPr id="6" name="s-step1-text-5"/>
          <p:cNvSpPr txBox="1"/>
          <p:nvPr/>
        </p:nvSpPr>
        <p:spPr>
          <a:xfrm>
            <a:off x="812800" y="3263404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 или операционная компания.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 холдинга прибыль материнской — это дивиденды «дочек», строка 2310</a:t>
            </a:r>
            <a:endParaRPr lang="en-US" sz="1400" dirty="0"/>
          </a:p>
        </p:txBody>
      </p:sp>
      <p:sp>
        <p:nvSpPr>
          <p:cNvPr id="7" name="s-step1-text-6"/>
          <p:cNvSpPr txBox="1"/>
          <p:nvPr/>
        </p:nvSpPr>
        <p:spPr>
          <a:xfrm>
            <a:off x="812800" y="3888085"/>
            <a:ext cx="60276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 миноритариями.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Допэмиссии, SPO с дисконтом, выкупы по низкой цене, отмены дивидендов</a:t>
            </a:r>
            <a:endParaRPr lang="en-US" sz="1400" dirty="0"/>
          </a:p>
        </p:txBody>
      </p:sp>
      <p:sp>
        <p:nvSpPr>
          <p:cNvPr id="8" name="s-step1-box-7"/>
          <p:cNvSpPr/>
          <p:nvPr/>
        </p:nvSpPr>
        <p:spPr>
          <a:xfrm>
            <a:off x="6969720" y="1765201"/>
            <a:ext cx="440948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9" name="s-step1-text-8"/>
          <p:cNvSpPr txBox="1"/>
          <p:nvPr/>
        </p:nvSpPr>
        <p:spPr>
          <a:xfrm>
            <a:off x="7223720" y="2762945"/>
            <a:ext cx="401852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</a:t>
            </a:r>
            <a:endParaRPr lang="en-US" sz="1200" dirty="0"/>
          </a:p>
        </p:txBody>
      </p:sp>
      <p:sp>
        <p:nvSpPr>
          <p:cNvPr id="10" name="s-step1-text-9"/>
          <p:cNvSpPr txBox="1"/>
          <p:nvPr/>
        </p:nvSpPr>
        <p:spPr>
          <a:xfrm>
            <a:off x="7223720" y="3077865"/>
            <a:ext cx="4018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Префы Сургутнефтегаза</a:t>
            </a:r>
            <a:endParaRPr lang="en-US" sz="1800" dirty="0"/>
          </a:p>
        </p:txBody>
      </p:sp>
      <p:sp>
        <p:nvSpPr>
          <p:cNvPr id="11" name="s-step1-text-10"/>
          <p:cNvSpPr txBox="1"/>
          <p:nvPr/>
        </p:nvSpPr>
        <p:spPr>
          <a:xfrm>
            <a:off x="7223720" y="3453705"/>
            <a:ext cx="401852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уставу на префы идёт фиксированная доля чистой прибыли по РСБУ, в сумме около 7,1%.</a:t>
            </a:r>
            <a:endParaRPr lang="en-US" sz="1400" dirty="0"/>
          </a:p>
        </p:txBody>
      </p:sp>
      <p:sp>
        <p:nvSpPr>
          <p:cNvPr id="12" name="s-step1-text-11"/>
          <p:cNvSpPr txBox="1"/>
          <p:nvPr/>
        </p:nvSpPr>
        <p:spPr>
          <a:xfrm>
            <a:off x="7223720" y="4070846"/>
            <a:ext cx="4018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сильно зависит от курсовых разниц по валютным депозитам (2340, 2350): крепкий рубль — меньше дивиденд.</a:t>
            </a:r>
            <a:endParaRPr lang="en-US" sz="1400" dirty="0"/>
          </a:p>
        </p:txBody>
      </p:sp>
      <p:sp>
        <p:nvSpPr>
          <p:cNvPr id="13" name="s-step1-text-1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2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2 · 5 МИНУТ</a:t>
            </a:r>
            <a:endParaRPr lang="en-US" sz="1200" dirty="0"/>
          </a:p>
        </p:txBody>
      </p:sp>
      <p:sp>
        <p:nvSpPr>
          <p:cNvPr id="3" name="s-step2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и цена денег</a:t>
            </a:r>
            <a:endParaRPr lang="en-US" sz="2800" dirty="0"/>
          </a:p>
        </p:txBody>
      </p:sp>
      <p:sp>
        <p:nvSpPr>
          <p:cNvPr id="4" name="s-step2-text-3"/>
          <p:cNvSpPr txBox="1"/>
          <p:nvPr/>
        </p:nvSpPr>
        <p:spPr>
          <a:xfrm>
            <a:off x="812800" y="176520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акционера долг опасен раньше, чем для кредитора: компания может платить купоны и годами не платить дивиденды.</a:t>
            </a:r>
            <a:endParaRPr lang="en-US" sz="1800" dirty="0"/>
          </a:p>
        </p:txBody>
      </p:sp>
      <p:sp>
        <p:nvSpPr>
          <p:cNvPr id="5" name="s-step2-box-4"/>
          <p:cNvSpPr/>
          <p:nvPr/>
        </p:nvSpPr>
        <p:spPr>
          <a:xfrm>
            <a:off x="812800" y="2613521"/>
            <a:ext cx="10566400" cy="1145183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step2-line-5"/>
          <p:cNvSpPr/>
          <p:nvPr/>
        </p:nvSpPr>
        <p:spPr>
          <a:xfrm>
            <a:off x="815975" y="2996307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s-step2-text-6"/>
          <p:cNvSpPr txBox="1"/>
          <p:nvPr/>
        </p:nvSpPr>
        <p:spPr>
          <a:xfrm>
            <a:off x="922655" y="2678926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400" dirty="0"/>
          </a:p>
        </p:txBody>
      </p:sp>
      <p:sp>
        <p:nvSpPr>
          <p:cNvPr id="8" name="s-step2-line-7"/>
          <p:cNvSpPr/>
          <p:nvPr/>
        </p:nvSpPr>
        <p:spPr>
          <a:xfrm>
            <a:off x="4617541" y="2996307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s-step2-text-8"/>
          <p:cNvSpPr txBox="1"/>
          <p:nvPr/>
        </p:nvSpPr>
        <p:spPr>
          <a:xfrm>
            <a:off x="4724221" y="2678926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400" dirty="0"/>
          </a:p>
        </p:txBody>
      </p:sp>
      <p:sp>
        <p:nvSpPr>
          <p:cNvPr id="10" name="s-step2-line-9"/>
          <p:cNvSpPr/>
          <p:nvPr/>
        </p:nvSpPr>
        <p:spPr>
          <a:xfrm>
            <a:off x="6729512" y="2996307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2-text-10"/>
          <p:cNvSpPr txBox="1"/>
          <p:nvPr/>
        </p:nvSpPr>
        <p:spPr>
          <a:xfrm>
            <a:off x="6836192" y="2678926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400" dirty="0"/>
          </a:p>
        </p:txBody>
      </p:sp>
      <p:sp>
        <p:nvSpPr>
          <p:cNvPr id="12" name="s-step2-line-11"/>
          <p:cNvSpPr/>
          <p:nvPr/>
        </p:nvSpPr>
        <p:spPr>
          <a:xfrm>
            <a:off x="815975" y="3375918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s-step2-text-12"/>
          <p:cNvSpPr txBox="1"/>
          <p:nvPr/>
        </p:nvSpPr>
        <p:spPr>
          <a:xfrm>
            <a:off x="922655" y="3058537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/ EBITDA</a:t>
            </a:r>
            <a:endParaRPr lang="en-US" sz="1400" dirty="0"/>
          </a:p>
        </p:txBody>
      </p:sp>
      <p:sp>
        <p:nvSpPr>
          <p:cNvPr id="14" name="s-step2-line-13"/>
          <p:cNvSpPr/>
          <p:nvPr/>
        </p:nvSpPr>
        <p:spPr>
          <a:xfrm>
            <a:off x="4617541" y="3375918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s-step2-text-14"/>
          <p:cNvSpPr txBox="1"/>
          <p:nvPr/>
        </p:nvSpPr>
        <p:spPr>
          <a:xfrm>
            <a:off x="4724221" y="3058537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1,5</a:t>
            </a:r>
            <a:endParaRPr lang="en-US" sz="1400" dirty="0"/>
          </a:p>
        </p:txBody>
      </p:sp>
      <p:sp>
        <p:nvSpPr>
          <p:cNvPr id="16" name="s-step2-line-15"/>
          <p:cNvSpPr/>
          <p:nvPr/>
        </p:nvSpPr>
        <p:spPr>
          <a:xfrm>
            <a:off x="6729512" y="3375918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s-step2-text-16"/>
          <p:cNvSpPr txBox="1"/>
          <p:nvPr/>
        </p:nvSpPr>
        <p:spPr>
          <a:xfrm>
            <a:off x="6836192" y="3058537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3; между — смотрим график и ставку</a:t>
            </a:r>
            <a:endParaRPr lang="en-US" sz="1400" dirty="0"/>
          </a:p>
        </p:txBody>
      </p:sp>
      <p:sp>
        <p:nvSpPr>
          <p:cNvPr id="18" name="s-step2-line-17"/>
          <p:cNvSpPr/>
          <p:nvPr/>
        </p:nvSpPr>
        <p:spPr>
          <a:xfrm>
            <a:off x="815975" y="3755529"/>
            <a:ext cx="380156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s-step2-text-18"/>
          <p:cNvSpPr txBox="1"/>
          <p:nvPr/>
        </p:nvSpPr>
        <p:spPr>
          <a:xfrm>
            <a:off x="922655" y="3438148"/>
            <a:ext cx="3695853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проценты</a:t>
            </a:r>
            <a:endParaRPr lang="en-US" sz="1400" dirty="0"/>
          </a:p>
        </p:txBody>
      </p:sp>
      <p:sp>
        <p:nvSpPr>
          <p:cNvPr id="20" name="s-step2-line-19"/>
          <p:cNvSpPr/>
          <p:nvPr/>
        </p:nvSpPr>
        <p:spPr>
          <a:xfrm>
            <a:off x="4617541" y="3755529"/>
            <a:ext cx="211197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s-step2-text-20"/>
          <p:cNvSpPr txBox="1"/>
          <p:nvPr/>
        </p:nvSpPr>
        <p:spPr>
          <a:xfrm>
            <a:off x="4724221" y="3438148"/>
            <a:ext cx="1955569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4</a:t>
            </a:r>
            <a:endParaRPr lang="en-US" sz="1400" dirty="0"/>
          </a:p>
        </p:txBody>
      </p:sp>
      <p:sp>
        <p:nvSpPr>
          <p:cNvPr id="22" name="s-step2-line-21"/>
          <p:cNvSpPr/>
          <p:nvPr/>
        </p:nvSpPr>
        <p:spPr>
          <a:xfrm>
            <a:off x="6729512" y="3755529"/>
            <a:ext cx="46465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s-step2-text-22"/>
          <p:cNvSpPr txBox="1"/>
          <p:nvPr/>
        </p:nvSpPr>
        <p:spPr>
          <a:xfrm>
            <a:off x="6836192" y="3438148"/>
            <a:ext cx="4566148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2</a:t>
            </a:r>
            <a:endParaRPr lang="en-US" sz="1400" dirty="0"/>
          </a:p>
        </p:txBody>
      </p:sp>
      <p:sp>
        <p:nvSpPr>
          <p:cNvPr id="24" name="s-step2-box-23"/>
          <p:cNvSpPr/>
          <p:nvPr/>
        </p:nvSpPr>
        <p:spPr>
          <a:xfrm>
            <a:off x="812800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5" name="s-step2-text-24"/>
          <p:cNvSpPr txBox="1"/>
          <p:nvPr/>
        </p:nvSpPr>
        <p:spPr>
          <a:xfrm>
            <a:off x="996950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Сопоставимо</a:t>
            </a:r>
            <a:endParaRPr lang="en-US" sz="1400" dirty="0"/>
          </a:p>
        </p:txBody>
      </p:sp>
      <p:sp>
        <p:nvSpPr>
          <p:cNvPr id="26" name="s-step2-text-25"/>
          <p:cNvSpPr txBox="1"/>
          <p:nvPr/>
        </p:nvSpPr>
        <p:spPr>
          <a:xfrm>
            <a:off x="996950" y="4460974"/>
            <a:ext cx="314383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с арендой — к EBITDA по МСФО 16. Без аренды — обе величины без неё</a:t>
            </a:r>
            <a:endParaRPr lang="en-US" sz="1200" dirty="0"/>
          </a:p>
        </p:txBody>
      </p:sp>
      <p:sp>
        <p:nvSpPr>
          <p:cNvPr id="27" name="s-step2-box-26"/>
          <p:cNvSpPr/>
          <p:nvPr/>
        </p:nvSpPr>
        <p:spPr>
          <a:xfrm>
            <a:off x="4385766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8" name="s-step2-text-27"/>
          <p:cNvSpPr txBox="1"/>
          <p:nvPr/>
        </p:nvSpPr>
        <p:spPr>
          <a:xfrm>
            <a:off x="4569916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Плавающая ставка</a:t>
            </a:r>
            <a:endParaRPr lang="en-US" sz="1400" dirty="0"/>
          </a:p>
        </p:txBody>
      </p:sp>
      <p:sp>
        <p:nvSpPr>
          <p:cNvPr id="29" name="s-step2-text-28"/>
          <p:cNvSpPr txBox="1"/>
          <p:nvPr/>
        </p:nvSpPr>
        <p:spPr>
          <a:xfrm>
            <a:off x="4569916" y="4460974"/>
            <a:ext cx="314383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Примечание о процентном риске: как изменится прибыль при сдвиге ставки на 1 п. п.</a:t>
            </a:r>
            <a:endParaRPr lang="en-US" sz="1200" dirty="0"/>
          </a:p>
        </p:txBody>
      </p:sp>
      <p:sp>
        <p:nvSpPr>
          <p:cNvPr id="30" name="s-step2-box-29"/>
          <p:cNvSpPr/>
          <p:nvPr/>
        </p:nvSpPr>
        <p:spPr>
          <a:xfrm>
            <a:off x="7958733" y="4012704"/>
            <a:ext cx="3420566" cy="1272381"/>
          </a:xfrm>
          <a:prstGeom prst="roundRect">
            <a:avLst>
              <a:gd name="adj" fmla="val 573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31" name="s-step2-text-30"/>
          <p:cNvSpPr txBox="1"/>
          <p:nvPr/>
        </p:nvSpPr>
        <p:spPr>
          <a:xfrm>
            <a:off x="8142883" y="4196854"/>
            <a:ext cx="314383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</a:t>
            </a:r>
            <a:endParaRPr lang="en-US" sz="1400" dirty="0"/>
          </a:p>
        </p:txBody>
      </p:sp>
      <p:sp>
        <p:nvSpPr>
          <p:cNvPr id="32" name="s-step2-text-31"/>
          <p:cNvSpPr txBox="1"/>
          <p:nvPr/>
        </p:nvSpPr>
        <p:spPr>
          <a:xfrm>
            <a:off x="8142883" y="4460974"/>
            <a:ext cx="314383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процентов искажает покрытие и здесь</a:t>
            </a:r>
            <a:endParaRPr lang="en-US" sz="1200" dirty="0"/>
          </a:p>
        </p:txBody>
      </p:sp>
      <p:sp>
        <p:nvSpPr>
          <p:cNvPr id="33" name="s-step2-text-3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3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КАЧЕСТВО ПРИБЫЛИ · 8 МИНУТ</a:t>
            </a:r>
            <a:endParaRPr lang="en-US" sz="1200" dirty="0"/>
          </a:p>
        </p:txBody>
      </p:sp>
      <p:sp>
        <p:nvSpPr>
          <p:cNvPr id="3" name="s-step3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выручки до дивиденда</a:t>
            </a:r>
            <a:endParaRPr lang="en-US" sz="2800" dirty="0"/>
          </a:p>
        </p:txBody>
      </p:sp>
      <p:sp>
        <p:nvSpPr>
          <p:cNvPr id="4" name="s-step3-box-3"/>
          <p:cNvSpPr/>
          <p:nvPr/>
        </p:nvSpPr>
        <p:spPr>
          <a:xfrm>
            <a:off x="812800" y="1765201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3-text-4"/>
          <p:cNvSpPr txBox="1"/>
          <p:nvPr/>
        </p:nvSpPr>
        <p:spPr>
          <a:xfrm>
            <a:off x="965200" y="1841401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400" dirty="0"/>
          </a:p>
        </p:txBody>
      </p:sp>
      <p:sp>
        <p:nvSpPr>
          <p:cNvPr id="6" name="s-step3-text-5"/>
          <p:cNvSpPr txBox="1"/>
          <p:nvPr/>
        </p:nvSpPr>
        <p:spPr>
          <a:xfrm>
            <a:off x="3810000" y="1847751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себестоимость и операционные расходы</a:t>
            </a:r>
            <a:endParaRPr lang="en-US" sz="1400" dirty="0"/>
          </a:p>
        </p:txBody>
      </p:sp>
      <p:sp>
        <p:nvSpPr>
          <p:cNvPr id="7" name="s-step3-box-6"/>
          <p:cNvSpPr/>
          <p:nvPr/>
        </p:nvSpPr>
        <p:spPr>
          <a:xfrm>
            <a:off x="812800" y="2255341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s-step3-text-7"/>
          <p:cNvSpPr txBox="1"/>
          <p:nvPr/>
        </p:nvSpPr>
        <p:spPr>
          <a:xfrm>
            <a:off x="965200" y="2331541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1400" dirty="0"/>
          </a:p>
        </p:txBody>
      </p:sp>
      <p:sp>
        <p:nvSpPr>
          <p:cNvPr id="9" name="s-step3-text-8"/>
          <p:cNvSpPr txBox="1"/>
          <p:nvPr/>
        </p:nvSpPr>
        <p:spPr>
          <a:xfrm>
            <a:off x="3810000" y="2337891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амортизация, проценты, налог, разовые статьи</a:t>
            </a:r>
            <a:endParaRPr lang="en-US" sz="1400" dirty="0"/>
          </a:p>
        </p:txBody>
      </p:sp>
      <p:sp>
        <p:nvSpPr>
          <p:cNvPr id="10" name="s-step3-box-9"/>
          <p:cNvSpPr/>
          <p:nvPr/>
        </p:nvSpPr>
        <p:spPr>
          <a:xfrm>
            <a:off x="812800" y="2745482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3-text-10"/>
          <p:cNvSpPr txBox="1"/>
          <p:nvPr/>
        </p:nvSpPr>
        <p:spPr>
          <a:xfrm>
            <a:off x="965200" y="2821682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12" name="s-step3-text-11"/>
          <p:cNvSpPr txBox="1"/>
          <p:nvPr/>
        </p:nvSpPr>
        <p:spPr>
          <a:xfrm>
            <a:off x="3810000" y="2828032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рост дебиторки и запасов, неденежные доходы</a:t>
            </a:r>
            <a:endParaRPr lang="en-US" sz="1400" dirty="0"/>
          </a:p>
        </p:txBody>
      </p:sp>
      <p:sp>
        <p:nvSpPr>
          <p:cNvPr id="13" name="s-step3-box-12"/>
          <p:cNvSpPr/>
          <p:nvPr/>
        </p:nvSpPr>
        <p:spPr>
          <a:xfrm>
            <a:off x="812800" y="3235623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3-text-13"/>
          <p:cNvSpPr txBox="1"/>
          <p:nvPr/>
        </p:nvSpPr>
        <p:spPr>
          <a:xfrm>
            <a:off x="965200" y="3311823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</a:t>
            </a:r>
            <a:endParaRPr lang="en-US" sz="1400" dirty="0"/>
          </a:p>
        </p:txBody>
      </p:sp>
      <p:sp>
        <p:nvSpPr>
          <p:cNvPr id="15" name="s-step3-text-14"/>
          <p:cNvSpPr txBox="1"/>
          <p:nvPr/>
        </p:nvSpPr>
        <p:spPr>
          <a:xfrm>
            <a:off x="3810000" y="3318173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 капекс, аренда, проценты из финансового потока</a:t>
            </a:r>
            <a:endParaRPr lang="en-US" sz="1400" dirty="0"/>
          </a:p>
        </p:txBody>
      </p:sp>
      <p:sp>
        <p:nvSpPr>
          <p:cNvPr id="16" name="s-step3-box-15"/>
          <p:cNvSpPr/>
          <p:nvPr/>
        </p:nvSpPr>
        <p:spPr>
          <a:xfrm>
            <a:off x="812800" y="3725763"/>
            <a:ext cx="2794000" cy="413941"/>
          </a:xfrm>
          <a:prstGeom prst="roundRect">
            <a:avLst>
              <a:gd name="adj" fmla="val 406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7" name="s-step3-text-16"/>
          <p:cNvSpPr txBox="1"/>
          <p:nvPr/>
        </p:nvSpPr>
        <p:spPr>
          <a:xfrm>
            <a:off x="965200" y="3801963"/>
            <a:ext cx="2563876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 (FCF)</a:t>
            </a:r>
            <a:endParaRPr lang="en-US" sz="1400" dirty="0"/>
          </a:p>
        </p:txBody>
      </p:sp>
      <p:sp>
        <p:nvSpPr>
          <p:cNvPr id="18" name="s-step3-text-17"/>
          <p:cNvSpPr txBox="1"/>
          <p:nvPr/>
        </p:nvSpPr>
        <p:spPr>
          <a:xfrm>
            <a:off x="3810000" y="3808313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решают совет директоров и собрание</a:t>
            </a:r>
            <a:endParaRPr lang="en-US" sz="1400" dirty="0"/>
          </a:p>
        </p:txBody>
      </p:sp>
      <p:sp>
        <p:nvSpPr>
          <p:cNvPr id="19" name="s-step3-box-18"/>
          <p:cNvSpPr/>
          <p:nvPr/>
        </p:nvSpPr>
        <p:spPr>
          <a:xfrm>
            <a:off x="812800" y="4215904"/>
            <a:ext cx="2794000" cy="401241"/>
          </a:xfrm>
          <a:prstGeom prst="roundRect">
            <a:avLst>
              <a:gd name="adj" fmla="val 43279"/>
            </a:avLst>
          </a:prstGeom>
          <a:solidFill>
            <a:srgbClr val="3B4C9B"/>
          </a:solidFill>
          <a:ln/>
        </p:spPr>
      </p:sp>
      <p:sp>
        <p:nvSpPr>
          <p:cNvPr id="20" name="s-step3-text-19"/>
          <p:cNvSpPr txBox="1"/>
          <p:nvPr/>
        </p:nvSpPr>
        <p:spPr>
          <a:xfrm>
            <a:off x="965200" y="4292104"/>
            <a:ext cx="25638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и байбэк</a:t>
            </a:r>
            <a:endParaRPr lang="en-US" sz="1400" dirty="0"/>
          </a:p>
        </p:txBody>
      </p:sp>
      <p:sp>
        <p:nvSpPr>
          <p:cNvPr id="21" name="s-step3-text-20"/>
          <p:cNvSpPr txBox="1"/>
          <p:nvPr/>
        </p:nvSpPr>
        <p:spPr>
          <a:xfrm>
            <a:off x="3810000" y="4292104"/>
            <a:ext cx="779627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что дошло до вас</a:t>
            </a:r>
            <a:endParaRPr lang="en-US" sz="1400" dirty="0"/>
          </a:p>
        </p:txBody>
      </p:sp>
      <p:sp>
        <p:nvSpPr>
          <p:cNvPr id="22" name="s-step3-text-21"/>
          <p:cNvSpPr txBox="1"/>
          <p:nvPr/>
        </p:nvSpPr>
        <p:spPr>
          <a:xfrm>
            <a:off x="812800" y="4871145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= операционный поток − проценты из финпотока − капекс − аренда</a:t>
            </a:r>
            <a:endParaRPr lang="en-US" sz="1200" dirty="0"/>
          </a:p>
        </p:txBody>
      </p:sp>
      <p:sp>
        <p:nvSpPr>
          <p:cNvPr id="23" name="s-step3-text-22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che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ПРОВЕРКИ</a:t>
            </a:r>
            <a:endParaRPr lang="en-US" sz="1200" dirty="0"/>
          </a:p>
        </p:txBody>
      </p:sp>
      <p:sp>
        <p:nvSpPr>
          <p:cNvPr id="3" name="s-check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проверок качества прибыли</a:t>
            </a:r>
            <a:endParaRPr lang="en-US" sz="2800" dirty="0"/>
          </a:p>
        </p:txBody>
      </p:sp>
      <p:sp>
        <p:nvSpPr>
          <p:cNvPr id="4" name="s-check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checks-line-4"/>
          <p:cNvSpPr/>
          <p:nvPr/>
        </p:nvSpPr>
        <p:spPr>
          <a:xfrm>
            <a:off x="815975" y="2094607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checks-text-5"/>
          <p:cNvSpPr txBox="1"/>
          <p:nvPr/>
        </p:nvSpPr>
        <p:spPr>
          <a:xfrm>
            <a:off x="907415" y="1821716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7" name="s-checks-line-6"/>
          <p:cNvSpPr/>
          <p:nvPr/>
        </p:nvSpPr>
        <p:spPr>
          <a:xfrm>
            <a:off x="5039916" y="2094607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checks-text-7"/>
          <p:cNvSpPr txBox="1"/>
          <p:nvPr/>
        </p:nvSpPr>
        <p:spPr>
          <a:xfrm>
            <a:off x="5131356" y="1821716"/>
            <a:ext cx="253084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</a:t>
            </a:r>
            <a:endParaRPr lang="en-US" sz="1200" dirty="0"/>
          </a:p>
        </p:txBody>
      </p:sp>
      <p:sp>
        <p:nvSpPr>
          <p:cNvPr id="9" name="s-checks-line-8"/>
          <p:cNvSpPr/>
          <p:nvPr/>
        </p:nvSpPr>
        <p:spPr>
          <a:xfrm>
            <a:off x="7679928" y="2094607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checks-text-9"/>
          <p:cNvSpPr txBox="1"/>
          <p:nvPr/>
        </p:nvSpPr>
        <p:spPr>
          <a:xfrm>
            <a:off x="7771368" y="1821716"/>
            <a:ext cx="361861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Тревога</a:t>
            </a:r>
            <a:endParaRPr lang="en-US" sz="1200" dirty="0"/>
          </a:p>
        </p:txBody>
      </p:sp>
      <p:sp>
        <p:nvSpPr>
          <p:cNvPr id="11" name="s-checks-line-10"/>
          <p:cNvSpPr/>
          <p:nvPr/>
        </p:nvSpPr>
        <p:spPr>
          <a:xfrm>
            <a:off x="815975" y="2634159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checks-text-11"/>
          <p:cNvSpPr txBox="1"/>
          <p:nvPr/>
        </p:nvSpPr>
        <p:spPr>
          <a:xfrm>
            <a:off x="907415" y="2147947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после процентов / прибыль, за 2–3 года</a:t>
            </a:r>
            <a:endParaRPr lang="en-US" sz="1200" dirty="0"/>
          </a:p>
        </p:txBody>
      </p:sp>
      <p:sp>
        <p:nvSpPr>
          <p:cNvPr id="13" name="s-checks-line-12"/>
          <p:cNvSpPr/>
          <p:nvPr/>
        </p:nvSpPr>
        <p:spPr>
          <a:xfrm>
            <a:off x="5039916" y="2634159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checks-text-13"/>
          <p:cNvSpPr txBox="1"/>
          <p:nvPr/>
        </p:nvSpPr>
        <p:spPr>
          <a:xfrm>
            <a:off x="5131356" y="2147947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 выше</a:t>
            </a:r>
            <a:endParaRPr lang="en-US" sz="1200" dirty="0"/>
          </a:p>
        </p:txBody>
      </p:sp>
      <p:sp>
        <p:nvSpPr>
          <p:cNvPr id="15" name="s-checks-line-14"/>
          <p:cNvSpPr/>
          <p:nvPr/>
        </p:nvSpPr>
        <p:spPr>
          <a:xfrm>
            <a:off x="7679928" y="2634159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checks-text-15"/>
          <p:cNvSpPr txBox="1"/>
          <p:nvPr/>
        </p:nvSpPr>
        <p:spPr>
          <a:xfrm>
            <a:off x="7771368" y="2147947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систематически ниже 0,7: прибыль «бумажная»</a:t>
            </a:r>
            <a:endParaRPr lang="en-US" sz="1200" dirty="0"/>
          </a:p>
        </p:txBody>
      </p:sp>
      <p:sp>
        <p:nvSpPr>
          <p:cNvPr id="17" name="s-checks-line-16"/>
          <p:cNvSpPr/>
          <p:nvPr/>
        </p:nvSpPr>
        <p:spPr>
          <a:xfrm>
            <a:off x="815975" y="2960390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checks-text-17"/>
          <p:cNvSpPr txBox="1"/>
          <p:nvPr/>
        </p:nvSpPr>
        <p:spPr>
          <a:xfrm>
            <a:off x="907415" y="2687499"/>
            <a:ext cx="416229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Дебиторка и запасы против выручки</a:t>
            </a:r>
            <a:endParaRPr lang="en-US" sz="1200" dirty="0"/>
          </a:p>
        </p:txBody>
      </p:sp>
      <p:sp>
        <p:nvSpPr>
          <p:cNvPr id="19" name="s-checks-line-18"/>
          <p:cNvSpPr/>
          <p:nvPr/>
        </p:nvSpPr>
        <p:spPr>
          <a:xfrm>
            <a:off x="5039916" y="2960390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checks-text-19"/>
          <p:cNvSpPr txBox="1"/>
          <p:nvPr/>
        </p:nvSpPr>
        <p:spPr>
          <a:xfrm>
            <a:off x="5131356" y="2687499"/>
            <a:ext cx="2530846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вместе с выручкой</a:t>
            </a:r>
            <a:endParaRPr lang="en-US" sz="1200" dirty="0"/>
          </a:p>
        </p:txBody>
      </p:sp>
      <p:sp>
        <p:nvSpPr>
          <p:cNvPr id="21" name="s-checks-line-20"/>
          <p:cNvSpPr/>
          <p:nvPr/>
        </p:nvSpPr>
        <p:spPr>
          <a:xfrm>
            <a:off x="7679928" y="2960390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checks-text-21"/>
          <p:cNvSpPr txBox="1"/>
          <p:nvPr/>
        </p:nvSpPr>
        <p:spPr>
          <a:xfrm>
            <a:off x="7771368" y="2687499"/>
            <a:ext cx="361861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заметно быстрее: деньги застревают</a:t>
            </a:r>
            <a:endParaRPr lang="en-US" sz="1200" dirty="0"/>
          </a:p>
        </p:txBody>
      </p:sp>
      <p:sp>
        <p:nvSpPr>
          <p:cNvPr id="23" name="s-checks-line-22"/>
          <p:cNvSpPr/>
          <p:nvPr/>
        </p:nvSpPr>
        <p:spPr>
          <a:xfrm>
            <a:off x="815975" y="3499941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checks-text-23"/>
          <p:cNvSpPr txBox="1"/>
          <p:nvPr/>
        </p:nvSpPr>
        <p:spPr>
          <a:xfrm>
            <a:off x="907415" y="3013730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Разовые статьи: курсовые разницы, обесценение, переоценка</a:t>
            </a:r>
            <a:endParaRPr lang="en-US" sz="1200" dirty="0"/>
          </a:p>
        </p:txBody>
      </p:sp>
      <p:sp>
        <p:nvSpPr>
          <p:cNvPr id="25" name="s-checks-line-24"/>
          <p:cNvSpPr/>
          <p:nvPr/>
        </p:nvSpPr>
        <p:spPr>
          <a:xfrm>
            <a:off x="5039916" y="3499941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checks-text-25"/>
          <p:cNvSpPr txBox="1"/>
          <p:nvPr/>
        </p:nvSpPr>
        <p:spPr>
          <a:xfrm>
            <a:off x="5131356" y="3013730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небольшие и разные каждый год</a:t>
            </a:r>
            <a:endParaRPr lang="en-US" sz="1200" dirty="0"/>
          </a:p>
        </p:txBody>
      </p:sp>
      <p:sp>
        <p:nvSpPr>
          <p:cNvPr id="27" name="s-checks-line-26"/>
          <p:cNvSpPr/>
          <p:nvPr/>
        </p:nvSpPr>
        <p:spPr>
          <a:xfrm>
            <a:off x="7679928" y="3499941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checks-text-27"/>
          <p:cNvSpPr txBox="1"/>
          <p:nvPr/>
        </p:nvSpPr>
        <p:spPr>
          <a:xfrm>
            <a:off x="7771368" y="3013730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«разовые» расходы повторяются из года в год</a:t>
            </a:r>
            <a:endParaRPr lang="en-US" sz="1200" dirty="0"/>
          </a:p>
        </p:txBody>
      </p:sp>
      <p:sp>
        <p:nvSpPr>
          <p:cNvPr id="29" name="s-checks-line-28"/>
          <p:cNvSpPr/>
          <p:nvPr/>
        </p:nvSpPr>
        <p:spPr>
          <a:xfrm>
            <a:off x="815975" y="4039493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checks-text-29"/>
          <p:cNvSpPr txBox="1"/>
          <p:nvPr/>
        </p:nvSpPr>
        <p:spPr>
          <a:xfrm>
            <a:off x="907415" y="3553281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EBITDA против операционной прибыли и амортизации</a:t>
            </a:r>
            <a:endParaRPr lang="en-US" sz="1200" dirty="0"/>
          </a:p>
        </p:txBody>
      </p:sp>
      <p:sp>
        <p:nvSpPr>
          <p:cNvPr id="31" name="s-checks-line-30"/>
          <p:cNvSpPr/>
          <p:nvPr/>
        </p:nvSpPr>
        <p:spPr>
          <a:xfrm>
            <a:off x="5039916" y="4039493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checks-text-31"/>
          <p:cNvSpPr txBox="1"/>
          <p:nvPr/>
        </p:nvSpPr>
        <p:spPr>
          <a:xfrm>
            <a:off x="5131356" y="3553281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объяснена</a:t>
            </a:r>
            <a:endParaRPr lang="en-US" sz="1200" dirty="0"/>
          </a:p>
        </p:txBody>
      </p:sp>
      <p:sp>
        <p:nvSpPr>
          <p:cNvPr id="33" name="s-checks-line-32"/>
          <p:cNvSpPr/>
          <p:nvPr/>
        </p:nvSpPr>
        <p:spPr>
          <a:xfrm>
            <a:off x="7679928" y="4039493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checks-text-33"/>
          <p:cNvSpPr txBox="1"/>
          <p:nvPr/>
        </p:nvSpPr>
        <p:spPr>
          <a:xfrm>
            <a:off x="7771368" y="3553281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растёт без объяснений</a:t>
            </a:r>
            <a:endParaRPr lang="en-US" sz="1200" dirty="0"/>
          </a:p>
        </p:txBody>
      </p:sp>
      <p:sp>
        <p:nvSpPr>
          <p:cNvPr id="35" name="s-checks-line-34"/>
          <p:cNvSpPr/>
          <p:nvPr/>
        </p:nvSpPr>
        <p:spPr>
          <a:xfrm>
            <a:off x="815975" y="4579045"/>
            <a:ext cx="4223941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checks-text-35"/>
          <p:cNvSpPr txBox="1"/>
          <p:nvPr/>
        </p:nvSpPr>
        <p:spPr>
          <a:xfrm>
            <a:off x="907415" y="4092833"/>
            <a:ext cx="416229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НМА и капитализированная разработка</a:t>
            </a:r>
            <a:endParaRPr lang="en-US" sz="1200" dirty="0"/>
          </a:p>
        </p:txBody>
      </p:sp>
      <p:sp>
        <p:nvSpPr>
          <p:cNvPr id="37" name="s-checks-line-36"/>
          <p:cNvSpPr/>
          <p:nvPr/>
        </p:nvSpPr>
        <p:spPr>
          <a:xfrm>
            <a:off x="5039916" y="4579045"/>
            <a:ext cx="264001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checks-text-37"/>
          <p:cNvSpPr txBox="1"/>
          <p:nvPr/>
        </p:nvSpPr>
        <p:spPr>
          <a:xfrm>
            <a:off x="5131356" y="4092833"/>
            <a:ext cx="2530846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вместе с бизнесом</a:t>
            </a:r>
            <a:endParaRPr lang="en-US" sz="1200" dirty="0"/>
          </a:p>
        </p:txBody>
      </p:sp>
      <p:sp>
        <p:nvSpPr>
          <p:cNvPr id="39" name="s-checks-line-38"/>
          <p:cNvSpPr/>
          <p:nvPr/>
        </p:nvSpPr>
        <p:spPr>
          <a:xfrm>
            <a:off x="7679928" y="4579045"/>
            <a:ext cx="3696097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checks-text-39"/>
          <p:cNvSpPr txBox="1"/>
          <p:nvPr/>
        </p:nvSpPr>
        <p:spPr>
          <a:xfrm>
            <a:off x="7771368" y="4092833"/>
            <a:ext cx="361861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растут быстрее выручки: расходы прячут в баланс</a:t>
            </a:r>
            <a:endParaRPr lang="en-US" sz="1200" dirty="0"/>
          </a:p>
        </p:txBody>
      </p:sp>
      <p:sp>
        <p:nvSpPr>
          <p:cNvPr id="41" name="s-checks-text-40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trap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3 · ЛОВУШКИ</a:t>
            </a:r>
            <a:endParaRPr lang="en-US" sz="1200" dirty="0"/>
          </a:p>
        </p:txBody>
      </p:sp>
      <p:sp>
        <p:nvSpPr>
          <p:cNvPr id="3" name="s-trap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ловушки МСФО</a:t>
            </a:r>
            <a:endParaRPr lang="en-US" sz="2800" dirty="0"/>
          </a:p>
        </p:txBody>
      </p:sp>
      <p:sp>
        <p:nvSpPr>
          <p:cNvPr id="4" name="s-traps-box-3"/>
          <p:cNvSpPr/>
          <p:nvPr/>
        </p:nvSpPr>
        <p:spPr>
          <a:xfrm>
            <a:off x="8128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s-traps-warning-4"/>
          <p:cNvSpPr/>
          <p:nvPr/>
        </p:nvSpPr>
        <p:spPr>
          <a:xfrm>
            <a:off x="10668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7" name="s-traps-text-5"/>
          <p:cNvSpPr txBox="1"/>
          <p:nvPr/>
        </p:nvSpPr>
        <p:spPr>
          <a:xfrm>
            <a:off x="10668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 по МСФО 16</a:t>
            </a:r>
            <a:endParaRPr lang="en-US" sz="1800" dirty="0"/>
          </a:p>
        </p:txBody>
      </p:sp>
      <p:sp>
        <p:nvSpPr>
          <p:cNvPr id="8" name="s-traps-text-6"/>
          <p:cNvSpPr txBox="1"/>
          <p:nvPr/>
        </p:nvSpPr>
        <p:spPr>
          <a:xfrm>
            <a:off x="10668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Аренда переезжает из операционных расходов в амортизацию и проценты. EBITDA растёт, долг тоже. У ритейлеров с большой арендой разница существенная.</a:t>
            </a:r>
            <a:endParaRPr lang="en-US" sz="1400" dirty="0"/>
          </a:p>
        </p:txBody>
      </p:sp>
      <p:sp>
        <p:nvSpPr>
          <p:cNvPr id="9" name="s-traps-text-7"/>
          <p:cNvSpPr txBox="1"/>
          <p:nvPr/>
        </p:nvSpPr>
        <p:spPr>
          <a:xfrm>
            <a:off x="1066800" y="5161359"/>
            <a:ext cx="481380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Сравнивайте одинаково: обе компании с арендой или обе без</a:t>
            </a:r>
            <a:endParaRPr lang="en-US" sz="1200" dirty="0"/>
          </a:p>
        </p:txBody>
      </p:sp>
      <p:sp>
        <p:nvSpPr>
          <p:cNvPr id="10" name="s-traps-box-8"/>
          <p:cNvSpPr/>
          <p:nvPr/>
        </p:nvSpPr>
        <p:spPr>
          <a:xfrm>
            <a:off x="6197600" y="1765201"/>
            <a:ext cx="518160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11" name="s-traps-warning-9"/>
          <p:cNvSpPr/>
          <p:nvPr/>
        </p:nvSpPr>
        <p:spPr>
          <a:xfrm>
            <a:off x="6451600" y="2043585"/>
            <a:ext cx="304800" cy="256032"/>
          </a:xfrm>
          <a:prstGeom prst="triangle">
            <a:avLst/>
          </a:prstGeom>
          <a:solidFill>
            <a:srgbClr val="A6332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51600" y="2110641"/>
            <a:ext cx="30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3" name="s-traps-text-10"/>
          <p:cNvSpPr txBox="1"/>
          <p:nvPr/>
        </p:nvSpPr>
        <p:spPr>
          <a:xfrm>
            <a:off x="6451600" y="2425601"/>
            <a:ext cx="481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Проценты в финансовом потоке</a:t>
            </a:r>
            <a:endParaRPr lang="en-US" sz="1800" dirty="0"/>
          </a:p>
        </p:txBody>
      </p:sp>
      <p:sp>
        <p:nvSpPr>
          <p:cNvPr id="14" name="s-traps-text-11"/>
          <p:cNvSpPr txBox="1"/>
          <p:nvPr/>
        </p:nvSpPr>
        <p:spPr>
          <a:xfrm>
            <a:off x="6451600" y="2801441"/>
            <a:ext cx="48138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уплаченные проценты стоят в финансовой деятельности, операционный поток выглядит лучше, чем есть.</a:t>
            </a:r>
            <a:endParaRPr lang="en-US" sz="1400" dirty="0"/>
          </a:p>
        </p:txBody>
      </p:sp>
      <p:sp>
        <p:nvSpPr>
          <p:cNvPr id="15" name="s-traps-text-12"/>
          <p:cNvSpPr txBox="1"/>
          <p:nvPr/>
        </p:nvSpPr>
        <p:spPr>
          <a:xfrm>
            <a:off x="6451600" y="5161359"/>
            <a:ext cx="4813808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Вычитайте их при расчёте FCF. В РСБУ добавляйте 4224</a:t>
            </a:r>
            <a:endParaRPr lang="en-US" sz="1200" dirty="0"/>
          </a:p>
        </p:txBody>
      </p:sp>
      <p:sp>
        <p:nvSpPr>
          <p:cNvPr id="16" name="s-traps-text-1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4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ЧТО ДОЙДЁТ ДО АКЦИОНЕРА · 5 МИНУТ</a:t>
            </a:r>
            <a:endParaRPr lang="en-US" sz="1200" dirty="0"/>
          </a:p>
        </p:txBody>
      </p:sp>
      <p:sp>
        <p:nvSpPr>
          <p:cNvPr id="3" name="s-step4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Дивиденды: МСФО и РСБУ</a:t>
            </a:r>
            <a:endParaRPr lang="en-US" sz="2800" dirty="0"/>
          </a:p>
        </p:txBody>
      </p:sp>
      <p:sp>
        <p:nvSpPr>
          <p:cNvPr id="4" name="s-step4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5" name="s-step4-text-4"/>
          <p:cNvSpPr txBox="1"/>
          <p:nvPr/>
        </p:nvSpPr>
        <p:spPr>
          <a:xfrm>
            <a:off x="1066800" y="201920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ОБЕЩАЮТ</a:t>
            </a:r>
            <a:endParaRPr lang="en-US" sz="1200" dirty="0"/>
          </a:p>
        </p:txBody>
      </p:sp>
      <p:sp>
        <p:nvSpPr>
          <p:cNvPr id="6" name="s-step4-text-5"/>
          <p:cNvSpPr txBox="1"/>
          <p:nvPr/>
        </p:nvSpPr>
        <p:spPr>
          <a:xfrm>
            <a:off x="1066800" y="230872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 и дивполитика</a:t>
            </a:r>
            <a:endParaRPr lang="en-US" sz="1800" dirty="0"/>
          </a:p>
        </p:txBody>
      </p:sp>
      <p:sp>
        <p:nvSpPr>
          <p:cNvPr id="7" name="s-step4-text-6"/>
          <p:cNvSpPr txBox="1"/>
          <p:nvPr/>
        </p:nvSpPr>
        <p:spPr>
          <a:xfrm>
            <a:off x="1066800" y="265916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— доля прибыли по МСФО, доля FCF или формула устава для префов.</a:t>
            </a:r>
            <a:endParaRPr lang="en-US" sz="1400" dirty="0"/>
          </a:p>
        </p:txBody>
      </p:sp>
      <p:sp>
        <p:nvSpPr>
          <p:cNvPr id="8" name="s-step4-text-7"/>
          <p:cNvSpPr txBox="1"/>
          <p:nvPr/>
        </p:nvSpPr>
        <p:spPr>
          <a:xfrm>
            <a:off x="1066800" y="3250902"/>
            <a:ext cx="480726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— 50% чистой прибыли по МСФО при достаточном капитале. Госкомпании ориентируются на 50% по требованию Правительства.</a:t>
            </a:r>
            <a:endParaRPr lang="en-US" sz="1400" dirty="0"/>
          </a:p>
        </p:txBody>
      </p:sp>
      <p:sp>
        <p:nvSpPr>
          <p:cNvPr id="9" name="s-step4-text-8"/>
          <p:cNvSpPr txBox="1"/>
          <p:nvPr/>
        </p:nvSpPr>
        <p:spPr>
          <a:xfrm>
            <a:off x="1066800" y="4100413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Обещание не обязательство: Газпром при политике 50% не выплатил дивиденды за 2023 год.</a:t>
            </a:r>
            <a:endParaRPr lang="en-US" sz="1400" dirty="0"/>
          </a:p>
        </p:txBody>
      </p:sp>
      <p:sp>
        <p:nvSpPr>
          <p:cNvPr id="10" name="s-step4-box-9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4-text-10"/>
          <p:cNvSpPr txBox="1"/>
          <p:nvPr/>
        </p:nvSpPr>
        <p:spPr>
          <a:xfrm>
            <a:off x="6451600" y="2025551"/>
            <a:ext cx="480726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 МОЖНО ЗАПЛАТИТЬ</a:t>
            </a:r>
            <a:endParaRPr lang="en-US" sz="1200" dirty="0"/>
          </a:p>
        </p:txBody>
      </p:sp>
      <p:sp>
        <p:nvSpPr>
          <p:cNvPr id="12" name="s-step4-text-11"/>
          <p:cNvSpPr txBox="1"/>
          <p:nvPr/>
        </p:nvSpPr>
        <p:spPr>
          <a:xfrm>
            <a:off x="6451600" y="2315071"/>
            <a:ext cx="4807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и закон «Об АО»</a:t>
            </a:r>
            <a:endParaRPr lang="en-US" sz="1800" dirty="0"/>
          </a:p>
        </p:txBody>
      </p:sp>
      <p:sp>
        <p:nvSpPr>
          <p:cNvPr id="13" name="s-step4-text-12"/>
          <p:cNvSpPr txBox="1"/>
          <p:nvPr/>
        </p:nvSpPr>
        <p:spPr>
          <a:xfrm>
            <a:off x="6451600" y="2665512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Дивиденды платятся из чистой прибыли общества по бухгалтерской отчётности, ст. 42.</a:t>
            </a:r>
            <a:endParaRPr lang="en-US" sz="1400" dirty="0"/>
          </a:p>
        </p:txBody>
      </p:sp>
      <p:sp>
        <p:nvSpPr>
          <p:cNvPr id="14" name="s-step4-text-13"/>
          <p:cNvSpPr txBox="1"/>
          <p:nvPr/>
        </p:nvSpPr>
        <p:spPr>
          <a:xfrm>
            <a:off x="6451600" y="3257252"/>
            <a:ext cx="4807268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объявлять, если чистые активы меньше уставного капитала, резервного фонда и превышения ликвидационной стоимости префов над номиналом или станут меньше после выплаты, ст. 43.</a:t>
            </a:r>
            <a:endParaRPr lang="en-US" sz="1400" dirty="0"/>
          </a:p>
        </p:txBody>
      </p:sp>
      <p:sp>
        <p:nvSpPr>
          <p:cNvPr id="15" name="s-step4-text-14"/>
          <p:cNvSpPr txBox="1"/>
          <p:nvPr/>
        </p:nvSpPr>
        <p:spPr>
          <a:xfrm>
            <a:off x="6451600" y="4364534"/>
            <a:ext cx="480726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— нераспределённая прибыль материнской компании, строка 1370.</a:t>
            </a:r>
            <a:endParaRPr lang="en-US" sz="1400" dirty="0"/>
          </a:p>
        </p:txBody>
      </p:sp>
      <p:sp>
        <p:nvSpPr>
          <p:cNvPr id="16" name="s-step4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tep4-check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4 · ПРОВЕРКИ</a:t>
            </a:r>
            <a:endParaRPr lang="en-US" sz="1200" dirty="0"/>
          </a:p>
        </p:txBody>
      </p:sp>
      <p:sp>
        <p:nvSpPr>
          <p:cNvPr id="3" name="s-step4-check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проверить в дивидендах</a:t>
            </a:r>
            <a:endParaRPr lang="en-US" sz="2800" dirty="0"/>
          </a:p>
        </p:txBody>
      </p:sp>
      <p:sp>
        <p:nvSpPr>
          <p:cNvPr id="4" name="s-step4-checks-box-3"/>
          <p:cNvSpPr/>
          <p:nvPr/>
        </p:nvSpPr>
        <p:spPr>
          <a:xfrm>
            <a:off x="812800" y="1765201"/>
            <a:ext cx="5207000" cy="2091035"/>
          </a:xfrm>
          <a:prstGeom prst="roundRect">
            <a:avLst>
              <a:gd name="adj" fmla="val 212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tep4-checks-text-4"/>
          <p:cNvSpPr txBox="1"/>
          <p:nvPr/>
        </p:nvSpPr>
        <p:spPr>
          <a:xfrm>
            <a:off x="1022350" y="1974751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и FCF</a:t>
            </a:r>
            <a:endParaRPr lang="en-US" sz="1800" dirty="0"/>
          </a:p>
        </p:txBody>
      </p:sp>
      <p:sp>
        <p:nvSpPr>
          <p:cNvPr id="6" name="s-step4-checks-text-5"/>
          <p:cNvSpPr txBox="1"/>
          <p:nvPr/>
        </p:nvSpPr>
        <p:spPr>
          <a:xfrm>
            <a:off x="1022350" y="2299791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Выплаты два года подряд больше FCF — компания платит в долг. Долго так не продолжается.</a:t>
            </a:r>
            <a:endParaRPr lang="en-US" sz="1400" dirty="0"/>
          </a:p>
        </p:txBody>
      </p:sp>
      <p:sp>
        <p:nvSpPr>
          <p:cNvPr id="7" name="s-step4-checks-box-6"/>
          <p:cNvSpPr/>
          <p:nvPr/>
        </p:nvSpPr>
        <p:spPr>
          <a:xfrm>
            <a:off x="6172200" y="1765201"/>
            <a:ext cx="5207000" cy="2091035"/>
          </a:xfrm>
          <a:prstGeom prst="roundRect">
            <a:avLst>
              <a:gd name="adj" fmla="val 212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s-step4-checks-text-7"/>
          <p:cNvSpPr txBox="1"/>
          <p:nvPr/>
        </p:nvSpPr>
        <p:spPr>
          <a:xfrm>
            <a:off x="6381750" y="1974751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</a:t>
            </a:r>
            <a:endParaRPr lang="en-US" sz="1800" dirty="0"/>
          </a:p>
        </p:txBody>
      </p:sp>
      <p:sp>
        <p:nvSpPr>
          <p:cNvPr id="9" name="s-step4-checks-text-8"/>
          <p:cNvSpPr txBox="1"/>
          <p:nvPr/>
        </p:nvSpPr>
        <p:spPr>
          <a:xfrm>
            <a:off x="6381750" y="2299791"/>
            <a:ext cx="4931537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 материнской: дивиденды от «дочек» (2310), нераспределённая прибыль (1370), долг корпоративного центра.</a:t>
            </a:r>
            <a:endParaRPr lang="en-US" sz="1400" dirty="0"/>
          </a:p>
        </p:txBody>
      </p:sp>
      <p:sp>
        <p:nvSpPr>
          <p:cNvPr id="10" name="s-step4-checks-box-9"/>
          <p:cNvSpPr/>
          <p:nvPr/>
        </p:nvSpPr>
        <p:spPr>
          <a:xfrm>
            <a:off x="812800" y="4008636"/>
            <a:ext cx="5207000" cy="1833364"/>
          </a:xfrm>
          <a:prstGeom prst="roundRect">
            <a:avLst>
              <a:gd name="adj" fmla="val 27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s-step4-checks-text-10"/>
          <p:cNvSpPr txBox="1"/>
          <p:nvPr/>
        </p:nvSpPr>
        <p:spPr>
          <a:xfrm>
            <a:off x="1022350" y="4218186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Размытие</a:t>
            </a:r>
            <a:endParaRPr lang="en-US" sz="1800" dirty="0"/>
          </a:p>
        </p:txBody>
      </p:sp>
      <p:sp>
        <p:nvSpPr>
          <p:cNvPr id="12" name="s-step4-checks-text-11"/>
          <p:cNvSpPr txBox="1"/>
          <p:nvPr/>
        </p:nvSpPr>
        <p:spPr>
          <a:xfrm>
            <a:off x="1022350" y="4543227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акций в отчёте об изменениях капитала, допэмиссии, SPO, опционные программы.</a:t>
            </a:r>
            <a:endParaRPr lang="en-US" sz="1400" dirty="0"/>
          </a:p>
        </p:txBody>
      </p:sp>
      <p:sp>
        <p:nvSpPr>
          <p:cNvPr id="13" name="s-step4-checks-box-12"/>
          <p:cNvSpPr/>
          <p:nvPr/>
        </p:nvSpPr>
        <p:spPr>
          <a:xfrm>
            <a:off x="6172200" y="4008636"/>
            <a:ext cx="5207000" cy="1833364"/>
          </a:xfrm>
          <a:prstGeom prst="roundRect">
            <a:avLst>
              <a:gd name="adj" fmla="val 276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step4-checks-text-13"/>
          <p:cNvSpPr txBox="1"/>
          <p:nvPr/>
        </p:nvSpPr>
        <p:spPr>
          <a:xfrm>
            <a:off x="6381750" y="4218186"/>
            <a:ext cx="4931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Байбэк</a:t>
            </a:r>
            <a:endParaRPr lang="en-US" sz="1800" dirty="0"/>
          </a:p>
        </p:txBody>
      </p:sp>
      <p:sp>
        <p:nvSpPr>
          <p:cNvPr id="15" name="s-step4-checks-text-14"/>
          <p:cNvSpPr txBox="1"/>
          <p:nvPr/>
        </p:nvSpPr>
        <p:spPr>
          <a:xfrm>
            <a:off x="6381750" y="4543227"/>
            <a:ext cx="4931537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Гасятся ли выкупленные акции или остаются на балансе группы.</a:t>
            </a:r>
            <a:endParaRPr lang="en-US" sz="1400" dirty="0"/>
          </a:p>
        </p:txBody>
      </p:sp>
      <p:sp>
        <p:nvSpPr>
          <p:cNvPr id="16" name="s-step4-checks-text-15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multipl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7 МИНУТ</a:t>
            </a:r>
            <a:endParaRPr lang="en-US" sz="1200" dirty="0"/>
          </a:p>
        </p:txBody>
      </p:sp>
      <p:sp>
        <p:nvSpPr>
          <p:cNvPr id="3" name="s-multipl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плачу: мультипликаторы</a:t>
            </a:r>
            <a:endParaRPr lang="en-US" sz="2800" dirty="0"/>
          </a:p>
        </p:txBody>
      </p:sp>
      <p:sp>
        <p:nvSpPr>
          <p:cNvPr id="4" name="s-multiples-box-3"/>
          <p:cNvSpPr/>
          <p:nvPr/>
        </p:nvSpPr>
        <p:spPr>
          <a:xfrm>
            <a:off x="812800" y="1765201"/>
            <a:ext cx="10566400" cy="2817019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multiples-line-4"/>
          <p:cNvSpPr/>
          <p:nvPr/>
        </p:nvSpPr>
        <p:spPr>
          <a:xfrm>
            <a:off x="815975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multiples-text-5"/>
          <p:cNvSpPr txBox="1"/>
          <p:nvPr/>
        </p:nvSpPr>
        <p:spPr>
          <a:xfrm>
            <a:off x="907415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Мультипликатор</a:t>
            </a:r>
            <a:endParaRPr lang="en-US" sz="1200" dirty="0"/>
          </a:p>
        </p:txBody>
      </p:sp>
      <p:sp>
        <p:nvSpPr>
          <p:cNvPr id="7" name="s-multiples-line-6"/>
          <p:cNvSpPr/>
          <p:nvPr/>
        </p:nvSpPr>
        <p:spPr>
          <a:xfrm>
            <a:off x="2716709" y="2094607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multiples-text-7"/>
          <p:cNvSpPr txBox="1"/>
          <p:nvPr/>
        </p:nvSpPr>
        <p:spPr>
          <a:xfrm>
            <a:off x="2808149" y="1821716"/>
            <a:ext cx="32922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</a:t>
            </a:r>
            <a:endParaRPr lang="en-US" sz="1200" dirty="0"/>
          </a:p>
        </p:txBody>
      </p:sp>
      <p:sp>
        <p:nvSpPr>
          <p:cNvPr id="9" name="s-multiples-line-8"/>
          <p:cNvSpPr/>
          <p:nvPr/>
        </p:nvSpPr>
        <p:spPr>
          <a:xfrm>
            <a:off x="6095901" y="2094607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multiples-text-9"/>
          <p:cNvSpPr txBox="1"/>
          <p:nvPr/>
        </p:nvSpPr>
        <p:spPr>
          <a:xfrm>
            <a:off x="6187341" y="1821716"/>
            <a:ext cx="525016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</a:t>
            </a:r>
            <a:endParaRPr lang="en-US" sz="1200" dirty="0"/>
          </a:p>
        </p:txBody>
      </p:sp>
      <p:sp>
        <p:nvSpPr>
          <p:cNvPr id="11" name="s-multiples-line-10"/>
          <p:cNvSpPr/>
          <p:nvPr/>
        </p:nvSpPr>
        <p:spPr>
          <a:xfrm>
            <a:off x="815975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multiples-text-11"/>
          <p:cNvSpPr txBox="1"/>
          <p:nvPr/>
        </p:nvSpPr>
        <p:spPr>
          <a:xfrm>
            <a:off x="907415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13" name="s-multiples-line-12"/>
          <p:cNvSpPr/>
          <p:nvPr/>
        </p:nvSpPr>
        <p:spPr>
          <a:xfrm>
            <a:off x="2716709" y="2634159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multiples-text-13"/>
          <p:cNvSpPr txBox="1"/>
          <p:nvPr/>
        </p:nvSpPr>
        <p:spPr>
          <a:xfrm>
            <a:off x="2808149" y="2147947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/ чистая прибыль</a:t>
            </a:r>
            <a:endParaRPr lang="en-US" sz="1200" dirty="0"/>
          </a:p>
        </p:txBody>
      </p:sp>
      <p:sp>
        <p:nvSpPr>
          <p:cNvPr id="15" name="s-multiples-line-14"/>
          <p:cNvSpPr/>
          <p:nvPr/>
        </p:nvSpPr>
        <p:spPr>
          <a:xfrm>
            <a:off x="6095901" y="2634159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multiples-text-15"/>
          <p:cNvSpPr txBox="1"/>
          <p:nvPr/>
        </p:nvSpPr>
        <p:spPr>
          <a:xfrm>
            <a:off x="6187341" y="2147947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E/P — доходность прибыли. Ниже ОФЗ — вы платите за рост, и он должен быть</a:t>
            </a:r>
            <a:endParaRPr lang="en-US" sz="1200" dirty="0"/>
          </a:p>
        </p:txBody>
      </p:sp>
      <p:sp>
        <p:nvSpPr>
          <p:cNvPr id="17" name="s-multiples-line-16"/>
          <p:cNvSpPr/>
          <p:nvPr/>
        </p:nvSpPr>
        <p:spPr>
          <a:xfrm>
            <a:off x="815975" y="317371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multiples-text-17"/>
          <p:cNvSpPr txBox="1"/>
          <p:nvPr/>
        </p:nvSpPr>
        <p:spPr>
          <a:xfrm>
            <a:off x="907415" y="2687499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19" name="s-multiples-line-18"/>
          <p:cNvSpPr/>
          <p:nvPr/>
        </p:nvSpPr>
        <p:spPr>
          <a:xfrm>
            <a:off x="2716709" y="3173710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multiples-text-19"/>
          <p:cNvSpPr txBox="1"/>
          <p:nvPr/>
        </p:nvSpPr>
        <p:spPr>
          <a:xfrm>
            <a:off x="2808149" y="2687499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(Капитализация + чистый долг) / EBITDA</a:t>
            </a:r>
            <a:endParaRPr lang="en-US" sz="1200" dirty="0"/>
          </a:p>
        </p:txBody>
      </p:sp>
      <p:sp>
        <p:nvSpPr>
          <p:cNvPr id="21" name="s-multiples-line-20"/>
          <p:cNvSpPr/>
          <p:nvPr/>
        </p:nvSpPr>
        <p:spPr>
          <a:xfrm>
            <a:off x="6095901" y="3173710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multiples-text-21"/>
          <p:cNvSpPr txBox="1"/>
          <p:nvPr/>
        </p:nvSpPr>
        <p:spPr>
          <a:xfrm>
            <a:off x="6187341" y="2687499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сравнивать внутри сектора. При МСФО 16 аренду включайте в долг</a:t>
            </a:r>
            <a:endParaRPr lang="en-US" sz="1200" dirty="0"/>
          </a:p>
        </p:txBody>
      </p:sp>
      <p:sp>
        <p:nvSpPr>
          <p:cNvPr id="23" name="s-multiples-line-22"/>
          <p:cNvSpPr/>
          <p:nvPr/>
        </p:nvSpPr>
        <p:spPr>
          <a:xfrm>
            <a:off x="815975" y="3713262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multiples-text-23"/>
          <p:cNvSpPr txBox="1"/>
          <p:nvPr/>
        </p:nvSpPr>
        <p:spPr>
          <a:xfrm>
            <a:off x="907415" y="322705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P/BV</a:t>
            </a:r>
            <a:endParaRPr lang="en-US" sz="1200" dirty="0"/>
          </a:p>
        </p:txBody>
      </p:sp>
      <p:sp>
        <p:nvSpPr>
          <p:cNvPr id="25" name="s-multiples-line-24"/>
          <p:cNvSpPr/>
          <p:nvPr/>
        </p:nvSpPr>
        <p:spPr>
          <a:xfrm>
            <a:off x="2716709" y="3713262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multiples-text-25"/>
          <p:cNvSpPr txBox="1"/>
          <p:nvPr/>
        </p:nvSpPr>
        <p:spPr>
          <a:xfrm>
            <a:off x="2808149" y="3227050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 / капитал</a:t>
            </a:r>
            <a:endParaRPr lang="en-US" sz="1200" dirty="0"/>
          </a:p>
        </p:txBody>
      </p:sp>
      <p:sp>
        <p:nvSpPr>
          <p:cNvPr id="27" name="s-multiples-line-26"/>
          <p:cNvSpPr/>
          <p:nvPr/>
        </p:nvSpPr>
        <p:spPr>
          <a:xfrm>
            <a:off x="6095901" y="3713262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multiples-text-27"/>
          <p:cNvSpPr txBox="1"/>
          <p:nvPr/>
        </p:nvSpPr>
        <p:spPr>
          <a:xfrm>
            <a:off x="6187341" y="3227050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банков. Справедливый P/BV — примерно ROE, делённый на требуемую доходность</a:t>
            </a:r>
            <a:endParaRPr lang="en-US" sz="1200" dirty="0"/>
          </a:p>
        </p:txBody>
      </p:sp>
      <p:sp>
        <p:nvSpPr>
          <p:cNvPr id="29" name="s-multiples-line-28"/>
          <p:cNvSpPr/>
          <p:nvPr/>
        </p:nvSpPr>
        <p:spPr>
          <a:xfrm>
            <a:off x="815975" y="403949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multiples-text-29"/>
          <p:cNvSpPr txBox="1"/>
          <p:nvPr/>
        </p:nvSpPr>
        <p:spPr>
          <a:xfrm>
            <a:off x="907415" y="3766602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yield</a:t>
            </a:r>
            <a:endParaRPr lang="en-US" sz="1200" dirty="0"/>
          </a:p>
        </p:txBody>
      </p:sp>
      <p:sp>
        <p:nvSpPr>
          <p:cNvPr id="31" name="s-multiples-line-30"/>
          <p:cNvSpPr/>
          <p:nvPr/>
        </p:nvSpPr>
        <p:spPr>
          <a:xfrm>
            <a:off x="2716709" y="4039493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multiples-text-31"/>
          <p:cNvSpPr txBox="1"/>
          <p:nvPr/>
        </p:nvSpPr>
        <p:spPr>
          <a:xfrm>
            <a:off x="2808149" y="3766602"/>
            <a:ext cx="329220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/ капитализация</a:t>
            </a:r>
            <a:endParaRPr lang="en-US" sz="1200" dirty="0"/>
          </a:p>
        </p:txBody>
      </p:sp>
      <p:sp>
        <p:nvSpPr>
          <p:cNvPr id="33" name="s-multiples-line-32"/>
          <p:cNvSpPr/>
          <p:nvPr/>
        </p:nvSpPr>
        <p:spPr>
          <a:xfrm>
            <a:off x="6095901" y="4039493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multiples-text-33"/>
          <p:cNvSpPr txBox="1"/>
          <p:nvPr/>
        </p:nvSpPr>
        <p:spPr>
          <a:xfrm>
            <a:off x="6187341" y="3766602"/>
            <a:ext cx="525016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Дивдоходность выше FCF yield — дивиденд платят в долг</a:t>
            </a:r>
            <a:endParaRPr lang="en-US" sz="1200" dirty="0"/>
          </a:p>
        </p:txBody>
      </p:sp>
      <p:sp>
        <p:nvSpPr>
          <p:cNvPr id="35" name="s-multiples-line-34"/>
          <p:cNvSpPr/>
          <p:nvPr/>
        </p:nvSpPr>
        <p:spPr>
          <a:xfrm>
            <a:off x="815975" y="457904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multiples-text-35"/>
          <p:cNvSpPr txBox="1"/>
          <p:nvPr/>
        </p:nvSpPr>
        <p:spPr>
          <a:xfrm>
            <a:off x="907415" y="409283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Дивдоходность</a:t>
            </a:r>
            <a:endParaRPr lang="en-US" sz="1200" dirty="0"/>
          </a:p>
        </p:txBody>
      </p:sp>
      <p:sp>
        <p:nvSpPr>
          <p:cNvPr id="37" name="s-multiples-line-36"/>
          <p:cNvSpPr/>
          <p:nvPr/>
        </p:nvSpPr>
        <p:spPr>
          <a:xfrm>
            <a:off x="2716709" y="4579045"/>
            <a:ext cx="3379192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multiples-text-37"/>
          <p:cNvSpPr txBox="1"/>
          <p:nvPr/>
        </p:nvSpPr>
        <p:spPr>
          <a:xfrm>
            <a:off x="2808149" y="4092833"/>
            <a:ext cx="329220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на акцию / цена</a:t>
            </a:r>
            <a:endParaRPr lang="en-US" sz="1200" dirty="0"/>
          </a:p>
        </p:txBody>
      </p:sp>
      <p:sp>
        <p:nvSpPr>
          <p:cNvPr id="39" name="s-multiples-line-38"/>
          <p:cNvSpPr/>
          <p:nvPr/>
        </p:nvSpPr>
        <p:spPr>
          <a:xfrm>
            <a:off x="6095901" y="4579045"/>
            <a:ext cx="528012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multiples-text-39"/>
          <p:cNvSpPr txBox="1"/>
          <p:nvPr/>
        </p:nvSpPr>
        <p:spPr>
          <a:xfrm>
            <a:off x="6187341" y="4092833"/>
            <a:ext cx="525016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Считайте по реалистичному дивиденду, а не по максимуму из политики</a:t>
            </a:r>
            <a:endParaRPr lang="en-US" sz="1200" dirty="0"/>
          </a:p>
        </p:txBody>
      </p:sp>
      <p:sp>
        <p:nvSpPr>
          <p:cNvPr id="41" name="s-multiples-text-40"/>
          <p:cNvSpPr txBox="1"/>
          <p:nvPr/>
        </p:nvSpPr>
        <p:spPr>
          <a:xfrm>
            <a:off x="812800" y="4836220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Сравнивайте с тремя базами: история компании за 5 лет, аналоги в секторе, доходность ОФЗ.</a:t>
            </a:r>
            <a:endParaRPr lang="en-US" sz="1400" dirty="0"/>
          </a:p>
        </p:txBody>
      </p:sp>
      <p:sp>
        <p:nvSpPr>
          <p:cNvPr id="42" name="s-multiples-text-41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principl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РЕШЕНИЕ</a:t>
            </a:r>
            <a:endParaRPr lang="en-US" sz="1200" dirty="0"/>
          </a:p>
        </p:txBody>
      </p:sp>
      <p:sp>
        <p:nvSpPr>
          <p:cNvPr id="3" name="s-principl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Цена, катализатор, рост</a:t>
            </a:r>
            <a:endParaRPr lang="en-US" sz="2800" dirty="0"/>
          </a:p>
        </p:txBody>
      </p:sp>
      <p:sp>
        <p:nvSpPr>
          <p:cNvPr id="4" name="s-principles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отчётности решение принимаем по трём принципам отбора.</a:t>
            </a:r>
            <a:endParaRPr lang="en-US" sz="1400" dirty="0"/>
          </a:p>
        </p:txBody>
      </p:sp>
      <p:sp>
        <p:nvSpPr>
          <p:cNvPr id="5" name="s-principles-box-4"/>
          <p:cNvSpPr/>
          <p:nvPr/>
        </p:nvSpPr>
        <p:spPr>
          <a:xfrm>
            <a:off x="812800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s-principles-text-5"/>
          <p:cNvSpPr txBox="1"/>
          <p:nvPr/>
        </p:nvSpPr>
        <p:spPr>
          <a:xfrm>
            <a:off x="1073150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1</a:t>
            </a:r>
            <a:endParaRPr lang="en-US" sz="1200" dirty="0"/>
          </a:p>
        </p:txBody>
      </p:sp>
      <p:sp>
        <p:nvSpPr>
          <p:cNvPr id="7" name="s-principles-text-6"/>
          <p:cNvSpPr txBox="1"/>
          <p:nvPr/>
        </p:nvSpPr>
        <p:spPr>
          <a:xfrm>
            <a:off x="1073150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1800" dirty="0"/>
          </a:p>
        </p:txBody>
      </p:sp>
      <p:sp>
        <p:nvSpPr>
          <p:cNvPr id="8" name="s-principles-text-7"/>
          <p:cNvSpPr txBox="1"/>
          <p:nvPr/>
        </p:nvSpPr>
        <p:spPr>
          <a:xfrm>
            <a:off x="1073150" y="3177282"/>
            <a:ext cx="295191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Дёшево ли относительно прибыли и денег: E/P и FCF yield против ОФЗ.</a:t>
            </a:r>
            <a:endParaRPr lang="en-US" sz="1400" dirty="0"/>
          </a:p>
        </p:txBody>
      </p:sp>
      <p:sp>
        <p:nvSpPr>
          <p:cNvPr id="9" name="s-principles-box-8"/>
          <p:cNvSpPr/>
          <p:nvPr/>
        </p:nvSpPr>
        <p:spPr>
          <a:xfrm>
            <a:off x="4402634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s-principles-text-9"/>
          <p:cNvSpPr txBox="1"/>
          <p:nvPr/>
        </p:nvSpPr>
        <p:spPr>
          <a:xfrm>
            <a:off x="4662984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2</a:t>
            </a:r>
            <a:endParaRPr lang="en-US" sz="1200" dirty="0"/>
          </a:p>
        </p:txBody>
      </p:sp>
      <p:sp>
        <p:nvSpPr>
          <p:cNvPr id="11" name="s-principles-text-10"/>
          <p:cNvSpPr txBox="1"/>
          <p:nvPr/>
        </p:nvSpPr>
        <p:spPr>
          <a:xfrm>
            <a:off x="4662984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Катализатор</a:t>
            </a:r>
            <a:endParaRPr lang="en-US" sz="1800" dirty="0"/>
          </a:p>
        </p:txBody>
      </p:sp>
      <p:sp>
        <p:nvSpPr>
          <p:cNvPr id="12" name="s-principles-text-11"/>
          <p:cNvSpPr txBox="1"/>
          <p:nvPr/>
        </p:nvSpPr>
        <p:spPr>
          <a:xfrm>
            <a:off x="4662984" y="3177282"/>
            <a:ext cx="295191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заставит рынок переоценить акцию: дивиденды, байбэк, снижение ставки, конец капекс-цикла, смена контроля.</a:t>
            </a:r>
            <a:endParaRPr lang="en-US" sz="1400" dirty="0"/>
          </a:p>
        </p:txBody>
      </p:sp>
      <p:sp>
        <p:nvSpPr>
          <p:cNvPr id="13" name="s-principles-box-12"/>
          <p:cNvSpPr/>
          <p:nvPr/>
        </p:nvSpPr>
        <p:spPr>
          <a:xfrm>
            <a:off x="7992467" y="2276971"/>
            <a:ext cx="3386634" cy="356502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s-principles-text-13"/>
          <p:cNvSpPr txBox="1"/>
          <p:nvPr/>
        </p:nvSpPr>
        <p:spPr>
          <a:xfrm>
            <a:off x="8252817" y="253732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 3</a:t>
            </a:r>
            <a:endParaRPr lang="en-US" sz="1200" dirty="0"/>
          </a:p>
        </p:txBody>
      </p:sp>
      <p:sp>
        <p:nvSpPr>
          <p:cNvPr id="15" name="s-principles-text-14"/>
          <p:cNvSpPr txBox="1"/>
          <p:nvPr/>
        </p:nvSpPr>
        <p:spPr>
          <a:xfrm>
            <a:off x="8252817" y="2826841"/>
            <a:ext cx="295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1800" dirty="0"/>
          </a:p>
        </p:txBody>
      </p:sp>
      <p:sp>
        <p:nvSpPr>
          <p:cNvPr id="16" name="s-principles-text-15"/>
          <p:cNvSpPr txBox="1"/>
          <p:nvPr/>
        </p:nvSpPr>
        <p:spPr>
          <a:xfrm>
            <a:off x="8252817" y="3177282"/>
            <a:ext cx="295191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ли бизнес быстрее инфляции и за счёт чего.</a:t>
            </a:r>
            <a:endParaRPr lang="en-US" sz="1400" dirty="0"/>
          </a:p>
        </p:txBody>
      </p:sp>
      <p:sp>
        <p:nvSpPr>
          <p:cNvPr id="17" name="s-principles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sector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ОТРАСЛЕВАЯ ПОПРАВКА</a:t>
            </a:r>
            <a:endParaRPr lang="en-US" sz="1200" dirty="0"/>
          </a:p>
        </p:txBody>
      </p:sp>
      <p:sp>
        <p:nvSpPr>
          <p:cNvPr id="3" name="s-sector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Отраслевая поправка для акций</a:t>
            </a:r>
            <a:endParaRPr lang="en-US" sz="2800" dirty="0"/>
          </a:p>
        </p:txBody>
      </p:sp>
      <p:sp>
        <p:nvSpPr>
          <p:cNvPr id="4" name="s-sectors-box-3"/>
          <p:cNvSpPr/>
          <p:nvPr/>
        </p:nvSpPr>
        <p:spPr>
          <a:xfrm>
            <a:off x="812800" y="1765201"/>
            <a:ext cx="10566400" cy="2929930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s-sectors-line-4"/>
          <p:cNvSpPr/>
          <p:nvPr/>
        </p:nvSpPr>
        <p:spPr>
          <a:xfrm>
            <a:off x="815975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s-sectors-text-5"/>
          <p:cNvSpPr txBox="1"/>
          <p:nvPr/>
        </p:nvSpPr>
        <p:spPr>
          <a:xfrm>
            <a:off x="907415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</a:t>
            </a:r>
            <a:endParaRPr lang="en-US" sz="1200" dirty="0"/>
          </a:p>
        </p:txBody>
      </p:sp>
      <p:sp>
        <p:nvSpPr>
          <p:cNvPr id="7" name="s-sectors-line-6"/>
          <p:cNvSpPr/>
          <p:nvPr/>
        </p:nvSpPr>
        <p:spPr>
          <a:xfrm>
            <a:off x="2716709" y="2094607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s-sectors-text-7"/>
          <p:cNvSpPr txBox="1"/>
          <p:nvPr/>
        </p:nvSpPr>
        <p:spPr>
          <a:xfrm>
            <a:off x="2808149" y="1821716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привычке</a:t>
            </a:r>
            <a:endParaRPr lang="en-US" sz="1200" dirty="0"/>
          </a:p>
        </p:txBody>
      </p:sp>
      <p:sp>
        <p:nvSpPr>
          <p:cNvPr id="9" name="s-sectors-line-8"/>
          <p:cNvSpPr/>
          <p:nvPr/>
        </p:nvSpPr>
        <p:spPr>
          <a:xfrm>
            <a:off x="4617442" y="2094607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s-sectors-text-9"/>
          <p:cNvSpPr txBox="1"/>
          <p:nvPr/>
        </p:nvSpPr>
        <p:spPr>
          <a:xfrm>
            <a:off x="4708882" y="1821716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надо</a:t>
            </a:r>
            <a:endParaRPr lang="en-US" sz="1200" dirty="0"/>
          </a:p>
        </p:txBody>
      </p:sp>
      <p:sp>
        <p:nvSpPr>
          <p:cNvPr id="11" name="s-sectors-line-10"/>
          <p:cNvSpPr/>
          <p:nvPr/>
        </p:nvSpPr>
        <p:spPr>
          <a:xfrm>
            <a:off x="815975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s-sectors-text-11"/>
          <p:cNvSpPr txBox="1"/>
          <p:nvPr/>
        </p:nvSpPr>
        <p:spPr>
          <a:xfrm>
            <a:off x="907415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</a:t>
            </a:r>
            <a:endParaRPr lang="en-US" sz="1200" dirty="0"/>
          </a:p>
        </p:txBody>
      </p:sp>
      <p:sp>
        <p:nvSpPr>
          <p:cNvPr id="13" name="s-sectors-line-12"/>
          <p:cNvSpPr/>
          <p:nvPr/>
        </p:nvSpPr>
        <p:spPr>
          <a:xfrm>
            <a:off x="2716709" y="2634159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s-sectors-text-13"/>
          <p:cNvSpPr txBox="1"/>
          <p:nvPr/>
        </p:nvSpPr>
        <p:spPr>
          <a:xfrm>
            <a:off x="2808149" y="2147947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15" name="s-sectors-line-14"/>
          <p:cNvSpPr/>
          <p:nvPr/>
        </p:nvSpPr>
        <p:spPr>
          <a:xfrm>
            <a:off x="4617442" y="2634159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s-sectors-text-15"/>
          <p:cNvSpPr txBox="1"/>
          <p:nvPr/>
        </p:nvSpPr>
        <p:spPr>
          <a:xfrm>
            <a:off x="4708882" y="2147947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P/BV против ROE, достаточность капитала против цели дивполитики, стоимость риска, процентная маржа</a:t>
            </a:r>
            <a:endParaRPr lang="en-US" sz="1200" dirty="0"/>
          </a:p>
        </p:txBody>
      </p:sp>
      <p:sp>
        <p:nvSpPr>
          <p:cNvPr id="17" name="s-sectors-line-16"/>
          <p:cNvSpPr/>
          <p:nvPr/>
        </p:nvSpPr>
        <p:spPr>
          <a:xfrm>
            <a:off x="815975" y="296039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s-sectors-text-17"/>
          <p:cNvSpPr txBox="1"/>
          <p:nvPr/>
        </p:nvSpPr>
        <p:spPr>
          <a:xfrm>
            <a:off x="907415" y="2687499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Нефтегаз, экспортёры</a:t>
            </a:r>
            <a:endParaRPr lang="en-US" sz="1200" dirty="0"/>
          </a:p>
        </p:txBody>
      </p:sp>
      <p:sp>
        <p:nvSpPr>
          <p:cNvPr id="19" name="s-sectors-line-18"/>
          <p:cNvSpPr/>
          <p:nvPr/>
        </p:nvSpPr>
        <p:spPr>
          <a:xfrm>
            <a:off x="2716709" y="2960390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s-sectors-text-19"/>
          <p:cNvSpPr txBox="1"/>
          <p:nvPr/>
        </p:nvSpPr>
        <p:spPr>
          <a:xfrm>
            <a:off x="2808149" y="2687499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21" name="s-sectors-line-20"/>
          <p:cNvSpPr/>
          <p:nvPr/>
        </p:nvSpPr>
        <p:spPr>
          <a:xfrm>
            <a:off x="4617442" y="2960390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2" name="s-sectors-text-21"/>
          <p:cNvSpPr txBox="1"/>
          <p:nvPr/>
        </p:nvSpPr>
        <p:spPr>
          <a:xfrm>
            <a:off x="4708882" y="2687499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 yield, капекс-цикл, курс рубля и цена нефти, налоги: НДПИ, НДД, демпфер</a:t>
            </a:r>
            <a:endParaRPr lang="en-US" sz="1200" dirty="0"/>
          </a:p>
        </p:txBody>
      </p:sp>
      <p:sp>
        <p:nvSpPr>
          <p:cNvPr id="23" name="s-sectors-line-22"/>
          <p:cNvSpPr/>
          <p:nvPr/>
        </p:nvSpPr>
        <p:spPr>
          <a:xfrm>
            <a:off x="815975" y="3499941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4" name="s-sectors-text-23"/>
          <p:cNvSpPr txBox="1"/>
          <p:nvPr/>
        </p:nvSpPr>
        <p:spPr>
          <a:xfrm>
            <a:off x="907415" y="301373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Ритейл</a:t>
            </a:r>
            <a:endParaRPr lang="en-US" sz="1200" dirty="0"/>
          </a:p>
        </p:txBody>
      </p:sp>
      <p:sp>
        <p:nvSpPr>
          <p:cNvPr id="25" name="s-sectors-line-24"/>
          <p:cNvSpPr/>
          <p:nvPr/>
        </p:nvSpPr>
        <p:spPr>
          <a:xfrm>
            <a:off x="2716709" y="3499941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6" name="s-sectors-text-25"/>
          <p:cNvSpPr txBox="1"/>
          <p:nvPr/>
        </p:nvSpPr>
        <p:spPr>
          <a:xfrm>
            <a:off x="2808149" y="3013730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 / EBITDA</a:t>
            </a:r>
            <a:endParaRPr lang="en-US" sz="1200" dirty="0"/>
          </a:p>
        </p:txBody>
      </p:sp>
      <p:sp>
        <p:nvSpPr>
          <p:cNvPr id="27" name="s-sectors-line-26"/>
          <p:cNvSpPr/>
          <p:nvPr/>
        </p:nvSpPr>
        <p:spPr>
          <a:xfrm>
            <a:off x="4617442" y="3499941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8" name="s-sectors-text-27"/>
          <p:cNvSpPr txBox="1"/>
          <p:nvPr/>
        </p:nvSpPr>
        <p:spPr>
          <a:xfrm>
            <a:off x="4708882" y="3013730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LFL-продажи против инфляции, маржа без МСФО 16, долг с арендой и без, оборачиваемость запасов</a:t>
            </a:r>
            <a:endParaRPr lang="en-US" sz="1200" dirty="0"/>
          </a:p>
        </p:txBody>
      </p:sp>
      <p:sp>
        <p:nvSpPr>
          <p:cNvPr id="29" name="s-sectors-line-28"/>
          <p:cNvSpPr/>
          <p:nvPr/>
        </p:nvSpPr>
        <p:spPr>
          <a:xfrm>
            <a:off x="815975" y="382617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0" name="s-sectors-text-29"/>
          <p:cNvSpPr txBox="1"/>
          <p:nvPr/>
        </p:nvSpPr>
        <p:spPr>
          <a:xfrm>
            <a:off x="907415" y="3553281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Девелоперы</a:t>
            </a:r>
            <a:endParaRPr lang="en-US" sz="1200" dirty="0"/>
          </a:p>
        </p:txBody>
      </p:sp>
      <p:sp>
        <p:nvSpPr>
          <p:cNvPr id="31" name="s-sectors-line-30"/>
          <p:cNvSpPr/>
          <p:nvPr/>
        </p:nvSpPr>
        <p:spPr>
          <a:xfrm>
            <a:off x="2716709" y="3826173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2" name="s-sectors-text-31"/>
          <p:cNvSpPr txBox="1"/>
          <p:nvPr/>
        </p:nvSpPr>
        <p:spPr>
          <a:xfrm>
            <a:off x="2808149" y="3553281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33" name="s-sectors-line-32"/>
          <p:cNvSpPr/>
          <p:nvPr/>
        </p:nvSpPr>
        <p:spPr>
          <a:xfrm>
            <a:off x="4617442" y="3826173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4" name="s-sectors-text-33"/>
          <p:cNvSpPr txBox="1"/>
          <p:nvPr/>
        </p:nvSpPr>
        <p:spPr>
          <a:xfrm>
            <a:off x="4708882" y="3553281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Продажи в м² и рублях, эскроу против проектного долга, корпоративный долг отдельно</a:t>
            </a:r>
            <a:endParaRPr lang="en-US" sz="1200" dirty="0"/>
          </a:p>
        </p:txBody>
      </p:sp>
      <p:sp>
        <p:nvSpPr>
          <p:cNvPr id="35" name="s-sectors-line-34"/>
          <p:cNvSpPr/>
          <p:nvPr/>
        </p:nvSpPr>
        <p:spPr>
          <a:xfrm>
            <a:off x="815975" y="4365724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s-sectors-text-35"/>
          <p:cNvSpPr txBox="1"/>
          <p:nvPr/>
        </p:nvSpPr>
        <p:spPr>
          <a:xfrm>
            <a:off x="907415" y="387951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и истории роста</a:t>
            </a:r>
            <a:endParaRPr lang="en-US" sz="1200" dirty="0"/>
          </a:p>
        </p:txBody>
      </p:sp>
      <p:sp>
        <p:nvSpPr>
          <p:cNvPr id="37" name="s-sectors-line-36"/>
          <p:cNvSpPr/>
          <p:nvPr/>
        </p:nvSpPr>
        <p:spPr>
          <a:xfrm>
            <a:off x="2716709" y="4365724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s-sectors-text-37"/>
          <p:cNvSpPr txBox="1"/>
          <p:nvPr/>
        </p:nvSpPr>
        <p:spPr>
          <a:xfrm>
            <a:off x="2808149" y="3879513"/>
            <a:ext cx="176938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</a:t>
            </a:r>
            <a:endParaRPr lang="en-US" sz="1200" dirty="0"/>
          </a:p>
        </p:txBody>
      </p:sp>
      <p:sp>
        <p:nvSpPr>
          <p:cNvPr id="39" name="s-sectors-line-38"/>
          <p:cNvSpPr/>
          <p:nvPr/>
        </p:nvSpPr>
        <p:spPr>
          <a:xfrm>
            <a:off x="4617442" y="4365724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0" name="s-sectors-text-39"/>
          <p:cNvSpPr txBox="1"/>
          <p:nvPr/>
        </p:nvSpPr>
        <p:spPr>
          <a:xfrm>
            <a:off x="4708882" y="3879513"/>
            <a:ext cx="677297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выручки, что вычли из скорректированной EBITDA, капитализация разработки, размытие</a:t>
            </a:r>
            <a:endParaRPr lang="en-US" sz="1200" dirty="0"/>
          </a:p>
        </p:txBody>
      </p:sp>
      <p:sp>
        <p:nvSpPr>
          <p:cNvPr id="41" name="s-sectors-line-40"/>
          <p:cNvSpPr/>
          <p:nvPr/>
        </p:nvSpPr>
        <p:spPr>
          <a:xfrm>
            <a:off x="815975" y="469195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2" name="s-sectors-text-41"/>
          <p:cNvSpPr txBox="1"/>
          <p:nvPr/>
        </p:nvSpPr>
        <p:spPr>
          <a:xfrm>
            <a:off x="907415" y="4419064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Холдинги</a:t>
            </a:r>
            <a:endParaRPr lang="en-US" sz="1200" dirty="0"/>
          </a:p>
        </p:txBody>
      </p:sp>
      <p:sp>
        <p:nvSpPr>
          <p:cNvPr id="43" name="s-sectors-line-42"/>
          <p:cNvSpPr/>
          <p:nvPr/>
        </p:nvSpPr>
        <p:spPr>
          <a:xfrm>
            <a:off x="2716709" y="4691955"/>
            <a:ext cx="1900734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4" name="s-sectors-text-43"/>
          <p:cNvSpPr txBox="1"/>
          <p:nvPr/>
        </p:nvSpPr>
        <p:spPr>
          <a:xfrm>
            <a:off x="2808149" y="4419064"/>
            <a:ext cx="176938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группы</a:t>
            </a:r>
            <a:endParaRPr lang="en-US" sz="1200" dirty="0"/>
          </a:p>
        </p:txBody>
      </p:sp>
      <p:sp>
        <p:nvSpPr>
          <p:cNvPr id="45" name="s-sectors-line-44"/>
          <p:cNvSpPr/>
          <p:nvPr/>
        </p:nvSpPr>
        <p:spPr>
          <a:xfrm>
            <a:off x="4617442" y="4691955"/>
            <a:ext cx="675858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6" name="s-sectors-text-45"/>
          <p:cNvSpPr txBox="1"/>
          <p:nvPr/>
        </p:nvSpPr>
        <p:spPr>
          <a:xfrm>
            <a:off x="4708882" y="4419064"/>
            <a:ext cx="677297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Дисконт к сумме частей, долг корпоративного центра, дивиденды «дочек»</a:t>
            </a:r>
            <a:endParaRPr lang="en-US" sz="1200" dirty="0"/>
          </a:p>
        </p:txBody>
      </p:sp>
      <p:sp>
        <p:nvSpPr>
          <p:cNvPr id="47" name="s-sectors-text-4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-flag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ШАГ 5 · ФЛАГИ</a:t>
            </a:r>
            <a:endParaRPr lang="en-US" sz="1200" dirty="0"/>
          </a:p>
        </p:txBody>
      </p:sp>
      <p:sp>
        <p:nvSpPr>
          <p:cNvPr id="3" name="s-flag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Флаги для акций</a:t>
            </a:r>
            <a:endParaRPr lang="en-US" sz="2800" dirty="0"/>
          </a:p>
        </p:txBody>
      </p:sp>
      <p:sp>
        <p:nvSpPr>
          <p:cNvPr id="4" name="s-flags-box-3"/>
          <p:cNvSpPr/>
          <p:nvPr/>
        </p:nvSpPr>
        <p:spPr>
          <a:xfrm>
            <a:off x="812800" y="1765201"/>
            <a:ext cx="5175250" cy="4076799"/>
          </a:xfrm>
          <a:prstGeom prst="roundRect">
            <a:avLst>
              <a:gd name="adj" fmla="val 559"/>
            </a:avLst>
          </a:prstGeom>
          <a:solidFill>
            <a:srgbClr val="F6DFDA"/>
          </a:solidFill>
          <a:ln/>
        </p:spPr>
      </p:sp>
      <p:sp>
        <p:nvSpPr>
          <p:cNvPr id="5" name="s-flags-text-4"/>
          <p:cNvSpPr txBox="1"/>
          <p:nvPr/>
        </p:nvSpPr>
        <p:spPr>
          <a:xfrm>
            <a:off x="1016000" y="1968401"/>
            <a:ext cx="49119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СТОП</a:t>
            </a:r>
            <a:endParaRPr lang="en-US" sz="1200" dirty="0"/>
          </a:p>
        </p:txBody>
      </p:sp>
      <p:sp>
        <p:nvSpPr>
          <p:cNvPr id="6" name="s-flags-text-5"/>
          <p:cNvSpPr txBox="1"/>
          <p:nvPr/>
        </p:nvSpPr>
        <p:spPr>
          <a:xfrm>
            <a:off x="1016000" y="2257921"/>
            <a:ext cx="4911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покупаю или выхожу</a:t>
            </a:r>
            <a:endParaRPr lang="en-US" sz="1800" dirty="0"/>
          </a:p>
        </p:txBody>
      </p:sp>
      <p:sp>
        <p:nvSpPr>
          <p:cNvPr id="7" name="s-flags-text-6"/>
          <p:cNvSpPr txBox="1"/>
          <p:nvPr/>
        </p:nvSpPr>
        <p:spPr>
          <a:xfrm>
            <a:off x="1016000" y="260836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Допэмиссия или SPO, которые размывают долю без понятной цели</a:t>
            </a:r>
            <a:endParaRPr lang="en-US" sz="1400" dirty="0"/>
          </a:p>
        </p:txBody>
      </p:sp>
      <p:sp>
        <p:nvSpPr>
          <p:cNvPr id="8" name="s-flags-text-7"/>
          <p:cNvSpPr txBox="1"/>
          <p:nvPr/>
        </p:nvSpPr>
        <p:spPr>
          <a:xfrm>
            <a:off x="1016000" y="320010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Аудитор: оговорка, отказ от мнения, смена без объяснений; задержка отчётности</a:t>
            </a:r>
            <a:endParaRPr lang="en-US" sz="1400" dirty="0"/>
          </a:p>
        </p:txBody>
      </p:sp>
      <p:sp>
        <p:nvSpPr>
          <p:cNvPr id="9" name="s-flags-text-8"/>
          <p:cNvSpPr txBox="1"/>
          <p:nvPr/>
        </p:nvSpPr>
        <p:spPr>
          <a:xfrm>
            <a:off x="1016000" y="3791843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уходят связанным сторонам: растут займы выданные (1170, 1240)</a:t>
            </a:r>
            <a:endParaRPr lang="en-US" sz="1400" dirty="0"/>
          </a:p>
        </p:txBody>
      </p:sp>
      <p:sp>
        <p:nvSpPr>
          <p:cNvPr id="10" name="s-flags-text-9"/>
          <p:cNvSpPr txBox="1"/>
          <p:nvPr/>
        </p:nvSpPr>
        <p:spPr>
          <a:xfrm>
            <a:off x="1016000" y="4383584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против миноритариев: выкуп или делистинг по заниженной цене</a:t>
            </a:r>
            <a:endParaRPr lang="en-US" sz="1400" dirty="0"/>
          </a:p>
        </p:txBody>
      </p:sp>
      <p:sp>
        <p:nvSpPr>
          <p:cNvPr id="11" name="s-flags-box-10"/>
          <p:cNvSpPr/>
          <p:nvPr/>
        </p:nvSpPr>
        <p:spPr>
          <a:xfrm>
            <a:off x="6191250" y="1765201"/>
            <a:ext cx="5187950" cy="4076799"/>
          </a:xfrm>
          <a:prstGeom prst="roundRect">
            <a:avLst>
              <a:gd name="adj" fmla="val 559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2" name="s-flags-text-11"/>
          <p:cNvSpPr txBox="1"/>
          <p:nvPr/>
        </p:nvSpPr>
        <p:spPr>
          <a:xfrm>
            <a:off x="6400800" y="1974751"/>
            <a:ext cx="491191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ВНИМАНИЕ</a:t>
            </a:r>
            <a:endParaRPr lang="en-US" sz="1200" dirty="0"/>
          </a:p>
        </p:txBody>
      </p:sp>
      <p:sp>
        <p:nvSpPr>
          <p:cNvPr id="13" name="s-flags-text-12"/>
          <p:cNvSpPr txBox="1"/>
          <p:nvPr/>
        </p:nvSpPr>
        <p:spPr>
          <a:xfrm>
            <a:off x="6400800" y="2264271"/>
            <a:ext cx="4911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Смотрю внимательно и считаю</a:t>
            </a:r>
            <a:endParaRPr lang="en-US" sz="1800" dirty="0"/>
          </a:p>
        </p:txBody>
      </p:sp>
      <p:sp>
        <p:nvSpPr>
          <p:cNvPr id="14" name="s-flags-text-13"/>
          <p:cNvSpPr txBox="1"/>
          <p:nvPr/>
        </p:nvSpPr>
        <p:spPr>
          <a:xfrm>
            <a:off x="6400800" y="2614712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больше FCF второй год подряд</a:t>
            </a:r>
            <a:endParaRPr lang="en-US" sz="1400" dirty="0"/>
          </a:p>
        </p:txBody>
      </p:sp>
      <p:sp>
        <p:nvSpPr>
          <p:cNvPr id="15" name="s-flags-text-14"/>
          <p:cNvSpPr txBox="1"/>
          <p:nvPr/>
        </p:nvSpPr>
        <p:spPr>
          <a:xfrm>
            <a:off x="6400800" y="2948682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систематически ниже прибыли</a:t>
            </a:r>
            <a:endParaRPr lang="en-US" sz="1400" dirty="0"/>
          </a:p>
        </p:txBody>
      </p:sp>
      <p:sp>
        <p:nvSpPr>
          <p:cNvPr id="16" name="s-flags-text-15"/>
          <p:cNvSpPr txBox="1"/>
          <p:nvPr/>
        </p:nvSpPr>
        <p:spPr>
          <a:xfrm>
            <a:off x="6400800" y="3282652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«Скорректированные» показатели растут, отчётные падают</a:t>
            </a:r>
            <a:endParaRPr lang="en-US" sz="1400" dirty="0"/>
          </a:p>
        </p:txBody>
      </p:sp>
      <p:sp>
        <p:nvSpPr>
          <p:cNvPr id="17" name="s-flags-text-16"/>
          <p:cNvSpPr txBox="1"/>
          <p:nvPr/>
        </p:nvSpPr>
        <p:spPr>
          <a:xfrm>
            <a:off x="6400800" y="3874393"/>
            <a:ext cx="491191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Раскрытие сокращается: пропали сегменты и расшифровки</a:t>
            </a:r>
            <a:endParaRPr lang="en-US" sz="1400" dirty="0"/>
          </a:p>
        </p:txBody>
      </p:sp>
      <p:sp>
        <p:nvSpPr>
          <p:cNvPr id="18" name="s-flags-text-17"/>
          <p:cNvSpPr txBox="1"/>
          <p:nvPr/>
        </p:nvSpPr>
        <p:spPr>
          <a:xfrm>
            <a:off x="6400800" y="4466134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Процентные расходы растут быстрее EBITDA</a:t>
            </a:r>
            <a:endParaRPr lang="en-US" sz="1400" dirty="0"/>
          </a:p>
        </p:txBody>
      </p:sp>
      <p:sp>
        <p:nvSpPr>
          <p:cNvPr id="19" name="s-flags-text-18"/>
          <p:cNvSpPr txBox="1"/>
          <p:nvPr/>
        </p:nvSpPr>
        <p:spPr>
          <a:xfrm>
            <a:off x="6400800" y="4800104"/>
            <a:ext cx="4911916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 урезан при выполненных условиях политики</a:t>
            </a:r>
            <a:endParaRPr lang="en-US" sz="1400" dirty="0"/>
          </a:p>
        </p:txBody>
      </p:sp>
      <p:sp>
        <p:nvSpPr>
          <p:cNvPr id="20" name="s-flags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33:00–46:00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пять шагов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 · 46:00 · 7 МИНУТ</a:t>
            </a:r>
            <a:endParaRPr lang="en-US" sz="1200" dirty="0"/>
          </a:p>
        </p:txBody>
      </p:sp>
      <p:sp>
        <p:nvSpPr>
          <p:cNvPr id="3" name="vasilek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ПАО «Василёк»</a:t>
            </a:r>
            <a:endParaRPr lang="en-US" sz="2800" dirty="0"/>
          </a:p>
        </p:txBody>
      </p:sp>
      <p:sp>
        <p:nvSpPr>
          <p:cNvPr id="4" name="vasilek-box-3"/>
          <p:cNvSpPr/>
          <p:nvPr/>
        </p:nvSpPr>
        <p:spPr>
          <a:xfrm>
            <a:off x="812800" y="1765201"/>
            <a:ext cx="5384800" cy="4076799"/>
          </a:xfrm>
          <a:prstGeom prst="roundRect">
            <a:avLst>
              <a:gd name="adj" fmla="val 559"/>
            </a:avLst>
          </a:prstGeom>
          <a:solidFill>
            <a:srgbClr val="E0E5F5"/>
          </a:solidFill>
          <a:ln/>
        </p:spPr>
      </p:sp>
      <p:sp>
        <p:nvSpPr>
          <p:cNvPr id="5" name="vasilek-text-4"/>
          <p:cNvSpPr txBox="1"/>
          <p:nvPr/>
        </p:nvSpPr>
        <p:spPr>
          <a:xfrm>
            <a:off x="1066800" y="2019201"/>
            <a:ext cx="502310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компания, все цифры условные. Производитель продуктов питания. ПАО «Василёк» — холдинг, бизнес в «дочках».</a:t>
            </a:r>
            <a:endParaRPr lang="en-US" sz="1400" dirty="0"/>
          </a:p>
        </p:txBody>
      </p:sp>
      <p:sp>
        <p:nvSpPr>
          <p:cNvPr id="6" name="vasilek-line-5"/>
          <p:cNvSpPr/>
          <p:nvPr/>
        </p:nvSpPr>
        <p:spPr>
          <a:xfrm>
            <a:off x="1066800" y="4219178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7" name="vasilek-text-6"/>
          <p:cNvSpPr txBox="1"/>
          <p:nvPr/>
        </p:nvSpPr>
        <p:spPr>
          <a:xfrm>
            <a:off x="1066800" y="3938588"/>
            <a:ext cx="8422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акции</a:t>
            </a:r>
            <a:endParaRPr lang="en-US" sz="1200" dirty="0"/>
          </a:p>
        </p:txBody>
      </p:sp>
      <p:sp>
        <p:nvSpPr>
          <p:cNvPr id="8" name="vasilek-text-7"/>
          <p:cNvSpPr txBox="1"/>
          <p:nvPr/>
        </p:nvSpPr>
        <p:spPr>
          <a:xfrm>
            <a:off x="5571728" y="3913188"/>
            <a:ext cx="38302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₽</a:t>
            </a:r>
            <a:endParaRPr lang="en-US" sz="1400" dirty="0"/>
          </a:p>
        </p:txBody>
      </p:sp>
      <p:sp>
        <p:nvSpPr>
          <p:cNvPr id="9" name="vasilek-line-8"/>
          <p:cNvSpPr/>
          <p:nvPr/>
        </p:nvSpPr>
        <p:spPr>
          <a:xfrm>
            <a:off x="1066800" y="4677569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10" name="vasilek-text-9"/>
          <p:cNvSpPr txBox="1"/>
          <p:nvPr/>
        </p:nvSpPr>
        <p:spPr>
          <a:xfrm>
            <a:off x="1066800" y="4396978"/>
            <a:ext cx="1437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Акций в обращении</a:t>
            </a:r>
            <a:endParaRPr lang="en-US" sz="1200" dirty="0"/>
          </a:p>
        </p:txBody>
      </p:sp>
      <p:sp>
        <p:nvSpPr>
          <p:cNvPr id="11" name="vasilek-text-10"/>
          <p:cNvSpPr txBox="1"/>
          <p:nvPr/>
        </p:nvSpPr>
        <p:spPr>
          <a:xfrm>
            <a:off x="5097363" y="4371578"/>
            <a:ext cx="871624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млн</a:t>
            </a:r>
            <a:endParaRPr lang="en-US" sz="1400" dirty="0"/>
          </a:p>
        </p:txBody>
      </p:sp>
      <p:sp>
        <p:nvSpPr>
          <p:cNvPr id="12" name="vasilek-line-11"/>
          <p:cNvSpPr/>
          <p:nvPr/>
        </p:nvSpPr>
        <p:spPr>
          <a:xfrm>
            <a:off x="1066800" y="5135959"/>
            <a:ext cx="4876800" cy="0"/>
          </a:xfrm>
          <a:prstGeom prst="line">
            <a:avLst/>
          </a:prstGeom>
          <a:noFill/>
          <a:ln w="6350">
            <a:solidFill>
              <a:srgbClr val="A6B3AB"/>
            </a:solidFill>
            <a:prstDash val="solid"/>
          </a:ln>
        </p:spPr>
      </p:sp>
      <p:sp>
        <p:nvSpPr>
          <p:cNvPr id="13" name="vasilek-text-12"/>
          <p:cNvSpPr txBox="1"/>
          <p:nvPr/>
        </p:nvSpPr>
        <p:spPr>
          <a:xfrm>
            <a:off x="1066800" y="4855369"/>
            <a:ext cx="94459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Дивполитика</a:t>
            </a:r>
            <a:endParaRPr lang="en-US" sz="1200" dirty="0"/>
          </a:p>
        </p:txBody>
      </p:sp>
      <p:sp>
        <p:nvSpPr>
          <p:cNvPr id="14" name="vasilek-text-13"/>
          <p:cNvSpPr txBox="1"/>
          <p:nvPr/>
        </p:nvSpPr>
        <p:spPr>
          <a:xfrm>
            <a:off x="3262313" y="4829969"/>
            <a:ext cx="2761726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50% скорр. прибыли МСФО</a:t>
            </a:r>
            <a:endParaRPr lang="en-US" sz="1400" dirty="0"/>
          </a:p>
        </p:txBody>
      </p:sp>
      <p:sp>
        <p:nvSpPr>
          <p:cNvPr id="15" name="vasilek-text-14"/>
          <p:cNvSpPr txBox="1"/>
          <p:nvPr/>
        </p:nvSpPr>
        <p:spPr>
          <a:xfrm>
            <a:off x="1066800" y="5313759"/>
            <a:ext cx="1568187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ОФЗ для упражнения</a:t>
            </a:r>
            <a:endParaRPr lang="en-US" sz="1200" dirty="0"/>
          </a:p>
        </p:txBody>
      </p:sp>
      <p:sp>
        <p:nvSpPr>
          <p:cNvPr id="16" name="vasilek-text-15"/>
          <p:cNvSpPr txBox="1"/>
          <p:nvPr/>
        </p:nvSpPr>
        <p:spPr>
          <a:xfrm>
            <a:off x="5587702" y="5288359"/>
            <a:ext cx="366575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400" dirty="0"/>
          </a:p>
        </p:txBody>
      </p:sp>
      <p:sp>
        <p:nvSpPr>
          <p:cNvPr id="17" name="vasilek-text-16"/>
          <p:cNvSpPr txBox="1"/>
          <p:nvPr/>
        </p:nvSpPr>
        <p:spPr>
          <a:xfrm>
            <a:off x="6502400" y="1765201"/>
            <a:ext cx="50231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ЗАДАНИЯ</a:t>
            </a:r>
            <a:endParaRPr lang="en-US" sz="1200" dirty="0"/>
          </a:p>
        </p:txBody>
      </p:sp>
      <p:sp>
        <p:nvSpPr>
          <p:cNvPr id="18" name="vasilek-text-17"/>
          <p:cNvSpPr txBox="1"/>
          <p:nvPr/>
        </p:nvSpPr>
        <p:spPr>
          <a:xfrm>
            <a:off x="6502400" y="2105521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vasilek-text-18"/>
          <p:cNvSpPr txBox="1"/>
          <p:nvPr/>
        </p:nvSpPr>
        <p:spPr>
          <a:xfrm>
            <a:off x="6959600" y="2156321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Настоящая ли прибыль? Сравните поток с прибылью и посчитайте FCF</a:t>
            </a:r>
            <a:endParaRPr lang="en-US" sz="1400" dirty="0"/>
          </a:p>
        </p:txBody>
      </p:sp>
      <p:sp>
        <p:nvSpPr>
          <p:cNvPr id="20" name="vasilek-text-19"/>
          <p:cNvSpPr txBox="1"/>
          <p:nvPr/>
        </p:nvSpPr>
        <p:spPr>
          <a:xfrm>
            <a:off x="6502400" y="2781002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vasilek-text-20"/>
          <p:cNvSpPr txBox="1"/>
          <p:nvPr/>
        </p:nvSpPr>
        <p:spPr>
          <a:xfrm>
            <a:off x="6959600" y="2831802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долг / EBITDA с арендой и без. Какую ошибку легко сделать?</a:t>
            </a:r>
            <a:endParaRPr lang="en-US" sz="1400" dirty="0"/>
          </a:p>
        </p:txBody>
      </p:sp>
      <p:sp>
        <p:nvSpPr>
          <p:cNvPr id="22" name="vasilek-text-21"/>
          <p:cNvSpPr txBox="1"/>
          <p:nvPr/>
        </p:nvSpPr>
        <p:spPr>
          <a:xfrm>
            <a:off x="6502400" y="3456484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vasilek-text-22"/>
          <p:cNvSpPr txBox="1"/>
          <p:nvPr/>
        </p:nvSpPr>
        <p:spPr>
          <a:xfrm>
            <a:off x="6959600" y="3507284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Дивиденд: сколько обещано, сколько покрыто FCF, сколько может заплатить материнская</a:t>
            </a:r>
            <a:endParaRPr lang="en-US" sz="1400" dirty="0"/>
          </a:p>
        </p:txBody>
      </p:sp>
      <p:sp>
        <p:nvSpPr>
          <p:cNvPr id="24" name="vasilek-text-23"/>
          <p:cNvSpPr txBox="1"/>
          <p:nvPr/>
        </p:nvSpPr>
        <p:spPr>
          <a:xfrm>
            <a:off x="6502400" y="4131965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vasilek-text-24"/>
          <p:cNvSpPr txBox="1"/>
          <p:nvPr/>
        </p:nvSpPr>
        <p:spPr>
          <a:xfrm>
            <a:off x="6959600" y="4182765"/>
            <a:ext cx="455218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Цена: P/E и E/P против ОФЗ, EV/EBITDA, FCF yield, дивдоходность</a:t>
            </a:r>
            <a:endParaRPr lang="en-US" sz="1400" dirty="0"/>
          </a:p>
        </p:txBody>
      </p:sp>
      <p:sp>
        <p:nvSpPr>
          <p:cNvPr id="26" name="vasilek-text-25"/>
          <p:cNvSpPr txBox="1"/>
          <p:nvPr/>
        </p:nvSpPr>
        <p:spPr>
          <a:xfrm>
            <a:off x="6502400" y="4807446"/>
            <a:ext cx="31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vasilek-text-26"/>
          <p:cNvSpPr txBox="1"/>
          <p:nvPr/>
        </p:nvSpPr>
        <p:spPr>
          <a:xfrm>
            <a:off x="6959600" y="4858246"/>
            <a:ext cx="455218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 по трём принципам: цена, катализатор, рост</a:t>
            </a:r>
            <a:endParaRPr lang="en-US" sz="1400" dirty="0"/>
          </a:p>
        </p:txBody>
      </p:sp>
      <p:sp>
        <p:nvSpPr>
          <p:cNvPr id="28" name="vasilek-text-2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l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МСФО ЗА ГОД · МЛРД ₽</a:t>
            </a:r>
            <a:endParaRPr lang="en-US" sz="1200" dirty="0"/>
          </a:p>
        </p:txBody>
      </p:sp>
      <p:sp>
        <p:nvSpPr>
          <p:cNvPr id="3" name="vasilek-pl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Василёк: прибыль и деньги</a:t>
            </a:r>
            <a:endParaRPr lang="en-US" sz="2800" dirty="0"/>
          </a:p>
        </p:txBody>
      </p:sp>
      <p:sp>
        <p:nvSpPr>
          <p:cNvPr id="4" name="vasilek-pl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ПРИБЫЛЬ ИЛИ УБЫТОК</a:t>
            </a:r>
            <a:endParaRPr lang="en-US" sz="1200" dirty="0"/>
          </a:p>
        </p:txBody>
      </p:sp>
      <p:sp>
        <p:nvSpPr>
          <p:cNvPr id="5" name="vasilek-pl-box-4"/>
          <p:cNvSpPr/>
          <p:nvPr/>
        </p:nvSpPr>
        <p:spPr>
          <a:xfrm>
            <a:off x="812800" y="2080121"/>
            <a:ext cx="5700911" cy="2942431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pl-line-5"/>
          <p:cNvSpPr/>
          <p:nvPr/>
        </p:nvSpPr>
        <p:spPr>
          <a:xfrm>
            <a:off x="815975" y="2409527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vasilek-pl-text-6"/>
          <p:cNvSpPr txBox="1"/>
          <p:nvPr/>
        </p:nvSpPr>
        <p:spPr>
          <a:xfrm>
            <a:off x="907415" y="2136636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Выручка, рост за год +10%</a:t>
            </a:r>
            <a:endParaRPr lang="en-US" sz="1200" dirty="0"/>
          </a:p>
        </p:txBody>
      </p:sp>
      <p:sp>
        <p:nvSpPr>
          <p:cNvPr id="8" name="vasilek-pl-line-7"/>
          <p:cNvSpPr/>
          <p:nvPr/>
        </p:nvSpPr>
        <p:spPr>
          <a:xfrm>
            <a:off x="5257701" y="240952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pl-text-8"/>
          <p:cNvSpPr txBox="1"/>
          <p:nvPr/>
        </p:nvSpPr>
        <p:spPr>
          <a:xfrm>
            <a:off x="5317042" y="213663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</a:t>
            </a:r>
            <a:endParaRPr lang="en-US" sz="1200" dirty="0"/>
          </a:p>
        </p:txBody>
      </p:sp>
      <p:sp>
        <p:nvSpPr>
          <p:cNvPr id="10" name="vasilek-pl-line-9"/>
          <p:cNvSpPr/>
          <p:nvPr/>
        </p:nvSpPr>
        <p:spPr>
          <a:xfrm>
            <a:off x="815975" y="2735759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vasilek-pl-text-10"/>
          <p:cNvSpPr txBox="1"/>
          <p:nvPr/>
        </p:nvSpPr>
        <p:spPr>
          <a:xfrm>
            <a:off x="907415" y="2462867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EBITDA, данные компании</a:t>
            </a:r>
            <a:endParaRPr lang="en-US" sz="1200" dirty="0"/>
          </a:p>
        </p:txBody>
      </p:sp>
      <p:sp>
        <p:nvSpPr>
          <p:cNvPr id="12" name="vasilek-pl-line-11"/>
          <p:cNvSpPr/>
          <p:nvPr/>
        </p:nvSpPr>
        <p:spPr>
          <a:xfrm>
            <a:off x="5257701" y="2735759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pl-text-12"/>
          <p:cNvSpPr txBox="1"/>
          <p:nvPr/>
        </p:nvSpPr>
        <p:spPr>
          <a:xfrm>
            <a:off x="5349141" y="2462867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</a:t>
            </a:r>
            <a:endParaRPr lang="en-US" sz="1200" dirty="0"/>
          </a:p>
        </p:txBody>
      </p:sp>
      <p:sp>
        <p:nvSpPr>
          <p:cNvPr id="14" name="vasilek-pl-line-13"/>
          <p:cNvSpPr/>
          <p:nvPr/>
        </p:nvSpPr>
        <p:spPr>
          <a:xfrm>
            <a:off x="815975" y="3061990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pl-text-14"/>
          <p:cNvSpPr txBox="1"/>
          <p:nvPr/>
        </p:nvSpPr>
        <p:spPr>
          <a:xfrm>
            <a:off x="907415" y="2789099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т. ч. эффект МСФО 16</a:t>
            </a:r>
            <a:endParaRPr lang="en-US" sz="1200" dirty="0"/>
          </a:p>
        </p:txBody>
      </p:sp>
      <p:sp>
        <p:nvSpPr>
          <p:cNvPr id="16" name="vasilek-pl-line-15"/>
          <p:cNvSpPr/>
          <p:nvPr/>
        </p:nvSpPr>
        <p:spPr>
          <a:xfrm>
            <a:off x="5257701" y="3061990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vasilek-pl-text-16"/>
          <p:cNvSpPr txBox="1"/>
          <p:nvPr/>
        </p:nvSpPr>
        <p:spPr>
          <a:xfrm>
            <a:off x="5349141" y="2789099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</a:t>
            </a:r>
            <a:endParaRPr lang="en-US" sz="1200" dirty="0"/>
          </a:p>
        </p:txBody>
      </p:sp>
      <p:sp>
        <p:nvSpPr>
          <p:cNvPr id="18" name="vasilek-pl-line-17"/>
          <p:cNvSpPr/>
          <p:nvPr/>
        </p:nvSpPr>
        <p:spPr>
          <a:xfrm>
            <a:off x="815975" y="3388221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vasilek-pl-text-18"/>
          <p:cNvSpPr txBox="1"/>
          <p:nvPr/>
        </p:nvSpPr>
        <p:spPr>
          <a:xfrm>
            <a:off x="907415" y="3115330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Амортизация</a:t>
            </a:r>
            <a:endParaRPr lang="en-US" sz="1200" dirty="0"/>
          </a:p>
        </p:txBody>
      </p:sp>
      <p:sp>
        <p:nvSpPr>
          <p:cNvPr id="20" name="vasilek-pl-line-19"/>
          <p:cNvSpPr/>
          <p:nvPr/>
        </p:nvSpPr>
        <p:spPr>
          <a:xfrm>
            <a:off x="5257701" y="3388221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vasilek-pl-text-20"/>
          <p:cNvSpPr txBox="1"/>
          <p:nvPr/>
        </p:nvSpPr>
        <p:spPr>
          <a:xfrm>
            <a:off x="5349141" y="3115330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(6,0)</a:t>
            </a:r>
            <a:endParaRPr lang="en-US" sz="1200" dirty="0"/>
          </a:p>
        </p:txBody>
      </p:sp>
      <p:sp>
        <p:nvSpPr>
          <p:cNvPr id="22" name="vasilek-pl-line-21"/>
          <p:cNvSpPr/>
          <p:nvPr/>
        </p:nvSpPr>
        <p:spPr>
          <a:xfrm>
            <a:off x="815975" y="3714452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vasilek-pl-text-22"/>
          <p:cNvSpPr txBox="1"/>
          <p:nvPr/>
        </p:nvSpPr>
        <p:spPr>
          <a:xfrm>
            <a:off x="907415" y="3441561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Процентные расходы</a:t>
            </a:r>
            <a:endParaRPr lang="en-US" sz="1200" dirty="0"/>
          </a:p>
        </p:txBody>
      </p:sp>
      <p:sp>
        <p:nvSpPr>
          <p:cNvPr id="24" name="vasilek-pl-line-23"/>
          <p:cNvSpPr/>
          <p:nvPr/>
        </p:nvSpPr>
        <p:spPr>
          <a:xfrm>
            <a:off x="5257701" y="3714452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vasilek-pl-text-24"/>
          <p:cNvSpPr txBox="1"/>
          <p:nvPr/>
        </p:nvSpPr>
        <p:spPr>
          <a:xfrm>
            <a:off x="5349141" y="3441561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(5,0)</a:t>
            </a:r>
            <a:endParaRPr lang="en-US" sz="1200" dirty="0"/>
          </a:p>
        </p:txBody>
      </p:sp>
      <p:sp>
        <p:nvSpPr>
          <p:cNvPr id="26" name="vasilek-pl-line-25"/>
          <p:cNvSpPr/>
          <p:nvPr/>
        </p:nvSpPr>
        <p:spPr>
          <a:xfrm>
            <a:off x="815975" y="4040684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vasilek-pl-text-26"/>
          <p:cNvSpPr txBox="1"/>
          <p:nvPr/>
        </p:nvSpPr>
        <p:spPr>
          <a:xfrm>
            <a:off x="907415" y="3767792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Курсовые разницы и обесценение</a:t>
            </a:r>
            <a:endParaRPr lang="en-US" sz="1200" dirty="0"/>
          </a:p>
        </p:txBody>
      </p:sp>
      <p:sp>
        <p:nvSpPr>
          <p:cNvPr id="28" name="vasilek-pl-line-27"/>
          <p:cNvSpPr/>
          <p:nvPr/>
        </p:nvSpPr>
        <p:spPr>
          <a:xfrm>
            <a:off x="5257701" y="4040684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vasilek-pl-text-28"/>
          <p:cNvSpPr txBox="1"/>
          <p:nvPr/>
        </p:nvSpPr>
        <p:spPr>
          <a:xfrm>
            <a:off x="5349141" y="3767792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(2,0)</a:t>
            </a:r>
            <a:endParaRPr lang="en-US" sz="1200" dirty="0"/>
          </a:p>
        </p:txBody>
      </p:sp>
      <p:sp>
        <p:nvSpPr>
          <p:cNvPr id="30" name="vasilek-pl-line-29"/>
          <p:cNvSpPr/>
          <p:nvPr/>
        </p:nvSpPr>
        <p:spPr>
          <a:xfrm>
            <a:off x="815975" y="4366915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vasilek-pl-text-30"/>
          <p:cNvSpPr txBox="1"/>
          <p:nvPr/>
        </p:nvSpPr>
        <p:spPr>
          <a:xfrm>
            <a:off x="907415" y="4094024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 на прибыль, 25%</a:t>
            </a:r>
            <a:endParaRPr lang="en-US" sz="1200" dirty="0"/>
          </a:p>
        </p:txBody>
      </p:sp>
      <p:sp>
        <p:nvSpPr>
          <p:cNvPr id="32" name="vasilek-pl-line-31"/>
          <p:cNvSpPr/>
          <p:nvPr/>
        </p:nvSpPr>
        <p:spPr>
          <a:xfrm>
            <a:off x="5257701" y="4366915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vasilek-pl-text-32"/>
          <p:cNvSpPr txBox="1"/>
          <p:nvPr/>
        </p:nvSpPr>
        <p:spPr>
          <a:xfrm>
            <a:off x="5349141" y="4094024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(2,75)</a:t>
            </a:r>
            <a:endParaRPr lang="en-US" sz="1200" dirty="0"/>
          </a:p>
        </p:txBody>
      </p:sp>
      <p:sp>
        <p:nvSpPr>
          <p:cNvPr id="34" name="vasilek-pl-box-33"/>
          <p:cNvSpPr/>
          <p:nvPr/>
        </p:nvSpPr>
        <p:spPr>
          <a:xfrm>
            <a:off x="815975" y="4366915"/>
            <a:ext cx="5694561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35" name="vasilek-pl-line-34"/>
          <p:cNvSpPr/>
          <p:nvPr/>
        </p:nvSpPr>
        <p:spPr>
          <a:xfrm>
            <a:off x="815975" y="4693146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6" name="vasilek-pl-text-35"/>
          <p:cNvSpPr txBox="1"/>
          <p:nvPr/>
        </p:nvSpPr>
        <p:spPr>
          <a:xfrm>
            <a:off x="907415" y="4420255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37" name="vasilek-pl-line-36"/>
          <p:cNvSpPr/>
          <p:nvPr/>
        </p:nvSpPr>
        <p:spPr>
          <a:xfrm>
            <a:off x="5257701" y="4693146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8" name="vasilek-pl-text-37"/>
          <p:cNvSpPr txBox="1"/>
          <p:nvPr/>
        </p:nvSpPr>
        <p:spPr>
          <a:xfrm>
            <a:off x="5349141" y="4420255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8,25</a:t>
            </a:r>
            <a:endParaRPr lang="en-US" sz="1200" dirty="0"/>
          </a:p>
        </p:txBody>
      </p:sp>
      <p:sp>
        <p:nvSpPr>
          <p:cNvPr id="39" name="vasilek-pl-box-38"/>
          <p:cNvSpPr/>
          <p:nvPr/>
        </p:nvSpPr>
        <p:spPr>
          <a:xfrm>
            <a:off x="815975" y="4693146"/>
            <a:ext cx="5694561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0" name="vasilek-pl-line-39"/>
          <p:cNvSpPr/>
          <p:nvPr/>
        </p:nvSpPr>
        <p:spPr>
          <a:xfrm>
            <a:off x="815975" y="5019377"/>
            <a:ext cx="444172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vasilek-pl-text-40"/>
          <p:cNvSpPr txBox="1"/>
          <p:nvPr/>
        </p:nvSpPr>
        <p:spPr>
          <a:xfrm>
            <a:off x="907415" y="4746486"/>
            <a:ext cx="4386611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Скорректированная чистая прибыль, данные компании</a:t>
            </a:r>
            <a:endParaRPr lang="en-US" sz="1200" dirty="0"/>
          </a:p>
        </p:txBody>
      </p:sp>
      <p:sp>
        <p:nvSpPr>
          <p:cNvPr id="42" name="vasilek-pl-line-41"/>
          <p:cNvSpPr/>
          <p:nvPr/>
        </p:nvSpPr>
        <p:spPr>
          <a:xfrm>
            <a:off x="5257701" y="501937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vasilek-pl-text-42"/>
          <p:cNvSpPr txBox="1"/>
          <p:nvPr/>
        </p:nvSpPr>
        <p:spPr>
          <a:xfrm>
            <a:off x="5349141" y="474648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9,75</a:t>
            </a:r>
            <a:endParaRPr lang="en-US" sz="1200" dirty="0"/>
          </a:p>
        </p:txBody>
      </p:sp>
      <p:sp>
        <p:nvSpPr>
          <p:cNvPr id="44" name="vasilek-pl-text-43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ДВИЖЕНИЕ ДЕНЕГ</a:t>
            </a:r>
            <a:endParaRPr lang="en-US" sz="1200" dirty="0"/>
          </a:p>
        </p:txBody>
      </p:sp>
      <p:sp>
        <p:nvSpPr>
          <p:cNvPr id="45" name="vasilek-pl-box-44"/>
          <p:cNvSpPr/>
          <p:nvPr/>
        </p:nvSpPr>
        <p:spPr>
          <a:xfrm>
            <a:off x="6818511" y="2080121"/>
            <a:ext cx="4560689" cy="17379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46" name="vasilek-pl-box-45"/>
          <p:cNvSpPr/>
          <p:nvPr/>
        </p:nvSpPr>
        <p:spPr>
          <a:xfrm>
            <a:off x="6821686" y="2083296"/>
            <a:ext cx="4554339" cy="326231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47" name="vasilek-pl-line-46"/>
          <p:cNvSpPr/>
          <p:nvPr/>
        </p:nvSpPr>
        <p:spPr>
          <a:xfrm>
            <a:off x="6821686" y="2409527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8" name="vasilek-pl-text-47"/>
          <p:cNvSpPr txBox="1"/>
          <p:nvPr/>
        </p:nvSpPr>
        <p:spPr>
          <a:xfrm>
            <a:off x="6913126" y="2136636"/>
            <a:ext cx="337671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поток от операционной деятельности</a:t>
            </a:r>
            <a:endParaRPr lang="en-US" sz="1200" dirty="0"/>
          </a:p>
        </p:txBody>
      </p:sp>
      <p:sp>
        <p:nvSpPr>
          <p:cNvPr id="49" name="vasilek-pl-line-48"/>
          <p:cNvSpPr/>
          <p:nvPr/>
        </p:nvSpPr>
        <p:spPr>
          <a:xfrm>
            <a:off x="10282932" y="2409527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0" name="vasilek-pl-text-49"/>
          <p:cNvSpPr txBox="1"/>
          <p:nvPr/>
        </p:nvSpPr>
        <p:spPr>
          <a:xfrm>
            <a:off x="10347066" y="2136636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</a:t>
            </a:r>
            <a:endParaRPr lang="en-US" sz="1200" dirty="0"/>
          </a:p>
        </p:txBody>
      </p:sp>
      <p:sp>
        <p:nvSpPr>
          <p:cNvPr id="51" name="vasilek-pl-line-50"/>
          <p:cNvSpPr/>
          <p:nvPr/>
        </p:nvSpPr>
        <p:spPr>
          <a:xfrm>
            <a:off x="6821686" y="2735759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2" name="vasilek-pl-text-51"/>
          <p:cNvSpPr txBox="1"/>
          <p:nvPr/>
        </p:nvSpPr>
        <p:spPr>
          <a:xfrm>
            <a:off x="6913126" y="2462867"/>
            <a:ext cx="337671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Капитальные затраты</a:t>
            </a:r>
            <a:endParaRPr lang="en-US" sz="1200" dirty="0"/>
          </a:p>
        </p:txBody>
      </p:sp>
      <p:sp>
        <p:nvSpPr>
          <p:cNvPr id="53" name="vasilek-pl-line-52"/>
          <p:cNvSpPr/>
          <p:nvPr/>
        </p:nvSpPr>
        <p:spPr>
          <a:xfrm>
            <a:off x="10282932" y="2735759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4" name="vasilek-pl-text-53"/>
          <p:cNvSpPr txBox="1"/>
          <p:nvPr/>
        </p:nvSpPr>
        <p:spPr>
          <a:xfrm>
            <a:off x="10374372" y="2462867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(9,0)</a:t>
            </a:r>
            <a:endParaRPr lang="en-US" sz="1200" dirty="0"/>
          </a:p>
        </p:txBody>
      </p:sp>
      <p:sp>
        <p:nvSpPr>
          <p:cNvPr id="55" name="vasilek-pl-line-54"/>
          <p:cNvSpPr/>
          <p:nvPr/>
        </p:nvSpPr>
        <p:spPr>
          <a:xfrm>
            <a:off x="6821686" y="3275310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6" name="vasilek-pl-text-55"/>
          <p:cNvSpPr txBox="1"/>
          <p:nvPr/>
        </p:nvSpPr>
        <p:spPr>
          <a:xfrm>
            <a:off x="6913126" y="2789099"/>
            <a:ext cx="337671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Уплаченные проценты, в финансовой деятельности</a:t>
            </a:r>
            <a:endParaRPr lang="en-US" sz="1200" dirty="0"/>
          </a:p>
        </p:txBody>
      </p:sp>
      <p:sp>
        <p:nvSpPr>
          <p:cNvPr id="57" name="vasilek-pl-line-56"/>
          <p:cNvSpPr/>
          <p:nvPr/>
        </p:nvSpPr>
        <p:spPr>
          <a:xfrm>
            <a:off x="10282932" y="3275310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vasilek-pl-text-57"/>
          <p:cNvSpPr txBox="1"/>
          <p:nvPr/>
        </p:nvSpPr>
        <p:spPr>
          <a:xfrm>
            <a:off x="10374372" y="2789099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(5,2)</a:t>
            </a:r>
            <a:endParaRPr lang="en-US" sz="1200" dirty="0"/>
          </a:p>
        </p:txBody>
      </p:sp>
      <p:sp>
        <p:nvSpPr>
          <p:cNvPr id="59" name="vasilek-pl-line-58"/>
          <p:cNvSpPr/>
          <p:nvPr/>
        </p:nvSpPr>
        <p:spPr>
          <a:xfrm>
            <a:off x="6821686" y="3814862"/>
            <a:ext cx="346124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vasilek-pl-text-59"/>
          <p:cNvSpPr txBox="1"/>
          <p:nvPr/>
        </p:nvSpPr>
        <p:spPr>
          <a:xfrm>
            <a:off x="6913126" y="3328650"/>
            <a:ext cx="337671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Платежи по аренде, в финансовой деятельности</a:t>
            </a:r>
            <a:endParaRPr lang="en-US" sz="1200" dirty="0"/>
          </a:p>
        </p:txBody>
      </p:sp>
      <p:sp>
        <p:nvSpPr>
          <p:cNvPr id="61" name="vasilek-pl-line-60"/>
          <p:cNvSpPr/>
          <p:nvPr/>
        </p:nvSpPr>
        <p:spPr>
          <a:xfrm>
            <a:off x="10282932" y="3814862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vasilek-pl-text-61"/>
          <p:cNvSpPr txBox="1"/>
          <p:nvPr/>
        </p:nvSpPr>
        <p:spPr>
          <a:xfrm>
            <a:off x="10374372" y="3328650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(1,5)</a:t>
            </a:r>
            <a:endParaRPr lang="en-US" sz="1200" dirty="0"/>
          </a:p>
        </p:txBody>
      </p:sp>
      <p:sp>
        <p:nvSpPr>
          <p:cNvPr id="63" name="vasilek-pl-text-62"/>
          <p:cNvSpPr txBox="1"/>
          <p:nvPr/>
        </p:nvSpPr>
        <p:spPr>
          <a:xfrm>
            <a:off x="6818511" y="3919637"/>
            <a:ext cx="469751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 показывает уплаченные проценты в финансовой деятельности, а не в операционной.</a:t>
            </a:r>
            <a:endParaRPr lang="en-US" sz="1200" dirty="0"/>
          </a:p>
        </p:txBody>
      </p:sp>
      <p:sp>
        <p:nvSpPr>
          <p:cNvPr id="64" name="vasilek-pl-text-6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balan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БАЛАНС МСФО И РСБУ МАТЕРИНСКОЙ · МЛРД ₽</a:t>
            </a:r>
            <a:endParaRPr lang="en-US" sz="1200" dirty="0"/>
          </a:p>
        </p:txBody>
      </p:sp>
      <p:sp>
        <p:nvSpPr>
          <p:cNvPr id="3" name="vasilek-balan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Василёк: долг и база дивидендов</a:t>
            </a:r>
            <a:endParaRPr lang="en-US" sz="2800" dirty="0"/>
          </a:p>
        </p:txBody>
      </p:sp>
      <p:sp>
        <p:nvSpPr>
          <p:cNvPr id="4" name="vasilek-balance-text-3"/>
          <p:cNvSpPr txBox="1"/>
          <p:nvPr/>
        </p:nvSpPr>
        <p:spPr>
          <a:xfrm>
            <a:off x="812800" y="1765201"/>
            <a:ext cx="587193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МСФО: ФИНАНСОВОЕ ПОЛОЖЕНИЕ</a:t>
            </a:r>
            <a:endParaRPr lang="en-US" sz="1200" dirty="0"/>
          </a:p>
        </p:txBody>
      </p:sp>
      <p:sp>
        <p:nvSpPr>
          <p:cNvPr id="5" name="vasilek-balance-box-4"/>
          <p:cNvSpPr/>
          <p:nvPr/>
        </p:nvSpPr>
        <p:spPr>
          <a:xfrm>
            <a:off x="812800" y="2080121"/>
            <a:ext cx="5700911" cy="1850827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balance-line-5"/>
          <p:cNvSpPr/>
          <p:nvPr/>
        </p:nvSpPr>
        <p:spPr>
          <a:xfrm>
            <a:off x="815975" y="2409527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7" name="vasilek-balance-text-6"/>
          <p:cNvSpPr txBox="1"/>
          <p:nvPr/>
        </p:nvSpPr>
        <p:spPr>
          <a:xfrm>
            <a:off x="907415" y="2136636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8" name="vasilek-balance-line-7"/>
          <p:cNvSpPr/>
          <p:nvPr/>
        </p:nvSpPr>
        <p:spPr>
          <a:xfrm>
            <a:off x="4004965" y="2409527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balance-text-8"/>
          <p:cNvSpPr txBox="1"/>
          <p:nvPr/>
        </p:nvSpPr>
        <p:spPr>
          <a:xfrm>
            <a:off x="4064309" y="2136636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Конец года</a:t>
            </a:r>
            <a:endParaRPr lang="en-US" sz="1200" dirty="0"/>
          </a:p>
        </p:txBody>
      </p:sp>
      <p:sp>
        <p:nvSpPr>
          <p:cNvPr id="10" name="vasilek-balance-line-9"/>
          <p:cNvSpPr/>
          <p:nvPr/>
        </p:nvSpPr>
        <p:spPr>
          <a:xfrm>
            <a:off x="5257701" y="2409527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1" name="vasilek-balance-text-10"/>
          <p:cNvSpPr txBox="1"/>
          <p:nvPr/>
        </p:nvSpPr>
        <p:spPr>
          <a:xfrm>
            <a:off x="5317042" y="2136636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года</a:t>
            </a:r>
            <a:endParaRPr lang="en-US" sz="1200" dirty="0"/>
          </a:p>
        </p:txBody>
      </p:sp>
      <p:sp>
        <p:nvSpPr>
          <p:cNvPr id="12" name="vasilek-balance-line-11"/>
          <p:cNvSpPr/>
          <p:nvPr/>
        </p:nvSpPr>
        <p:spPr>
          <a:xfrm>
            <a:off x="815975" y="2735759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balance-text-12"/>
          <p:cNvSpPr txBox="1"/>
          <p:nvPr/>
        </p:nvSpPr>
        <p:spPr>
          <a:xfrm>
            <a:off x="907415" y="2462867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Денежные средства</a:t>
            </a:r>
            <a:endParaRPr lang="en-US" sz="1200" dirty="0"/>
          </a:p>
        </p:txBody>
      </p:sp>
      <p:sp>
        <p:nvSpPr>
          <p:cNvPr id="14" name="vasilek-balance-line-13"/>
          <p:cNvSpPr/>
          <p:nvPr/>
        </p:nvSpPr>
        <p:spPr>
          <a:xfrm>
            <a:off x="4004965" y="2735759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balance-text-14"/>
          <p:cNvSpPr txBox="1"/>
          <p:nvPr/>
        </p:nvSpPr>
        <p:spPr>
          <a:xfrm>
            <a:off x="4096405" y="2462867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</a:t>
            </a:r>
            <a:endParaRPr lang="en-US" sz="1200" dirty="0"/>
          </a:p>
        </p:txBody>
      </p:sp>
      <p:sp>
        <p:nvSpPr>
          <p:cNvPr id="16" name="vasilek-balance-line-15"/>
          <p:cNvSpPr/>
          <p:nvPr/>
        </p:nvSpPr>
        <p:spPr>
          <a:xfrm>
            <a:off x="5257701" y="2735759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7" name="vasilek-balance-text-16"/>
          <p:cNvSpPr txBox="1"/>
          <p:nvPr/>
        </p:nvSpPr>
        <p:spPr>
          <a:xfrm>
            <a:off x="5349141" y="2462867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</a:t>
            </a:r>
            <a:endParaRPr lang="en-US" sz="1200" dirty="0"/>
          </a:p>
        </p:txBody>
      </p:sp>
      <p:sp>
        <p:nvSpPr>
          <p:cNvPr id="18" name="vasilek-balance-line-17"/>
          <p:cNvSpPr/>
          <p:nvPr/>
        </p:nvSpPr>
        <p:spPr>
          <a:xfrm>
            <a:off x="815975" y="3061990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9" name="vasilek-balance-text-18"/>
          <p:cNvSpPr txBox="1"/>
          <p:nvPr/>
        </p:nvSpPr>
        <p:spPr>
          <a:xfrm>
            <a:off x="907415" y="2789099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Дебиторская задолженность</a:t>
            </a:r>
            <a:endParaRPr lang="en-US" sz="1200" dirty="0"/>
          </a:p>
        </p:txBody>
      </p:sp>
      <p:sp>
        <p:nvSpPr>
          <p:cNvPr id="20" name="vasilek-balance-line-19"/>
          <p:cNvSpPr/>
          <p:nvPr/>
        </p:nvSpPr>
        <p:spPr>
          <a:xfrm>
            <a:off x="4004965" y="3061990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1" name="vasilek-balance-text-20"/>
          <p:cNvSpPr txBox="1"/>
          <p:nvPr/>
        </p:nvSpPr>
        <p:spPr>
          <a:xfrm>
            <a:off x="4096405" y="2789099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</a:t>
            </a:r>
            <a:endParaRPr lang="en-US" sz="1200" dirty="0"/>
          </a:p>
        </p:txBody>
      </p:sp>
      <p:sp>
        <p:nvSpPr>
          <p:cNvPr id="22" name="vasilek-balance-line-21"/>
          <p:cNvSpPr/>
          <p:nvPr/>
        </p:nvSpPr>
        <p:spPr>
          <a:xfrm>
            <a:off x="5257701" y="3061990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3" name="vasilek-balance-text-22"/>
          <p:cNvSpPr txBox="1"/>
          <p:nvPr/>
        </p:nvSpPr>
        <p:spPr>
          <a:xfrm>
            <a:off x="5349141" y="2789099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</a:t>
            </a:r>
            <a:endParaRPr lang="en-US" sz="1200" dirty="0"/>
          </a:p>
        </p:txBody>
      </p:sp>
      <p:sp>
        <p:nvSpPr>
          <p:cNvPr id="24" name="vasilek-balance-line-23"/>
          <p:cNvSpPr/>
          <p:nvPr/>
        </p:nvSpPr>
        <p:spPr>
          <a:xfrm>
            <a:off x="815975" y="3601541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5" name="vasilek-balance-text-24"/>
          <p:cNvSpPr txBox="1"/>
          <p:nvPr/>
        </p:nvSpPr>
        <p:spPr>
          <a:xfrm>
            <a:off x="907415" y="3115330"/>
            <a:ext cx="3096293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и займы, 60% по плавающей ставке</a:t>
            </a:r>
            <a:endParaRPr lang="en-US" sz="1200" dirty="0"/>
          </a:p>
        </p:txBody>
      </p:sp>
      <p:sp>
        <p:nvSpPr>
          <p:cNvPr id="26" name="vasilek-balance-line-25"/>
          <p:cNvSpPr/>
          <p:nvPr/>
        </p:nvSpPr>
        <p:spPr>
          <a:xfrm>
            <a:off x="4004965" y="3601541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7" name="vasilek-balance-text-26"/>
          <p:cNvSpPr txBox="1"/>
          <p:nvPr/>
        </p:nvSpPr>
        <p:spPr>
          <a:xfrm>
            <a:off x="4096405" y="3115330"/>
            <a:ext cx="1101952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</a:t>
            </a:r>
            <a:endParaRPr lang="en-US" sz="1200" dirty="0"/>
          </a:p>
        </p:txBody>
      </p:sp>
      <p:sp>
        <p:nvSpPr>
          <p:cNvPr id="28" name="vasilek-balance-line-27"/>
          <p:cNvSpPr/>
          <p:nvPr/>
        </p:nvSpPr>
        <p:spPr>
          <a:xfrm>
            <a:off x="5257701" y="3601541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9" name="vasilek-balance-text-28"/>
          <p:cNvSpPr txBox="1"/>
          <p:nvPr/>
        </p:nvSpPr>
        <p:spPr>
          <a:xfrm>
            <a:off x="5349141" y="3115330"/>
            <a:ext cx="110205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</a:t>
            </a:r>
            <a:endParaRPr lang="en-US" sz="1200" dirty="0"/>
          </a:p>
        </p:txBody>
      </p:sp>
      <p:sp>
        <p:nvSpPr>
          <p:cNvPr id="30" name="vasilek-balance-line-29"/>
          <p:cNvSpPr/>
          <p:nvPr/>
        </p:nvSpPr>
        <p:spPr>
          <a:xfrm>
            <a:off x="815975" y="3927773"/>
            <a:ext cx="3188990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1" name="vasilek-balance-text-30"/>
          <p:cNvSpPr txBox="1"/>
          <p:nvPr/>
        </p:nvSpPr>
        <p:spPr>
          <a:xfrm>
            <a:off x="907415" y="3654881"/>
            <a:ext cx="3096293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Обязательства по аренде</a:t>
            </a:r>
            <a:endParaRPr lang="en-US" sz="1200" dirty="0"/>
          </a:p>
        </p:txBody>
      </p:sp>
      <p:sp>
        <p:nvSpPr>
          <p:cNvPr id="32" name="vasilek-balance-line-31"/>
          <p:cNvSpPr/>
          <p:nvPr/>
        </p:nvSpPr>
        <p:spPr>
          <a:xfrm>
            <a:off x="4004965" y="3927773"/>
            <a:ext cx="1252736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3" name="vasilek-balance-text-32"/>
          <p:cNvSpPr txBox="1"/>
          <p:nvPr/>
        </p:nvSpPr>
        <p:spPr>
          <a:xfrm>
            <a:off x="4096405" y="3654881"/>
            <a:ext cx="1101952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</a:t>
            </a:r>
            <a:endParaRPr lang="en-US" sz="1200" dirty="0"/>
          </a:p>
        </p:txBody>
      </p:sp>
      <p:sp>
        <p:nvSpPr>
          <p:cNvPr id="34" name="vasilek-balance-line-33"/>
          <p:cNvSpPr/>
          <p:nvPr/>
        </p:nvSpPr>
        <p:spPr>
          <a:xfrm>
            <a:off x="5257701" y="3927773"/>
            <a:ext cx="125283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5" name="vasilek-balance-text-34"/>
          <p:cNvSpPr txBox="1"/>
          <p:nvPr/>
        </p:nvSpPr>
        <p:spPr>
          <a:xfrm>
            <a:off x="5349141" y="3654881"/>
            <a:ext cx="110205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</a:t>
            </a:r>
            <a:endParaRPr lang="en-US" sz="1200" dirty="0"/>
          </a:p>
        </p:txBody>
      </p:sp>
      <p:sp>
        <p:nvSpPr>
          <p:cNvPr id="36" name="vasilek-balance-text-35"/>
          <p:cNvSpPr txBox="1"/>
          <p:nvPr/>
        </p:nvSpPr>
        <p:spPr>
          <a:xfrm>
            <a:off x="6818511" y="1765201"/>
            <a:ext cx="469751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РСБУ МАТЕРИНСКОЙ КОМПАНИИ</a:t>
            </a:r>
            <a:endParaRPr lang="en-US" sz="1200" dirty="0"/>
          </a:p>
        </p:txBody>
      </p:sp>
      <p:sp>
        <p:nvSpPr>
          <p:cNvPr id="37" name="vasilek-balance-box-36"/>
          <p:cNvSpPr/>
          <p:nvPr/>
        </p:nvSpPr>
        <p:spPr>
          <a:xfrm>
            <a:off x="6818511" y="2080121"/>
            <a:ext cx="4560689" cy="1737916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38" name="vasilek-balance-line-37"/>
          <p:cNvSpPr/>
          <p:nvPr/>
        </p:nvSpPr>
        <p:spPr>
          <a:xfrm>
            <a:off x="6821686" y="2409527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39" name="vasilek-balance-text-38"/>
          <p:cNvSpPr txBox="1"/>
          <p:nvPr/>
        </p:nvSpPr>
        <p:spPr>
          <a:xfrm>
            <a:off x="6913126" y="2136636"/>
            <a:ext cx="243856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200" dirty="0"/>
          </a:p>
        </p:txBody>
      </p:sp>
      <p:sp>
        <p:nvSpPr>
          <p:cNvPr id="40" name="vasilek-balance-line-39"/>
          <p:cNvSpPr/>
          <p:nvPr/>
        </p:nvSpPr>
        <p:spPr>
          <a:xfrm>
            <a:off x="9372104" y="2409527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1" name="vasilek-balance-text-40"/>
          <p:cNvSpPr txBox="1"/>
          <p:nvPr/>
        </p:nvSpPr>
        <p:spPr>
          <a:xfrm>
            <a:off x="9463544" y="2136636"/>
            <a:ext cx="74978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200" dirty="0"/>
          </a:p>
        </p:txBody>
      </p:sp>
      <p:sp>
        <p:nvSpPr>
          <p:cNvPr id="42" name="vasilek-balance-line-41"/>
          <p:cNvSpPr/>
          <p:nvPr/>
        </p:nvSpPr>
        <p:spPr>
          <a:xfrm>
            <a:off x="10282932" y="2409527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3" name="vasilek-balance-text-42"/>
          <p:cNvSpPr txBox="1"/>
          <p:nvPr/>
        </p:nvSpPr>
        <p:spPr>
          <a:xfrm>
            <a:off x="10347066" y="2136636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</a:t>
            </a:r>
            <a:endParaRPr lang="en-US" sz="1200" dirty="0"/>
          </a:p>
        </p:txBody>
      </p:sp>
      <p:sp>
        <p:nvSpPr>
          <p:cNvPr id="44" name="vasilek-balance-line-43"/>
          <p:cNvSpPr/>
          <p:nvPr/>
        </p:nvSpPr>
        <p:spPr>
          <a:xfrm>
            <a:off x="6821686" y="2949079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5" name="vasilek-balance-text-44"/>
          <p:cNvSpPr txBox="1"/>
          <p:nvPr/>
        </p:nvSpPr>
        <p:spPr>
          <a:xfrm>
            <a:off x="6913126" y="2462867"/>
            <a:ext cx="243856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Доходы от участия в других организациях</a:t>
            </a:r>
            <a:endParaRPr lang="en-US" sz="1200" dirty="0"/>
          </a:p>
        </p:txBody>
      </p:sp>
      <p:sp>
        <p:nvSpPr>
          <p:cNvPr id="46" name="vasilek-balance-line-45"/>
          <p:cNvSpPr/>
          <p:nvPr/>
        </p:nvSpPr>
        <p:spPr>
          <a:xfrm>
            <a:off x="9372104" y="2949079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7" name="vasilek-balance-text-46"/>
          <p:cNvSpPr txBox="1"/>
          <p:nvPr/>
        </p:nvSpPr>
        <p:spPr>
          <a:xfrm>
            <a:off x="9463544" y="2462867"/>
            <a:ext cx="74978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2310</a:t>
            </a:r>
            <a:endParaRPr lang="en-US" sz="1200" dirty="0"/>
          </a:p>
        </p:txBody>
      </p:sp>
      <p:sp>
        <p:nvSpPr>
          <p:cNvPr id="48" name="vasilek-balance-line-47"/>
          <p:cNvSpPr/>
          <p:nvPr/>
        </p:nvSpPr>
        <p:spPr>
          <a:xfrm>
            <a:off x="10282932" y="2949079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49" name="vasilek-balance-text-48"/>
          <p:cNvSpPr txBox="1"/>
          <p:nvPr/>
        </p:nvSpPr>
        <p:spPr>
          <a:xfrm>
            <a:off x="10374372" y="2462867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</a:t>
            </a:r>
            <a:endParaRPr lang="en-US" sz="1200" dirty="0"/>
          </a:p>
        </p:txBody>
      </p:sp>
      <p:sp>
        <p:nvSpPr>
          <p:cNvPr id="50" name="vasilek-balance-line-49"/>
          <p:cNvSpPr/>
          <p:nvPr/>
        </p:nvSpPr>
        <p:spPr>
          <a:xfrm>
            <a:off x="6821686" y="3275310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1" name="vasilek-balance-text-50"/>
          <p:cNvSpPr txBox="1"/>
          <p:nvPr/>
        </p:nvSpPr>
        <p:spPr>
          <a:xfrm>
            <a:off x="6913126" y="3002419"/>
            <a:ext cx="2438564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</a:t>
            </a:r>
            <a:endParaRPr lang="en-US" sz="1200" dirty="0"/>
          </a:p>
        </p:txBody>
      </p:sp>
      <p:sp>
        <p:nvSpPr>
          <p:cNvPr id="52" name="vasilek-balance-line-51"/>
          <p:cNvSpPr/>
          <p:nvPr/>
        </p:nvSpPr>
        <p:spPr>
          <a:xfrm>
            <a:off x="9372104" y="3275310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3" name="vasilek-balance-text-52"/>
          <p:cNvSpPr txBox="1"/>
          <p:nvPr/>
        </p:nvSpPr>
        <p:spPr>
          <a:xfrm>
            <a:off x="9463544" y="3002419"/>
            <a:ext cx="749787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1200" dirty="0"/>
          </a:p>
        </p:txBody>
      </p:sp>
      <p:sp>
        <p:nvSpPr>
          <p:cNvPr id="54" name="vasilek-balance-line-53"/>
          <p:cNvSpPr/>
          <p:nvPr/>
        </p:nvSpPr>
        <p:spPr>
          <a:xfrm>
            <a:off x="10282932" y="3275310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5" name="vasilek-balance-text-54"/>
          <p:cNvSpPr txBox="1"/>
          <p:nvPr/>
        </p:nvSpPr>
        <p:spPr>
          <a:xfrm>
            <a:off x="10374372" y="3002419"/>
            <a:ext cx="937519" cy="21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</a:t>
            </a:r>
            <a:endParaRPr lang="en-US" sz="1200" dirty="0"/>
          </a:p>
        </p:txBody>
      </p:sp>
      <p:sp>
        <p:nvSpPr>
          <p:cNvPr id="56" name="vasilek-balance-box-55"/>
          <p:cNvSpPr/>
          <p:nvPr/>
        </p:nvSpPr>
        <p:spPr>
          <a:xfrm>
            <a:off x="6821686" y="3275310"/>
            <a:ext cx="4554339" cy="539552"/>
          </a:xfrm>
          <a:prstGeom prst="rect">
            <a:avLst/>
          </a:prstGeom>
          <a:solidFill>
            <a:srgbClr val="E0E5F5"/>
          </a:solidFill>
          <a:ln/>
        </p:spPr>
      </p:sp>
      <p:sp>
        <p:nvSpPr>
          <p:cNvPr id="57" name="vasilek-balance-line-56"/>
          <p:cNvSpPr/>
          <p:nvPr/>
        </p:nvSpPr>
        <p:spPr>
          <a:xfrm>
            <a:off x="6821686" y="3814862"/>
            <a:ext cx="255041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58" name="vasilek-balance-text-57"/>
          <p:cNvSpPr txBox="1"/>
          <p:nvPr/>
        </p:nvSpPr>
        <p:spPr>
          <a:xfrm>
            <a:off x="6913126" y="3328650"/>
            <a:ext cx="2438564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Нераспределённая прибыль на конец года</a:t>
            </a:r>
            <a:endParaRPr lang="en-US" sz="1200" dirty="0"/>
          </a:p>
        </p:txBody>
      </p:sp>
      <p:sp>
        <p:nvSpPr>
          <p:cNvPr id="59" name="vasilek-balance-line-58"/>
          <p:cNvSpPr/>
          <p:nvPr/>
        </p:nvSpPr>
        <p:spPr>
          <a:xfrm>
            <a:off x="9372104" y="3814862"/>
            <a:ext cx="910828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0" name="vasilek-balance-text-59"/>
          <p:cNvSpPr txBox="1"/>
          <p:nvPr/>
        </p:nvSpPr>
        <p:spPr>
          <a:xfrm>
            <a:off x="9463544" y="3328650"/>
            <a:ext cx="749787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1370</a:t>
            </a:r>
            <a:endParaRPr lang="en-US" sz="1200" dirty="0"/>
          </a:p>
        </p:txBody>
      </p:sp>
      <p:sp>
        <p:nvSpPr>
          <p:cNvPr id="61" name="vasilek-balance-line-60"/>
          <p:cNvSpPr/>
          <p:nvPr/>
        </p:nvSpPr>
        <p:spPr>
          <a:xfrm>
            <a:off x="10282932" y="3814862"/>
            <a:ext cx="1093093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2" name="vasilek-balance-text-61"/>
          <p:cNvSpPr txBox="1"/>
          <p:nvPr/>
        </p:nvSpPr>
        <p:spPr>
          <a:xfrm>
            <a:off x="10374372" y="3328650"/>
            <a:ext cx="937519" cy="432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1200" dirty="0"/>
          </a:p>
        </p:txBody>
      </p:sp>
      <p:sp>
        <p:nvSpPr>
          <p:cNvPr id="63" name="vasilek-balance-text-62"/>
          <p:cNvSpPr txBox="1"/>
          <p:nvPr/>
        </p:nvSpPr>
        <p:spPr>
          <a:xfrm>
            <a:off x="6818511" y="3919637"/>
            <a:ext cx="469751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Чистые активы выше уставного капитала и резервного фонда: ограничение ст. 43 не срабатывает.</a:t>
            </a:r>
            <a:endParaRPr lang="en-US" sz="1200" dirty="0"/>
          </a:p>
        </p:txBody>
      </p:sp>
      <p:sp>
        <p:nvSpPr>
          <p:cNvPr id="64" name="vasilek-balance-text-63"/>
          <p:cNvSpPr txBox="1"/>
          <p:nvPr/>
        </p:nvSpPr>
        <p:spPr>
          <a:xfrm>
            <a:off x="812800" y="4600277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Напоминание: цена 90 ₽ · 1 000 млн акций · дивполитика от 50% скорр. прибыли МСФО · ОФЗ 14%</a:t>
            </a:r>
            <a:endParaRPr lang="en-US" sz="1200" dirty="0"/>
          </a:p>
        </p:txBody>
      </p:sp>
      <p:sp>
        <p:nvSpPr>
          <p:cNvPr id="65" name="vasilek-balance-text-6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rofi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ОТВЕТЫ 1 И 2</a:t>
            </a:r>
            <a:endParaRPr lang="en-US" sz="1200" dirty="0"/>
          </a:p>
        </p:txBody>
      </p:sp>
      <p:sp>
        <p:nvSpPr>
          <p:cNvPr id="3" name="vasilek-profi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Прибыль, FCF и долг</a:t>
            </a:r>
            <a:endParaRPr lang="en-US" sz="2800" dirty="0"/>
          </a:p>
        </p:txBody>
      </p:sp>
      <p:sp>
        <p:nvSpPr>
          <p:cNvPr id="4" name="vasilek-profit-box-3"/>
          <p:cNvSpPr/>
          <p:nvPr/>
        </p:nvSpPr>
        <p:spPr>
          <a:xfrm>
            <a:off x="812800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vasilek-profit-text-4"/>
          <p:cNvSpPr txBox="1"/>
          <p:nvPr/>
        </p:nvSpPr>
        <p:spPr>
          <a:xfrm>
            <a:off x="1073150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ПОТОК / ПРИБЫЛЬ</a:t>
            </a:r>
            <a:endParaRPr lang="en-US" sz="1200" dirty="0"/>
          </a:p>
        </p:txBody>
      </p:sp>
      <p:sp>
        <p:nvSpPr>
          <p:cNvPr id="6" name="vasilek-profit-text-5"/>
          <p:cNvSpPr txBox="1"/>
          <p:nvPr/>
        </p:nvSpPr>
        <p:spPr>
          <a:xfrm>
            <a:off x="1073150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endParaRPr lang="en-US" sz="6400" dirty="0"/>
          </a:p>
        </p:txBody>
      </p:sp>
      <p:sp>
        <p:nvSpPr>
          <p:cNvPr id="7" name="vasilek-profit-text-6"/>
          <p:cNvSpPr txBox="1"/>
          <p:nvPr/>
        </p:nvSpPr>
        <p:spPr>
          <a:xfrm>
            <a:off x="1073150" y="3204071"/>
            <a:ext cx="29519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поток после процентов 13,7 против прибыли 9,75. Прибыль деньгами подтверждается.</a:t>
            </a:r>
            <a:endParaRPr lang="en-US" sz="1200" dirty="0"/>
          </a:p>
        </p:txBody>
      </p:sp>
      <p:sp>
        <p:nvSpPr>
          <p:cNvPr id="8" name="vasilek-profit-box-7"/>
          <p:cNvSpPr/>
          <p:nvPr/>
        </p:nvSpPr>
        <p:spPr>
          <a:xfrm>
            <a:off x="4402634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vasilek-profit-text-8"/>
          <p:cNvSpPr txBox="1"/>
          <p:nvPr/>
        </p:nvSpPr>
        <p:spPr>
          <a:xfrm>
            <a:off x="4662984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FCF, МЛРД ₽</a:t>
            </a:r>
            <a:endParaRPr lang="en-US" sz="1200" dirty="0"/>
          </a:p>
        </p:txBody>
      </p:sp>
      <p:sp>
        <p:nvSpPr>
          <p:cNvPr id="10" name="vasilek-profit-text-9"/>
          <p:cNvSpPr txBox="1"/>
          <p:nvPr/>
        </p:nvSpPr>
        <p:spPr>
          <a:xfrm>
            <a:off x="4662984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</a:t>
            </a:r>
            <a:endParaRPr lang="en-US" sz="6400" dirty="0"/>
          </a:p>
        </p:txBody>
      </p:sp>
      <p:sp>
        <p:nvSpPr>
          <p:cNvPr id="11" name="vasilek-profit-text-10"/>
          <p:cNvSpPr txBox="1"/>
          <p:nvPr/>
        </p:nvSpPr>
        <p:spPr>
          <a:xfrm>
            <a:off x="4662984" y="3204071"/>
            <a:ext cx="295191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13,7 − капекс 9,0 − аренда 1,5. Это всё, что можно раздать без нового долга.</a:t>
            </a:r>
            <a:endParaRPr lang="en-US" sz="1200" dirty="0"/>
          </a:p>
        </p:txBody>
      </p:sp>
      <p:sp>
        <p:nvSpPr>
          <p:cNvPr id="12" name="vasilek-profit-box-11"/>
          <p:cNvSpPr/>
          <p:nvPr/>
        </p:nvSpPr>
        <p:spPr>
          <a:xfrm>
            <a:off x="7992467" y="1765201"/>
            <a:ext cx="3386634" cy="3396159"/>
          </a:xfrm>
          <a:prstGeom prst="roundRect">
            <a:avLst>
              <a:gd name="adj" fmla="val 810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3" name="vasilek-profit-text-12"/>
          <p:cNvSpPr txBox="1"/>
          <p:nvPr/>
        </p:nvSpPr>
        <p:spPr>
          <a:xfrm>
            <a:off x="8252817" y="2025551"/>
            <a:ext cx="295191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ЧИСТЫЙ ДОЛГ / EBITDA</a:t>
            </a:r>
            <a:endParaRPr lang="en-US" sz="1200" dirty="0"/>
          </a:p>
        </p:txBody>
      </p:sp>
      <p:sp>
        <p:nvSpPr>
          <p:cNvPr id="14" name="vasilek-profit-text-13"/>
          <p:cNvSpPr txBox="1"/>
          <p:nvPr/>
        </p:nvSpPr>
        <p:spPr>
          <a:xfrm>
            <a:off x="8252817" y="2315071"/>
            <a:ext cx="2951912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</a:t>
            </a:r>
            <a:endParaRPr lang="en-US" sz="6400" dirty="0"/>
          </a:p>
        </p:txBody>
      </p:sp>
      <p:sp>
        <p:nvSpPr>
          <p:cNvPr id="15" name="vasilek-profit-text-14"/>
          <p:cNvSpPr txBox="1"/>
          <p:nvPr/>
        </p:nvSpPr>
        <p:spPr>
          <a:xfrm>
            <a:off x="8252817" y="3204071"/>
            <a:ext cx="295191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арендой: 44 / 24. Без аренды: 34 / 22,5 = 1,5. Ошибка — долг без аренды и EBITDA с арендой: 1,4.</a:t>
            </a:r>
            <a:endParaRPr lang="en-US" sz="1200" dirty="0"/>
          </a:p>
        </p:txBody>
      </p:sp>
      <p:sp>
        <p:nvSpPr>
          <p:cNvPr id="16" name="vasilek-profit-text-15"/>
          <p:cNvSpPr txBox="1"/>
          <p:nvPr/>
        </p:nvSpPr>
        <p:spPr>
          <a:xfrm>
            <a:off x="812800" y="5415359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Дебиторка +15% при выручке +10% — небольшой флаг. 60% долга плавающие: +1 п. п. ставки отнимает 0,24 млрд прибыли до налога. Покрытие процентов 24 / 5,0 = 4,8.</a:t>
            </a:r>
            <a:endParaRPr lang="en-US" sz="1200" dirty="0"/>
          </a:p>
        </p:txBody>
      </p:sp>
      <p:sp>
        <p:nvSpPr>
          <p:cNvPr id="17" name="vasilek-profit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dividend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3</a:t>
            </a:r>
            <a:endParaRPr lang="en-US" sz="1200" dirty="0"/>
          </a:p>
        </p:txBody>
      </p:sp>
      <p:sp>
        <p:nvSpPr>
          <p:cNvPr id="3" name="vasilek-dividend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дойдёт до акционера</a:t>
            </a:r>
            <a:endParaRPr lang="en-US" sz="2800" dirty="0"/>
          </a:p>
        </p:txBody>
      </p:sp>
      <p:sp>
        <p:nvSpPr>
          <p:cNvPr id="4" name="vasilek-dividend-text-3"/>
          <p:cNvSpPr txBox="1"/>
          <p:nvPr/>
        </p:nvSpPr>
        <p:spPr>
          <a:xfrm>
            <a:off x="812800" y="1805186"/>
            <a:ext cx="2877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Дивполитика: 50% × 9,75</a:t>
            </a:r>
            <a:endParaRPr lang="en-US" sz="1400" dirty="0"/>
          </a:p>
        </p:txBody>
      </p:sp>
      <p:sp>
        <p:nvSpPr>
          <p:cNvPr id="5" name="vasilek-dividend-box-4"/>
          <p:cNvSpPr/>
          <p:nvPr/>
        </p:nvSpPr>
        <p:spPr>
          <a:xfrm>
            <a:off x="3759200" y="1772741"/>
            <a:ext cx="6350000" cy="304800"/>
          </a:xfrm>
          <a:prstGeom prst="roundRect">
            <a:avLst>
              <a:gd name="adj" fmla="val 37500"/>
            </a:avLst>
          </a:prstGeom>
          <a:solidFill>
            <a:srgbClr val="3B4C9B"/>
          </a:solidFill>
          <a:ln/>
        </p:spPr>
      </p:sp>
      <p:sp>
        <p:nvSpPr>
          <p:cNvPr id="6" name="vasilek-dividend-text-5"/>
          <p:cNvSpPr txBox="1"/>
          <p:nvPr/>
        </p:nvSpPr>
        <p:spPr>
          <a:xfrm>
            <a:off x="10261600" y="1765201"/>
            <a:ext cx="458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4,88</a:t>
            </a:r>
            <a:endParaRPr lang="en-US" sz="1800" dirty="0"/>
          </a:p>
        </p:txBody>
      </p:sp>
      <p:sp>
        <p:nvSpPr>
          <p:cNvPr id="7" name="vasilek-dividend-text-6"/>
          <p:cNvSpPr txBox="1"/>
          <p:nvPr/>
        </p:nvSpPr>
        <p:spPr>
          <a:xfrm>
            <a:off x="812800" y="2277566"/>
            <a:ext cx="28778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поток, FCF</a:t>
            </a:r>
            <a:endParaRPr lang="en-US" sz="1400" dirty="0"/>
          </a:p>
        </p:txBody>
      </p:sp>
      <p:sp>
        <p:nvSpPr>
          <p:cNvPr id="8" name="vasilek-dividend-box-7"/>
          <p:cNvSpPr/>
          <p:nvPr/>
        </p:nvSpPr>
        <p:spPr>
          <a:xfrm>
            <a:off x="3759200" y="2245122"/>
            <a:ext cx="4165600" cy="304800"/>
          </a:xfrm>
          <a:prstGeom prst="roundRect">
            <a:avLst>
              <a:gd name="adj" fmla="val 37500"/>
            </a:avLst>
          </a:prstGeom>
          <a:solidFill>
            <a:srgbClr val="A6B3AB"/>
          </a:solidFill>
          <a:ln/>
        </p:spPr>
      </p:sp>
      <p:sp>
        <p:nvSpPr>
          <p:cNvPr id="9" name="vasilek-dividend-text-8"/>
          <p:cNvSpPr txBox="1"/>
          <p:nvPr/>
        </p:nvSpPr>
        <p:spPr>
          <a:xfrm>
            <a:off x="8077200" y="2237581"/>
            <a:ext cx="3273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</a:t>
            </a:r>
            <a:endParaRPr lang="en-US" sz="1800" dirty="0"/>
          </a:p>
        </p:txBody>
      </p:sp>
      <p:sp>
        <p:nvSpPr>
          <p:cNvPr id="10" name="vasilek-dividend-text-9"/>
          <p:cNvSpPr txBox="1"/>
          <p:nvPr/>
        </p:nvSpPr>
        <p:spPr>
          <a:xfrm>
            <a:off x="812800" y="2709962"/>
            <a:ext cx="287782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Потолок по РСБУ материнской, 1370</a:t>
            </a:r>
            <a:endParaRPr lang="en-US" sz="1400" dirty="0"/>
          </a:p>
        </p:txBody>
      </p:sp>
      <p:sp>
        <p:nvSpPr>
          <p:cNvPr id="11" name="vasilek-dividend-box-10"/>
          <p:cNvSpPr/>
          <p:nvPr/>
        </p:nvSpPr>
        <p:spPr>
          <a:xfrm>
            <a:off x="3759200" y="2797572"/>
            <a:ext cx="4559300" cy="304800"/>
          </a:xfrm>
          <a:prstGeom prst="roundRect">
            <a:avLst>
              <a:gd name="adj" fmla="val 37500"/>
            </a:avLst>
          </a:prstGeom>
          <a:solidFill>
            <a:srgbClr val="16201B"/>
          </a:solidFill>
          <a:ln/>
        </p:spPr>
      </p:sp>
      <p:sp>
        <p:nvSpPr>
          <p:cNvPr id="12" name="vasilek-dividend-text-11"/>
          <p:cNvSpPr txBox="1"/>
          <p:nvPr/>
        </p:nvSpPr>
        <p:spPr>
          <a:xfrm>
            <a:off x="8470900" y="2789932"/>
            <a:ext cx="3273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</a:t>
            </a:r>
            <a:endParaRPr lang="en-US" sz="1800" dirty="0"/>
          </a:p>
        </p:txBody>
      </p:sp>
      <p:sp>
        <p:nvSpPr>
          <p:cNvPr id="13" name="vasilek-dividend-text-12"/>
          <p:cNvSpPr txBox="1"/>
          <p:nvPr/>
        </p:nvSpPr>
        <p:spPr>
          <a:xfrm>
            <a:off x="812800" y="3342382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 ₽; при 1 000 млн акций это же число — рубли на акцию. Полосы в одном масштабе.</a:t>
            </a:r>
            <a:endParaRPr lang="en-US" sz="1200" dirty="0"/>
          </a:p>
        </p:txBody>
      </p:sp>
      <p:sp>
        <p:nvSpPr>
          <p:cNvPr id="14" name="vasilek-dividend-box-13"/>
          <p:cNvSpPr/>
          <p:nvPr/>
        </p:nvSpPr>
        <p:spPr>
          <a:xfrm>
            <a:off x="812800" y="3809702"/>
            <a:ext cx="5181600" cy="1287661"/>
          </a:xfrm>
          <a:prstGeom prst="roundRect">
            <a:avLst>
              <a:gd name="adj" fmla="val 5603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5" name="vasilek-dividend-text-14"/>
          <p:cNvSpPr txBox="1"/>
          <p:nvPr/>
        </p:nvSpPr>
        <p:spPr>
          <a:xfrm>
            <a:off x="1022350" y="4019252"/>
            <a:ext cx="490537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800" dirty="0"/>
          </a:p>
        </p:txBody>
      </p:sp>
      <p:sp>
        <p:nvSpPr>
          <p:cNvPr id="16" name="vasilek-dividend-text-15"/>
          <p:cNvSpPr txBox="1"/>
          <p:nvPr/>
        </p:nvSpPr>
        <p:spPr>
          <a:xfrm>
            <a:off x="1022350" y="4461173"/>
            <a:ext cx="490537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обещанного дивиденда покрывает FCF. Остальное пришлось бы платить в долг</a:t>
            </a:r>
            <a:endParaRPr lang="en-US" sz="1200" dirty="0"/>
          </a:p>
        </p:txBody>
      </p:sp>
      <p:sp>
        <p:nvSpPr>
          <p:cNvPr id="17" name="vasilek-dividend-box-16"/>
          <p:cNvSpPr/>
          <p:nvPr/>
        </p:nvSpPr>
        <p:spPr>
          <a:xfrm>
            <a:off x="6197600" y="3809702"/>
            <a:ext cx="5181600" cy="1287661"/>
          </a:xfrm>
          <a:prstGeom prst="roundRect">
            <a:avLst>
              <a:gd name="adj" fmla="val 5603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dividend-text-17"/>
          <p:cNvSpPr txBox="1"/>
          <p:nvPr/>
        </p:nvSpPr>
        <p:spPr>
          <a:xfrm>
            <a:off x="6407150" y="4019252"/>
            <a:ext cx="490537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3,2–3,5 ₽</a:t>
            </a:r>
            <a:endParaRPr lang="en-US" sz="2800" dirty="0"/>
          </a:p>
        </p:txBody>
      </p:sp>
      <p:sp>
        <p:nvSpPr>
          <p:cNvPr id="19" name="vasilek-dividend-text-18"/>
          <p:cNvSpPr txBox="1"/>
          <p:nvPr/>
        </p:nvSpPr>
        <p:spPr>
          <a:xfrm>
            <a:off x="6407150" y="4461173"/>
            <a:ext cx="490537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реалистичный дивиденд на акцию вместо 4,88 ₽, если «дочки» не перечислят наверх больше</a:t>
            </a:r>
            <a:endParaRPr lang="en-US" sz="1200" dirty="0"/>
          </a:p>
        </p:txBody>
      </p:sp>
      <p:sp>
        <p:nvSpPr>
          <p:cNvPr id="20" name="vasilek-dividend-text-1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pric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4</a:t>
            </a:r>
            <a:endParaRPr lang="en-US" sz="1200" dirty="0"/>
          </a:p>
        </p:txBody>
      </p:sp>
      <p:sp>
        <p:nvSpPr>
          <p:cNvPr id="3" name="vasilek-pric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я плачу</a:t>
            </a:r>
            <a:endParaRPr lang="en-US" sz="2800" dirty="0"/>
          </a:p>
        </p:txBody>
      </p:sp>
      <p:sp>
        <p:nvSpPr>
          <p:cNvPr id="4" name="vasilek-price-text-3"/>
          <p:cNvSpPr txBox="1"/>
          <p:nvPr/>
        </p:nvSpPr>
        <p:spPr>
          <a:xfrm>
            <a:off x="812800" y="1765201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Капитализация: 90 ₽ × 1 000 млн акций = 90 млрд ₽. EV = 90 + 44 = 134 млрд ₽.</a:t>
            </a:r>
            <a:endParaRPr lang="en-US" sz="1400" dirty="0"/>
          </a:p>
        </p:txBody>
      </p:sp>
      <p:sp>
        <p:nvSpPr>
          <p:cNvPr id="5" name="vasilek-price-box-4"/>
          <p:cNvSpPr/>
          <p:nvPr/>
        </p:nvSpPr>
        <p:spPr>
          <a:xfrm>
            <a:off x="812800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price-text-5"/>
          <p:cNvSpPr txBox="1"/>
          <p:nvPr/>
        </p:nvSpPr>
        <p:spPr>
          <a:xfrm>
            <a:off x="971550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P/E</a:t>
            </a:r>
            <a:endParaRPr lang="en-US" sz="1200" dirty="0"/>
          </a:p>
        </p:txBody>
      </p:sp>
      <p:sp>
        <p:nvSpPr>
          <p:cNvPr id="7" name="vasilek-price-text-6"/>
          <p:cNvSpPr txBox="1"/>
          <p:nvPr/>
        </p:nvSpPr>
        <p:spPr>
          <a:xfrm>
            <a:off x="971550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</a:t>
            </a:r>
            <a:endParaRPr lang="en-US" sz="2800" dirty="0"/>
          </a:p>
        </p:txBody>
      </p:sp>
      <p:sp>
        <p:nvSpPr>
          <p:cNvPr id="8" name="vasilek-price-text-7"/>
          <p:cNvSpPr txBox="1"/>
          <p:nvPr/>
        </p:nvSpPr>
        <p:spPr>
          <a:xfrm>
            <a:off x="971550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скорр. прибыли; по отчётной 10,9</a:t>
            </a:r>
            <a:endParaRPr lang="en-US" sz="1200" dirty="0"/>
          </a:p>
        </p:txBody>
      </p:sp>
      <p:sp>
        <p:nvSpPr>
          <p:cNvPr id="9" name="vasilek-price-box-8"/>
          <p:cNvSpPr/>
          <p:nvPr/>
        </p:nvSpPr>
        <p:spPr>
          <a:xfrm>
            <a:off x="2956520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vasilek-price-text-9"/>
          <p:cNvSpPr txBox="1"/>
          <p:nvPr/>
        </p:nvSpPr>
        <p:spPr>
          <a:xfrm>
            <a:off x="3115270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E/P</a:t>
            </a:r>
            <a:endParaRPr lang="en-US" sz="1200" dirty="0"/>
          </a:p>
        </p:txBody>
      </p:sp>
      <p:sp>
        <p:nvSpPr>
          <p:cNvPr id="11" name="vasilek-price-text-10"/>
          <p:cNvSpPr txBox="1"/>
          <p:nvPr/>
        </p:nvSpPr>
        <p:spPr>
          <a:xfrm>
            <a:off x="3115270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10,8%</a:t>
            </a:r>
            <a:endParaRPr lang="en-US" sz="2800" dirty="0"/>
          </a:p>
        </p:txBody>
      </p:sp>
      <p:sp>
        <p:nvSpPr>
          <p:cNvPr id="12" name="vasilek-price-text-11"/>
          <p:cNvSpPr txBox="1"/>
          <p:nvPr/>
        </p:nvSpPr>
        <p:spPr>
          <a:xfrm>
            <a:off x="3115270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ОФЗ 14%: вы платите за рост</a:t>
            </a:r>
            <a:endParaRPr lang="en-US" sz="1200" dirty="0"/>
          </a:p>
        </p:txBody>
      </p:sp>
      <p:sp>
        <p:nvSpPr>
          <p:cNvPr id="13" name="vasilek-price-box-12"/>
          <p:cNvSpPr/>
          <p:nvPr/>
        </p:nvSpPr>
        <p:spPr>
          <a:xfrm>
            <a:off x="510024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vasilek-price-text-13"/>
          <p:cNvSpPr txBox="1"/>
          <p:nvPr/>
        </p:nvSpPr>
        <p:spPr>
          <a:xfrm>
            <a:off x="525899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15" name="vasilek-price-text-14"/>
          <p:cNvSpPr txBox="1"/>
          <p:nvPr/>
        </p:nvSpPr>
        <p:spPr>
          <a:xfrm>
            <a:off x="525899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</a:t>
            </a:r>
            <a:endParaRPr lang="en-US" sz="2800" dirty="0"/>
          </a:p>
        </p:txBody>
      </p:sp>
      <p:sp>
        <p:nvSpPr>
          <p:cNvPr id="16" name="vasilek-price-text-15"/>
          <p:cNvSpPr txBox="1"/>
          <p:nvPr/>
        </p:nvSpPr>
        <p:spPr>
          <a:xfrm>
            <a:off x="5258991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/ 24, сравнивать с аналогами</a:t>
            </a:r>
            <a:endParaRPr lang="en-US" sz="1200" dirty="0"/>
          </a:p>
        </p:txBody>
      </p:sp>
      <p:sp>
        <p:nvSpPr>
          <p:cNvPr id="17" name="vasilek-price-box-16"/>
          <p:cNvSpPr/>
          <p:nvPr/>
        </p:nvSpPr>
        <p:spPr>
          <a:xfrm>
            <a:off x="724396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price-text-17"/>
          <p:cNvSpPr txBox="1"/>
          <p:nvPr/>
        </p:nvSpPr>
        <p:spPr>
          <a:xfrm>
            <a:off x="740271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 YIELD</a:t>
            </a:r>
            <a:endParaRPr lang="en-US" sz="1200" dirty="0"/>
          </a:p>
        </p:txBody>
      </p:sp>
      <p:sp>
        <p:nvSpPr>
          <p:cNvPr id="19" name="vasilek-price-text-18"/>
          <p:cNvSpPr txBox="1"/>
          <p:nvPr/>
        </p:nvSpPr>
        <p:spPr>
          <a:xfrm>
            <a:off x="740271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A633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3,6%</a:t>
            </a:r>
            <a:endParaRPr lang="en-US" sz="2800" dirty="0"/>
          </a:p>
        </p:txBody>
      </p:sp>
      <p:sp>
        <p:nvSpPr>
          <p:cNvPr id="20" name="vasilek-price-text-19"/>
          <p:cNvSpPr txBox="1"/>
          <p:nvPr/>
        </p:nvSpPr>
        <p:spPr>
          <a:xfrm>
            <a:off x="7402711" y="3141762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 / 90</a:t>
            </a:r>
            <a:endParaRPr lang="en-US" sz="1200" dirty="0"/>
          </a:p>
        </p:txBody>
      </p:sp>
      <p:sp>
        <p:nvSpPr>
          <p:cNvPr id="21" name="vasilek-price-box-20"/>
          <p:cNvSpPr/>
          <p:nvPr/>
        </p:nvSpPr>
        <p:spPr>
          <a:xfrm>
            <a:off x="9387681" y="2276971"/>
            <a:ext cx="1991320" cy="1450181"/>
          </a:xfrm>
          <a:prstGeom prst="roundRect">
            <a:avLst>
              <a:gd name="adj" fmla="val 441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2" name="vasilek-price-text-21"/>
          <p:cNvSpPr txBox="1"/>
          <p:nvPr/>
        </p:nvSpPr>
        <p:spPr>
          <a:xfrm>
            <a:off x="9546431" y="2435721"/>
            <a:ext cx="172403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ДИВДОХОДНОСТЬ</a:t>
            </a:r>
            <a:endParaRPr lang="en-US" sz="1200" dirty="0"/>
          </a:p>
        </p:txBody>
      </p:sp>
      <p:sp>
        <p:nvSpPr>
          <p:cNvPr id="23" name="vasilek-price-text-22"/>
          <p:cNvSpPr txBox="1"/>
          <p:nvPr/>
        </p:nvSpPr>
        <p:spPr>
          <a:xfrm>
            <a:off x="9546431" y="2699841"/>
            <a:ext cx="1724035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2800" dirty="0"/>
          </a:p>
        </p:txBody>
      </p:sp>
      <p:sp>
        <p:nvSpPr>
          <p:cNvPr id="24" name="vasilek-price-text-23"/>
          <p:cNvSpPr txBox="1"/>
          <p:nvPr/>
        </p:nvSpPr>
        <p:spPr>
          <a:xfrm>
            <a:off x="9546431" y="3141762"/>
            <a:ext cx="1724035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реалистично; по политике 5,4%</a:t>
            </a:r>
            <a:endParaRPr lang="en-US" sz="1200" dirty="0"/>
          </a:p>
        </p:txBody>
      </p:sp>
      <p:sp>
        <p:nvSpPr>
          <p:cNvPr id="25" name="vasilek-price-text-24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silek-verdict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ОТВЕТ 5</a:t>
            </a:r>
            <a:endParaRPr lang="en-US" sz="1200" dirty="0"/>
          </a:p>
        </p:txBody>
      </p:sp>
      <p:sp>
        <p:nvSpPr>
          <p:cNvPr id="3" name="vasilek-verdict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Вердикт: цена, катализатор, рост</a:t>
            </a:r>
            <a:endParaRPr lang="en-US" sz="2800" dirty="0"/>
          </a:p>
        </p:txBody>
      </p:sp>
      <p:sp>
        <p:nvSpPr>
          <p:cNvPr id="4" name="vasilek-verdict-box-3"/>
          <p:cNvSpPr/>
          <p:nvPr/>
        </p:nvSpPr>
        <p:spPr>
          <a:xfrm>
            <a:off x="812800" y="1765201"/>
            <a:ext cx="10566400" cy="1524794"/>
          </a:xfrm>
          <a:prstGeom prst="rect">
            <a:avLst/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vasilek-verdict-line-4"/>
          <p:cNvSpPr/>
          <p:nvPr/>
        </p:nvSpPr>
        <p:spPr>
          <a:xfrm>
            <a:off x="815975" y="2147987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6" name="vasilek-verdict-text-5"/>
          <p:cNvSpPr txBox="1"/>
          <p:nvPr/>
        </p:nvSpPr>
        <p:spPr>
          <a:xfrm>
            <a:off x="922655" y="1830606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</a:t>
            </a:r>
            <a:endParaRPr lang="en-US" sz="1400" dirty="0"/>
          </a:p>
        </p:txBody>
      </p:sp>
      <p:sp>
        <p:nvSpPr>
          <p:cNvPr id="7" name="vasilek-verdict-line-6"/>
          <p:cNvSpPr/>
          <p:nvPr/>
        </p:nvSpPr>
        <p:spPr>
          <a:xfrm>
            <a:off x="3350320" y="2147987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8" name="vasilek-verdict-text-7"/>
          <p:cNvSpPr txBox="1"/>
          <p:nvPr/>
        </p:nvSpPr>
        <p:spPr>
          <a:xfrm>
            <a:off x="3457000" y="1830606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видим</a:t>
            </a:r>
            <a:endParaRPr lang="en-US" sz="1400" dirty="0"/>
          </a:p>
        </p:txBody>
      </p:sp>
      <p:sp>
        <p:nvSpPr>
          <p:cNvPr id="9" name="vasilek-verdict-line-8"/>
          <p:cNvSpPr/>
          <p:nvPr/>
        </p:nvSpPr>
        <p:spPr>
          <a:xfrm>
            <a:off x="815975" y="2527598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0" name="vasilek-verdict-text-9"/>
          <p:cNvSpPr txBox="1"/>
          <p:nvPr/>
        </p:nvSpPr>
        <p:spPr>
          <a:xfrm>
            <a:off x="922655" y="2210217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1400" dirty="0"/>
          </a:p>
        </p:txBody>
      </p:sp>
      <p:sp>
        <p:nvSpPr>
          <p:cNvPr id="11" name="vasilek-verdict-line-10"/>
          <p:cNvSpPr/>
          <p:nvPr/>
        </p:nvSpPr>
        <p:spPr>
          <a:xfrm>
            <a:off x="3350320" y="2527598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2" name="vasilek-verdict-text-11"/>
          <p:cNvSpPr txBox="1"/>
          <p:nvPr/>
        </p:nvSpPr>
        <p:spPr>
          <a:xfrm>
            <a:off x="3457000" y="2210217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Доходность прибыли 10,8% ниже ОФЗ, FCF yield 3,6%. Не дёшево</a:t>
            </a:r>
            <a:endParaRPr lang="en-US" sz="1400" dirty="0"/>
          </a:p>
        </p:txBody>
      </p:sp>
      <p:sp>
        <p:nvSpPr>
          <p:cNvPr id="13" name="vasilek-verdict-line-12"/>
          <p:cNvSpPr/>
          <p:nvPr/>
        </p:nvSpPr>
        <p:spPr>
          <a:xfrm>
            <a:off x="815975" y="2907209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4" name="vasilek-verdict-text-13"/>
          <p:cNvSpPr txBox="1"/>
          <p:nvPr/>
        </p:nvSpPr>
        <p:spPr>
          <a:xfrm>
            <a:off x="922655" y="2589828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Катализатор</a:t>
            </a:r>
            <a:endParaRPr lang="en-US" sz="1400" dirty="0"/>
          </a:p>
        </p:txBody>
      </p:sp>
      <p:sp>
        <p:nvSpPr>
          <p:cNvPr id="15" name="vasilek-verdict-line-14"/>
          <p:cNvSpPr/>
          <p:nvPr/>
        </p:nvSpPr>
        <p:spPr>
          <a:xfrm>
            <a:off x="3350320" y="2907209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6" name="vasilek-verdict-text-15"/>
          <p:cNvSpPr txBox="1"/>
          <p:nvPr/>
        </p:nvSpPr>
        <p:spPr>
          <a:xfrm>
            <a:off x="3457000" y="2589828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Обещанный дивиденд не покрыт ни FCF, ни прибылью материнской компании</a:t>
            </a:r>
            <a:endParaRPr lang="en-US" sz="1400" dirty="0"/>
          </a:p>
        </p:txBody>
      </p:sp>
      <p:sp>
        <p:nvSpPr>
          <p:cNvPr id="17" name="vasilek-verdict-line-16"/>
          <p:cNvSpPr/>
          <p:nvPr/>
        </p:nvSpPr>
        <p:spPr>
          <a:xfrm>
            <a:off x="815975" y="3286820"/>
            <a:ext cx="253434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18" name="vasilek-verdict-text-17"/>
          <p:cNvSpPr txBox="1"/>
          <p:nvPr/>
        </p:nvSpPr>
        <p:spPr>
          <a:xfrm>
            <a:off x="922655" y="2969439"/>
            <a:ext cx="2390614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1400" dirty="0"/>
          </a:p>
        </p:txBody>
      </p:sp>
      <p:sp>
        <p:nvSpPr>
          <p:cNvPr id="19" name="vasilek-verdict-line-18"/>
          <p:cNvSpPr/>
          <p:nvPr/>
        </p:nvSpPr>
        <p:spPr>
          <a:xfrm>
            <a:off x="3350320" y="3286820"/>
            <a:ext cx="8025705" cy="0"/>
          </a:xfrm>
          <a:prstGeom prst="line">
            <a:avLst/>
          </a:prstGeom>
          <a:noFill/>
          <a:ln w="6350">
            <a:solidFill>
              <a:srgbClr val="CDD7D0"/>
            </a:solidFill>
            <a:prstDash val="solid"/>
          </a:ln>
        </p:spPr>
      </p:sp>
      <p:sp>
        <p:nvSpPr>
          <p:cNvPr id="20" name="vasilek-verdict-text-19"/>
          <p:cNvSpPr txBox="1"/>
          <p:nvPr/>
        </p:nvSpPr>
        <p:spPr>
          <a:xfrm>
            <a:off x="3457000" y="2969439"/>
            <a:ext cx="8046716" cy="255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+10% без ускорения. Платить премию к ОФЗ за такой рост рано</a:t>
            </a:r>
            <a:endParaRPr lang="en-US" sz="1400" dirty="0"/>
          </a:p>
        </p:txBody>
      </p:sp>
      <p:sp>
        <p:nvSpPr>
          <p:cNvPr id="21" name="vasilek-verdict-text-20"/>
          <p:cNvSpPr txBox="1"/>
          <p:nvPr/>
        </p:nvSpPr>
        <p:spPr>
          <a:xfrm>
            <a:off x="812800" y="3543995"/>
            <a:ext cx="1088339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устойчивый: долг умеренный, прибыль подтверждена потоком. Но по 90 ₽ вы платите за дивиденды и рост, которых отчётность пока не подтверждает.</a:t>
            </a:r>
            <a:endParaRPr lang="en-US" sz="1400" dirty="0"/>
          </a:p>
        </p:txBody>
      </p:sp>
      <p:sp>
        <p:nvSpPr>
          <p:cNvPr id="22" name="vasilek-verdict-box-21"/>
          <p:cNvSpPr/>
          <p:nvPr/>
        </p:nvSpPr>
        <p:spPr>
          <a:xfrm>
            <a:off x="812800" y="4313535"/>
            <a:ext cx="10566400" cy="1000720"/>
          </a:xfrm>
          <a:prstGeom prst="roundRect">
            <a:avLst>
              <a:gd name="adj" fmla="val 9277"/>
            </a:avLst>
          </a:prstGeom>
          <a:solidFill>
            <a:srgbClr val="16201B"/>
          </a:solidFill>
          <a:ln/>
        </p:spPr>
      </p:sp>
      <p:sp>
        <p:nvSpPr>
          <p:cNvPr id="23" name="vasilek-verdict-text-22"/>
          <p:cNvSpPr txBox="1"/>
          <p:nvPr/>
        </p:nvSpPr>
        <p:spPr>
          <a:xfrm>
            <a:off x="1066800" y="4516735"/>
            <a:ext cx="1036015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не покупать. Вывод изменит конец капекс-цикла (капекс с 9 до 5 млрд даёт FCF 7,2) или снижение ставки: 60% долга плавающий.</a:t>
            </a:r>
            <a:endParaRPr lang="en-US" sz="1800" dirty="0"/>
          </a:p>
        </p:txBody>
      </p:sp>
      <p:sp>
        <p:nvSpPr>
          <p:cNvPr id="24" name="vasilek-verdict-text-23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46:00–53:00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B4C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Акция: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nitor-sources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 · ОТЧЁТНОСТЬ ВЫХОДИТ РАЗ В ПОЛГОДА</a:t>
            </a:r>
            <a:endParaRPr lang="en-US" sz="1200" dirty="0"/>
          </a:p>
        </p:txBody>
      </p:sp>
      <p:sp>
        <p:nvSpPr>
          <p:cNvPr id="3" name="monitor-sources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Сигналы между отчётами</a:t>
            </a:r>
            <a:endParaRPr lang="en-US" sz="2800" dirty="0"/>
          </a:p>
        </p:txBody>
      </p:sp>
      <p:sp>
        <p:nvSpPr>
          <p:cNvPr id="4" name="monitor-sources-box-3"/>
          <p:cNvSpPr/>
          <p:nvPr/>
        </p:nvSpPr>
        <p:spPr>
          <a:xfrm>
            <a:off x="8128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onitor-sources-text-4"/>
          <p:cNvSpPr txBox="1"/>
          <p:nvPr/>
        </p:nvSpPr>
        <p:spPr>
          <a:xfrm>
            <a:off x="9715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400" dirty="0"/>
          </a:p>
        </p:txBody>
      </p:sp>
      <p:sp>
        <p:nvSpPr>
          <p:cNvPr id="6" name="monitor-sources-text-5"/>
          <p:cNvSpPr txBox="1"/>
          <p:nvPr/>
        </p:nvSpPr>
        <p:spPr>
          <a:xfrm>
            <a:off x="971550" y="22134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bo.nalog.gov.ru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ГИР БО, годовая РСБУ</a:t>
            </a:r>
            <a:endParaRPr lang="en-US" sz="1200" dirty="0"/>
          </a:p>
        </p:txBody>
      </p:sp>
      <p:sp>
        <p:nvSpPr>
          <p:cNvPr id="7" name="monitor-sources-text-6"/>
          <p:cNvSpPr txBox="1"/>
          <p:nvPr/>
        </p:nvSpPr>
        <p:spPr>
          <a:xfrm>
            <a:off x="971550" y="27163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e-disclosure.ru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сущфакты, промежуточная отчётность</a:t>
            </a:r>
            <a:endParaRPr lang="en-US" sz="1200" dirty="0"/>
          </a:p>
        </p:txBody>
      </p:sp>
      <p:sp>
        <p:nvSpPr>
          <p:cNvPr id="8" name="monitor-sources-text-7"/>
          <p:cNvSpPr txBox="1"/>
          <p:nvPr/>
        </p:nvSpPr>
        <p:spPr>
          <a:xfrm>
            <a:off x="971550" y="3219152"/>
            <a:ext cx="227609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компании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МСФО, дивполитика, операционные данные</a:t>
            </a:r>
            <a:endParaRPr lang="en-US" sz="1200" dirty="0"/>
          </a:p>
        </p:txBody>
      </p:sp>
      <p:sp>
        <p:nvSpPr>
          <p:cNvPr id="9" name="monitor-sources-box-8"/>
          <p:cNvSpPr/>
          <p:nvPr/>
        </p:nvSpPr>
        <p:spPr>
          <a:xfrm>
            <a:off x="34925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0" name="monitor-sources-text-9"/>
          <p:cNvSpPr txBox="1"/>
          <p:nvPr/>
        </p:nvSpPr>
        <p:spPr>
          <a:xfrm>
            <a:off x="36512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Юрлицо и риски</a:t>
            </a:r>
            <a:endParaRPr lang="en-US" sz="1400" dirty="0"/>
          </a:p>
        </p:txBody>
      </p:sp>
      <p:sp>
        <p:nvSpPr>
          <p:cNvPr id="11" name="monitor-sources-text-10"/>
          <p:cNvSpPr txBox="1"/>
          <p:nvPr/>
        </p:nvSpPr>
        <p:spPr>
          <a:xfrm>
            <a:off x="3651250" y="221347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pb.nalog.ru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налоговые долги</a:t>
            </a:r>
            <a:endParaRPr lang="en-US" sz="1200" dirty="0"/>
          </a:p>
        </p:txBody>
      </p:sp>
      <p:sp>
        <p:nvSpPr>
          <p:cNvPr id="12" name="monitor-sources-text-11"/>
          <p:cNvSpPr txBox="1"/>
          <p:nvPr/>
        </p:nvSpPr>
        <p:spPr>
          <a:xfrm>
            <a:off x="3651250" y="250299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service.nalog.ru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блокировки счетов</a:t>
            </a:r>
            <a:endParaRPr lang="en-US" sz="1200" dirty="0"/>
          </a:p>
        </p:txBody>
      </p:sp>
      <p:sp>
        <p:nvSpPr>
          <p:cNvPr id="13" name="monitor-sources-text-12"/>
          <p:cNvSpPr txBox="1"/>
          <p:nvPr/>
        </p:nvSpPr>
        <p:spPr>
          <a:xfrm>
            <a:off x="3651250" y="300583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kad.arbitr.ru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иски и банкротство</a:t>
            </a:r>
            <a:endParaRPr lang="en-US" sz="1200" dirty="0"/>
          </a:p>
        </p:txBody>
      </p:sp>
      <p:sp>
        <p:nvSpPr>
          <p:cNvPr id="14" name="monitor-sources-text-13"/>
          <p:cNvSpPr txBox="1"/>
          <p:nvPr/>
        </p:nvSpPr>
        <p:spPr>
          <a:xfrm>
            <a:off x="3651250" y="3508673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fedresurs.ru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лизинг, сущфакты</a:t>
            </a:r>
            <a:endParaRPr lang="en-US" sz="1200" dirty="0"/>
          </a:p>
        </p:txBody>
      </p:sp>
      <p:sp>
        <p:nvSpPr>
          <p:cNvPr id="15" name="monitor-sources-text-14"/>
          <p:cNvSpPr txBox="1"/>
          <p:nvPr/>
        </p:nvSpPr>
        <p:spPr>
          <a:xfrm>
            <a:off x="3651250" y="4011513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reestr-zalogov.ru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залоги</a:t>
            </a:r>
            <a:endParaRPr lang="en-US" sz="1200" dirty="0"/>
          </a:p>
        </p:txBody>
      </p:sp>
      <p:sp>
        <p:nvSpPr>
          <p:cNvPr id="16" name="monitor-sources-text-15"/>
          <p:cNvSpPr txBox="1"/>
          <p:nvPr/>
        </p:nvSpPr>
        <p:spPr>
          <a:xfrm>
            <a:off x="3651250" y="4301034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Rusprofile, СПАРК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связи</a:t>
            </a:r>
            <a:endParaRPr lang="en-US" sz="1200" dirty="0"/>
          </a:p>
        </p:txBody>
      </p:sp>
      <p:sp>
        <p:nvSpPr>
          <p:cNvPr id="17" name="monitor-sources-box-16"/>
          <p:cNvSpPr/>
          <p:nvPr/>
        </p:nvSpPr>
        <p:spPr>
          <a:xfrm>
            <a:off x="61722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8" name="monitor-sources-text-17"/>
          <p:cNvSpPr txBox="1"/>
          <p:nvPr/>
        </p:nvSpPr>
        <p:spPr>
          <a:xfrm>
            <a:off x="63309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Сектор и рейтинги</a:t>
            </a:r>
            <a:endParaRPr lang="en-US" sz="1400" dirty="0"/>
          </a:p>
        </p:txBody>
      </p:sp>
      <p:sp>
        <p:nvSpPr>
          <p:cNvPr id="19" name="monitor-sources-text-18"/>
          <p:cNvSpPr txBox="1"/>
          <p:nvPr/>
        </p:nvSpPr>
        <p:spPr>
          <a:xfrm>
            <a:off x="6330950" y="221347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zakupki.gov.ru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госконтракты</a:t>
            </a:r>
            <a:endParaRPr lang="en-US" sz="1200" dirty="0"/>
          </a:p>
        </p:txBody>
      </p:sp>
      <p:sp>
        <p:nvSpPr>
          <p:cNvPr id="20" name="monitor-sources-text-19"/>
          <p:cNvSpPr txBox="1"/>
          <p:nvPr/>
        </p:nvSpPr>
        <p:spPr>
          <a:xfrm>
            <a:off x="6330950" y="250299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наш.дом.рф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стройки</a:t>
            </a:r>
            <a:endParaRPr lang="en-US" sz="1200" dirty="0"/>
          </a:p>
        </p:txBody>
      </p:sp>
      <p:sp>
        <p:nvSpPr>
          <p:cNvPr id="21" name="monitor-sources-text-20"/>
          <p:cNvSpPr txBox="1"/>
          <p:nvPr/>
        </p:nvSpPr>
        <p:spPr>
          <a:xfrm>
            <a:off x="6330950" y="27925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АКРА, Эксперт РА, НКР, НРА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рейтинги и релизы</a:t>
            </a:r>
            <a:endParaRPr lang="en-US" sz="1200" dirty="0"/>
          </a:p>
        </p:txBody>
      </p:sp>
      <p:sp>
        <p:nvSpPr>
          <p:cNvPr id="22" name="monitor-sources-box-21"/>
          <p:cNvSpPr/>
          <p:nvPr/>
        </p:nvSpPr>
        <p:spPr>
          <a:xfrm>
            <a:off x="8851900" y="1765201"/>
            <a:ext cx="2527300" cy="4076799"/>
          </a:xfrm>
          <a:prstGeom prst="roundRect">
            <a:avLst>
              <a:gd name="adj" fmla="val 1455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23" name="monitor-sources-text-22"/>
          <p:cNvSpPr txBox="1"/>
          <p:nvPr/>
        </p:nvSpPr>
        <p:spPr>
          <a:xfrm>
            <a:off x="9010650" y="1923951"/>
            <a:ext cx="227609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</a:t>
            </a:r>
            <a:endParaRPr lang="en-US" sz="1400" dirty="0"/>
          </a:p>
        </p:txBody>
      </p:sp>
      <p:sp>
        <p:nvSpPr>
          <p:cNvPr id="24" name="monitor-sources-text-23"/>
          <p:cNvSpPr txBox="1"/>
          <p:nvPr/>
        </p:nvSpPr>
        <p:spPr>
          <a:xfrm>
            <a:off x="9010650" y="2213471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moex.com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размещения, режим торгов</a:t>
            </a:r>
            <a:endParaRPr lang="en-US" sz="1200" dirty="0"/>
          </a:p>
        </p:txBody>
      </p:sp>
      <p:sp>
        <p:nvSpPr>
          <p:cNvPr id="25" name="monitor-sources-text-24"/>
          <p:cNvSpPr txBox="1"/>
          <p:nvPr/>
        </p:nvSpPr>
        <p:spPr>
          <a:xfrm>
            <a:off x="9010650" y="271631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smart-lab.ru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купоны, таблицы МСФО</a:t>
            </a:r>
            <a:endParaRPr lang="en-US" sz="1200" dirty="0"/>
          </a:p>
        </p:txBody>
      </p:sp>
      <p:sp>
        <p:nvSpPr>
          <p:cNvPr id="26" name="monitor-sources-text-25"/>
          <p:cNvSpPr txBox="1"/>
          <p:nvPr/>
        </p:nvSpPr>
        <p:spPr>
          <a:xfrm>
            <a:off x="9010650" y="3219152"/>
            <a:ext cx="227609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Research, Bondana, Квик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выпуски и выплаты</a:t>
            </a:r>
            <a:endParaRPr lang="en-US" sz="1200" dirty="0"/>
          </a:p>
        </p:txBody>
      </p:sp>
      <p:sp>
        <p:nvSpPr>
          <p:cNvPr id="27" name="monitor-sources-text-2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53:00–58:00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Сигналы между отчётами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nitor-routine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 · РЕГЛАМЕНТ</a:t>
            </a:r>
            <a:endParaRPr lang="en-US" sz="1200" dirty="0"/>
          </a:p>
        </p:txBody>
      </p:sp>
      <p:sp>
        <p:nvSpPr>
          <p:cNvPr id="3" name="monitor-routine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 наблюдения</a:t>
            </a:r>
            <a:endParaRPr lang="en-US" sz="2800" dirty="0"/>
          </a:p>
        </p:txBody>
      </p:sp>
      <p:sp>
        <p:nvSpPr>
          <p:cNvPr id="4" name="monitor-routine-box-3"/>
          <p:cNvSpPr/>
          <p:nvPr/>
        </p:nvSpPr>
        <p:spPr>
          <a:xfrm>
            <a:off x="812800" y="1765201"/>
            <a:ext cx="3390900" cy="3609479"/>
          </a:xfrm>
          <a:prstGeom prst="roundRect">
            <a:avLst>
              <a:gd name="adj" fmla="val 80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monitor-routine-text-4"/>
          <p:cNvSpPr txBox="1"/>
          <p:nvPr/>
        </p:nvSpPr>
        <p:spPr>
          <a:xfrm>
            <a:off x="1073150" y="202555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 В НЕДЕЛЮ</a:t>
            </a:r>
            <a:endParaRPr lang="en-US" sz="1200" dirty="0"/>
          </a:p>
        </p:txBody>
      </p:sp>
      <p:sp>
        <p:nvSpPr>
          <p:cNvPr id="6" name="monitor-routine-text-5"/>
          <p:cNvSpPr txBox="1"/>
          <p:nvPr/>
        </p:nvSpPr>
        <p:spPr>
          <a:xfrm>
            <a:off x="1073150" y="234047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минут</a:t>
            </a:r>
            <a:endParaRPr lang="en-US" sz="1800" dirty="0"/>
          </a:p>
        </p:txBody>
      </p:sp>
      <p:sp>
        <p:nvSpPr>
          <p:cNvPr id="7" name="monitor-routine-text-6"/>
          <p:cNvSpPr txBox="1"/>
          <p:nvPr/>
        </p:nvSpPr>
        <p:spPr>
          <a:xfrm>
            <a:off x="1073150" y="2716312"/>
            <a:ext cx="295630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Новости по своим эмитентам, боты, первичные размещения.</a:t>
            </a:r>
            <a:endParaRPr lang="en-US" sz="1400" dirty="0"/>
          </a:p>
        </p:txBody>
      </p:sp>
      <p:sp>
        <p:nvSpPr>
          <p:cNvPr id="8" name="monitor-routine-box-7"/>
          <p:cNvSpPr/>
          <p:nvPr/>
        </p:nvSpPr>
        <p:spPr>
          <a:xfrm>
            <a:off x="4406900" y="1765201"/>
            <a:ext cx="3390900" cy="3609479"/>
          </a:xfrm>
          <a:prstGeom prst="roundRect">
            <a:avLst>
              <a:gd name="adj" fmla="val 808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9" name="monitor-routine-text-8"/>
          <p:cNvSpPr txBox="1"/>
          <p:nvPr/>
        </p:nvSpPr>
        <p:spPr>
          <a:xfrm>
            <a:off x="4667250" y="202555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 В КВАРТАЛ</a:t>
            </a:r>
            <a:endParaRPr lang="en-US" sz="1200" dirty="0"/>
          </a:p>
        </p:txBody>
      </p:sp>
      <p:sp>
        <p:nvSpPr>
          <p:cNvPr id="10" name="monitor-routine-text-9"/>
          <p:cNvSpPr txBox="1"/>
          <p:nvPr/>
        </p:nvSpPr>
        <p:spPr>
          <a:xfrm>
            <a:off x="4667250" y="234047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</a:t>
            </a:r>
            <a:endParaRPr lang="en-US" sz="1800" dirty="0"/>
          </a:p>
        </p:txBody>
      </p:sp>
      <p:sp>
        <p:nvSpPr>
          <p:cNvPr id="11" name="monitor-routine-text-10"/>
          <p:cNvSpPr txBox="1"/>
          <p:nvPr/>
        </p:nvSpPr>
        <p:spPr>
          <a:xfrm>
            <a:off x="4667250" y="2716312"/>
            <a:ext cx="2956306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отчётность по каждой бумаге. По акциям ещё операционные результаты и решения советов директоров о дивидендах.</a:t>
            </a:r>
            <a:endParaRPr lang="en-US" sz="1400" dirty="0"/>
          </a:p>
        </p:txBody>
      </p:sp>
      <p:sp>
        <p:nvSpPr>
          <p:cNvPr id="12" name="monitor-routine-box-11"/>
          <p:cNvSpPr/>
          <p:nvPr/>
        </p:nvSpPr>
        <p:spPr>
          <a:xfrm>
            <a:off x="8001000" y="1765201"/>
            <a:ext cx="3378200" cy="3609479"/>
          </a:xfrm>
          <a:prstGeom prst="roundRect">
            <a:avLst>
              <a:gd name="adj" fmla="val 814"/>
            </a:avLst>
          </a:prstGeom>
          <a:solidFill>
            <a:srgbClr val="F6DFDA"/>
          </a:solidFill>
          <a:ln/>
        </p:spPr>
      </p:sp>
      <p:sp>
        <p:nvSpPr>
          <p:cNvPr id="13" name="monitor-routine-text-12"/>
          <p:cNvSpPr txBox="1"/>
          <p:nvPr/>
        </p:nvSpPr>
        <p:spPr>
          <a:xfrm>
            <a:off x="8255000" y="2019201"/>
            <a:ext cx="295630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A633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ДЕНЬ НОВОСТИ</a:t>
            </a:r>
            <a:endParaRPr lang="en-US" sz="1200" dirty="0"/>
          </a:p>
        </p:txBody>
      </p:sp>
      <p:sp>
        <p:nvSpPr>
          <p:cNvPr id="14" name="monitor-routine-text-13"/>
          <p:cNvSpPr txBox="1"/>
          <p:nvPr/>
        </p:nvSpPr>
        <p:spPr>
          <a:xfrm>
            <a:off x="8255000" y="2334121"/>
            <a:ext cx="2956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Сразу</a:t>
            </a:r>
            <a:endParaRPr lang="en-US" sz="1800" dirty="0"/>
          </a:p>
        </p:txBody>
      </p:sp>
      <p:sp>
        <p:nvSpPr>
          <p:cNvPr id="15" name="monitor-routine-text-14"/>
          <p:cNvSpPr txBox="1"/>
          <p:nvPr/>
        </p:nvSpPr>
        <p:spPr>
          <a:xfrm>
            <a:off x="8255000" y="2709962"/>
            <a:ext cx="295630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счетов, сорванное размещение, отзыв рейтинга — разбираем в тот же день.</a:t>
            </a:r>
            <a:endParaRPr lang="en-US" sz="1400" dirty="0"/>
          </a:p>
        </p:txBody>
      </p:sp>
      <p:sp>
        <p:nvSpPr>
          <p:cNvPr id="16" name="monitor-routine-text-15"/>
          <p:cNvSpPr txBox="1"/>
          <p:nvPr/>
        </p:nvSpPr>
        <p:spPr>
          <a:xfrm>
            <a:off x="812800" y="56286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Telegram есть боты по блокировкам счетов и выплатам купонов. По опыту автора методички работают нормально.</a:t>
            </a:r>
            <a:endParaRPr lang="en-US" sz="1200" dirty="0"/>
          </a:p>
        </p:txBody>
      </p:sp>
      <p:sp>
        <p:nvSpPr>
          <p:cNvPr id="17" name="monitor-routine-text-16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53:00–58:00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Сигналы между отчётами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ro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 · ИТОГ</a:t>
            </a:r>
            <a:endParaRPr lang="en-US" sz="1200" dirty="0"/>
          </a:p>
        </p:txBody>
      </p:sp>
      <p:sp>
        <p:nvSpPr>
          <p:cNvPr id="3" name="outro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фразы, которые стоит унести</a:t>
            </a:r>
            <a:endParaRPr lang="en-US" sz="2800" dirty="0"/>
          </a:p>
        </p:txBody>
      </p:sp>
      <p:sp>
        <p:nvSpPr>
          <p:cNvPr id="4" name="outro-text-3"/>
          <p:cNvSpPr txBox="1"/>
          <p:nvPr/>
        </p:nvSpPr>
        <p:spPr>
          <a:xfrm>
            <a:off x="812800" y="1816001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DBF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outro-text-4"/>
          <p:cNvSpPr txBox="1"/>
          <p:nvPr/>
        </p:nvSpPr>
        <p:spPr>
          <a:xfrm>
            <a:off x="1574800" y="1955701"/>
            <a:ext cx="1009853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Облигация: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счёт чего мне заплатят в ближайшие полгода? Ответ ищем в трёх местах: поток, новый займ, акционер.</a:t>
            </a:r>
            <a:endParaRPr lang="en-US" sz="1800" dirty="0"/>
          </a:p>
        </p:txBody>
      </p:sp>
      <p:sp>
        <p:nvSpPr>
          <p:cNvPr id="6" name="outro-text-5"/>
          <p:cNvSpPr txBox="1"/>
          <p:nvPr/>
        </p:nvSpPr>
        <p:spPr>
          <a:xfrm>
            <a:off x="812800" y="2776041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95A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outro-text-6"/>
          <p:cNvSpPr txBox="1"/>
          <p:nvPr/>
        </p:nvSpPr>
        <p:spPr>
          <a:xfrm>
            <a:off x="1574800" y="2915741"/>
            <a:ext cx="10098532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Акция: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настоящая ли прибыль, дойдёт ли она до меня и сколько я за неё плачу?</a:t>
            </a:r>
            <a:endParaRPr lang="en-US" sz="1800" dirty="0"/>
          </a:p>
        </p:txBody>
      </p:sp>
      <p:sp>
        <p:nvSpPr>
          <p:cNvPr id="8" name="outro-text-7"/>
          <p:cNvSpPr txBox="1"/>
          <p:nvPr/>
        </p:nvSpPr>
        <p:spPr>
          <a:xfrm>
            <a:off x="812800" y="3477022"/>
            <a:ext cx="52324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A6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outro-text-8"/>
          <p:cNvSpPr txBox="1"/>
          <p:nvPr/>
        </p:nvSpPr>
        <p:spPr>
          <a:xfrm>
            <a:off x="1574800" y="3616722"/>
            <a:ext cx="1009853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РСБУ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 юрлицо и закон, в том числе про дивиденды. </a:t>
            </a:r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МСФО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EC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про группу и бизнес. Нужны оба отчёта.</a:t>
            </a:r>
            <a:endParaRPr lang="en-US" sz="1800" dirty="0"/>
          </a:p>
        </p:txBody>
      </p:sp>
      <p:sp>
        <p:nvSpPr>
          <p:cNvPr id="10" name="outro-text-9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58:00–60:00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CF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C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mework-text-1"/>
          <p:cNvSpPr txBox="1"/>
          <p:nvPr/>
        </p:nvSpPr>
        <p:spPr>
          <a:xfrm>
            <a:off x="812800" y="81280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ДОМАШНЕЕ ЗАДАНИЕ</a:t>
            </a:r>
            <a:endParaRPr lang="en-US" sz="1200" dirty="0"/>
          </a:p>
        </p:txBody>
      </p:sp>
      <p:sp>
        <p:nvSpPr>
          <p:cNvPr id="3" name="homework-text-2"/>
          <p:cNvSpPr txBox="1"/>
          <p:nvPr/>
        </p:nvSpPr>
        <p:spPr>
          <a:xfrm>
            <a:off x="812800" y="1102320"/>
            <a:ext cx="10883392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облигация и одна акция</a:t>
            </a:r>
            <a:endParaRPr lang="en-US" sz="2800" dirty="0"/>
          </a:p>
        </p:txBody>
      </p:sp>
      <p:sp>
        <p:nvSpPr>
          <p:cNvPr id="4" name="homework-box-3"/>
          <p:cNvSpPr/>
          <p:nvPr/>
        </p:nvSpPr>
        <p:spPr>
          <a:xfrm>
            <a:off x="8128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5" name="homework-text-4"/>
          <p:cNvSpPr txBox="1"/>
          <p:nvPr/>
        </p:nvSpPr>
        <p:spPr>
          <a:xfrm>
            <a:off x="10223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homework-text-5"/>
          <p:cNvSpPr txBox="1"/>
          <p:nvPr/>
        </p:nvSpPr>
        <p:spPr>
          <a:xfrm>
            <a:off x="1022350" y="2442071"/>
            <a:ext cx="217144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Возьмите одну облигацию и одну акцию из своего портфеля</a:t>
            </a:r>
            <a:endParaRPr lang="en-US" sz="1400" dirty="0"/>
          </a:p>
        </p:txBody>
      </p:sp>
      <p:sp>
        <p:nvSpPr>
          <p:cNvPr id="7" name="homework-box-6"/>
          <p:cNvSpPr/>
          <p:nvPr/>
        </p:nvSpPr>
        <p:spPr>
          <a:xfrm>
            <a:off x="34925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8" name="homework-text-7"/>
          <p:cNvSpPr txBox="1"/>
          <p:nvPr/>
        </p:nvSpPr>
        <p:spPr>
          <a:xfrm>
            <a:off x="37020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B6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homework-text-8"/>
          <p:cNvSpPr txBox="1"/>
          <p:nvPr/>
        </p:nvSpPr>
        <p:spPr>
          <a:xfrm>
            <a:off x="3702050" y="2442071"/>
            <a:ext cx="21714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Пройдите по ним чек-листы из конспекта</a:t>
            </a:r>
            <a:endParaRPr lang="en-US" sz="1400" dirty="0"/>
          </a:p>
        </p:txBody>
      </p:sp>
      <p:sp>
        <p:nvSpPr>
          <p:cNvPr id="10" name="homework-box-9"/>
          <p:cNvSpPr/>
          <p:nvPr/>
        </p:nvSpPr>
        <p:spPr>
          <a:xfrm>
            <a:off x="61722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1" name="homework-text-10"/>
          <p:cNvSpPr txBox="1"/>
          <p:nvPr/>
        </p:nvSpPr>
        <p:spPr>
          <a:xfrm>
            <a:off x="63817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homework-text-11"/>
          <p:cNvSpPr txBox="1"/>
          <p:nvPr/>
        </p:nvSpPr>
        <p:spPr>
          <a:xfrm>
            <a:off x="6381750" y="2442071"/>
            <a:ext cx="217144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Посчитайте показатели в калькуляторах конспекта</a:t>
            </a:r>
            <a:endParaRPr lang="en-US" sz="1400" dirty="0"/>
          </a:p>
        </p:txBody>
      </p:sp>
      <p:sp>
        <p:nvSpPr>
          <p:cNvPr id="13" name="homework-box-12"/>
          <p:cNvSpPr/>
          <p:nvPr/>
        </p:nvSpPr>
        <p:spPr>
          <a:xfrm>
            <a:off x="8851900" y="1765201"/>
            <a:ext cx="2527300" cy="1881783"/>
          </a:xfrm>
          <a:prstGeom prst="roundRect">
            <a:avLst>
              <a:gd name="adj" fmla="val 2624"/>
            </a:avLst>
          </a:prstGeom>
          <a:solidFill>
            <a:srgbClr val="FAFBF8"/>
          </a:solidFill>
          <a:ln w="6350">
            <a:solidFill>
              <a:srgbClr val="CDD7D0"/>
            </a:solidFill>
            <a:prstDash val="solid"/>
          </a:ln>
        </p:spPr>
      </p:sp>
      <p:sp>
        <p:nvSpPr>
          <p:cNvPr id="14" name="homework-text-13"/>
          <p:cNvSpPr txBox="1"/>
          <p:nvPr/>
        </p:nvSpPr>
        <p:spPr>
          <a:xfrm>
            <a:off x="9061450" y="1974751"/>
            <a:ext cx="2171446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4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homework-text-14"/>
          <p:cNvSpPr txBox="1"/>
          <p:nvPr/>
        </p:nvSpPr>
        <p:spPr>
          <a:xfrm>
            <a:off x="9061450" y="2442071"/>
            <a:ext cx="217144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0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Сформулируйте вывод одной фразой: «держу, потому что…» или «выхожу, потому что…»</a:t>
            </a:r>
            <a:endParaRPr lang="en-US" sz="1400" dirty="0"/>
          </a:p>
        </p:txBody>
      </p:sp>
      <p:sp>
        <p:nvSpPr>
          <p:cNvPr id="16" name="homework-text-15"/>
          <p:cNvSpPr txBox="1"/>
          <p:nvPr/>
        </p:nvSpPr>
        <p:spPr>
          <a:xfrm>
            <a:off x="812800" y="3900984"/>
            <a:ext cx="10883392" cy="25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8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 с чек-листами и калькуляторами: </a:t>
            </a:r>
            <a:pPr algn="l" indent="0" marL="0">
              <a:lnSpc>
                <a:spcPts val="2030"/>
              </a:lnSpc>
              <a:buNone/>
            </a:pPr>
            <a:r>
              <a:rPr lang="en-US" sz="140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claude.ai/artifact/UMRfMioL8pwWiXgKCK8XJd</a:t>
            </a:r>
            <a:endParaRPr lang="en-US" sz="1400" dirty="0"/>
          </a:p>
        </p:txBody>
      </p:sp>
      <p:sp>
        <p:nvSpPr>
          <p:cNvPr id="17" name="homework-text-16"/>
          <p:cNvSpPr txBox="1"/>
          <p:nvPr/>
        </p:nvSpPr>
        <p:spPr>
          <a:xfrm>
            <a:off x="812800" y="4412754"/>
            <a:ext cx="1088339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материал, не индивидуальная инвестиционная рекомендация. ООО «Ромашка», ПАО «Василёк» и цифры в задачах условные. Шаги по облигациям, нормы, лимиты и разбор Евротранса — по методичке «Как проверить эмитента ВДО за 30 минут».</a:t>
            </a:r>
            <a:endParaRPr lang="en-US" sz="1200" dirty="0"/>
          </a:p>
        </p:txBody>
      </p:sp>
      <p:sp>
        <p:nvSpPr>
          <p:cNvPr id="18" name="homework-text-17"/>
          <p:cNvSpPr txBox="1"/>
          <p:nvPr/>
        </p:nvSpPr>
        <p:spPr>
          <a:xfrm>
            <a:off x="812800" y="6238280"/>
            <a:ext cx="1088339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58:00–60:00 · 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0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 и задание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финансовой отчётности: акция или облигация</dc:title>
  <dc:subject>PptxGenJS Presentation</dc:subject>
  <dc:creator>PptxGenJS</dc:creator>
  <cp:lastModifiedBy>PptxGenJS</cp:lastModifiedBy>
  <cp:revision>1</cp:revision>
  <dcterms:created xsi:type="dcterms:W3CDTF">2026-10-14T07:00:53Z</dcterms:created>
  <dcterms:modified xsi:type="dcterms:W3CDTF">2026-10-14T07:00:53Z</dcterms:modified>
</cp:coreProperties>
</file>